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76" r:id="rId5"/>
    <p:sldId id="259" r:id="rId6"/>
    <p:sldId id="260" r:id="rId7"/>
    <p:sldId id="277" r:id="rId8"/>
    <p:sldId id="278" r:id="rId9"/>
    <p:sldId id="279" r:id="rId10"/>
    <p:sldId id="262" r:id="rId11"/>
    <p:sldId id="266" r:id="rId12"/>
    <p:sldId id="267" r:id="rId13"/>
    <p:sldId id="268" r:id="rId14"/>
    <p:sldId id="265" r:id="rId15"/>
    <p:sldId id="273" r:id="rId16"/>
    <p:sldId id="275"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8882"/>
    <a:srgbClr val="999792"/>
    <a:srgbClr val="1B40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28" autoAdjust="0"/>
    <p:restoredTop sz="94610"/>
  </p:normalViewPr>
  <p:slideViewPr>
    <p:cSldViewPr snapToGrid="0" snapToObjects="1">
      <p:cViewPr varScale="1">
        <p:scale>
          <a:sx n="82" d="100"/>
          <a:sy n="82" d="100"/>
        </p:scale>
        <p:origin x="47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Innings</c:v>
                </c:pt>
              </c:strCache>
            </c:strRef>
          </c:tx>
          <c:spPr>
            <a:solidFill>
              <a:srgbClr val="1B4034"/>
            </a:solidFill>
            <a:effectLst/>
          </c:spPr>
          <c:invertIfNegative val="0"/>
          <c:dLbls>
            <c:numFmt formatCode="#,##0" sourceLinked="0"/>
            <c:spPr>
              <a:noFill/>
              <a:ln>
                <a:noFill/>
              </a:ln>
              <a:effectLst/>
            </c:spPr>
            <c:txPr>
              <a:bodyPr/>
              <a:lstStyle/>
              <a:p>
                <a:pPr>
                  <a:defRPr sz="900" b="0" i="0" u="none" strike="noStrike">
                    <a:solidFill>
                      <a:srgbClr val="23231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0-9</c:v>
                </c:pt>
                <c:pt idx="1">
                  <c:v>10-19</c:v>
                </c:pt>
                <c:pt idx="2">
                  <c:v>20-29</c:v>
                </c:pt>
                <c:pt idx="3">
                  <c:v>30-39</c:v>
                </c:pt>
                <c:pt idx="4">
                  <c:v>40-49</c:v>
                </c:pt>
                <c:pt idx="5">
                  <c:v>50-74</c:v>
                </c:pt>
                <c:pt idx="6">
                  <c:v>75-99</c:v>
                </c:pt>
                <c:pt idx="7">
                  <c:v>100+</c:v>
                </c:pt>
              </c:strCache>
            </c:strRef>
          </c:cat>
          <c:val>
            <c:numRef>
              <c:f>Sheet1!$B$2:$B$9</c:f>
              <c:numCache>
                <c:formatCode>General</c:formatCode>
                <c:ptCount val="8"/>
                <c:pt idx="0">
                  <c:v>18788</c:v>
                </c:pt>
                <c:pt idx="1">
                  <c:v>8692</c:v>
                </c:pt>
                <c:pt idx="2">
                  <c:v>5536</c:v>
                </c:pt>
                <c:pt idx="3">
                  <c:v>3791</c:v>
                </c:pt>
                <c:pt idx="4">
                  <c:v>2591</c:v>
                </c:pt>
                <c:pt idx="5">
                  <c:v>4076</c:v>
                </c:pt>
                <c:pt idx="6">
                  <c:v>1481</c:v>
                </c:pt>
                <c:pt idx="7">
                  <c:v>1308</c:v>
                </c:pt>
              </c:numCache>
            </c:numRef>
          </c:val>
          <c:extLst>
            <c:ext xmlns:c16="http://schemas.microsoft.com/office/drawing/2014/chart" uri="{C3380CC4-5D6E-409C-BE32-E72D297353CC}">
              <c16:uniqueId val="{00000000-AC4D-4C44-860A-680126A6E08F}"/>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title>
          <c:tx>
            <c:rich>
              <a:bodyPr/>
              <a:lstStyle/>
              <a:p>
                <a:pPr>
                  <a:defRPr sz="1000" b="0" i="0" u="none" strike="noStrike">
                    <a:solidFill>
                      <a:srgbClr val="6E6B64"/>
                    </a:solidFill>
                    <a:latin typeface="Calibri"/>
                  </a:defRPr>
                </a:pPr>
                <a:r>
                  <a:rPr lang="en-US" sz="1000" b="0" i="0" u="none" strike="noStrike">
                    <a:solidFill>
                      <a:srgbClr val="6E6B64"/>
                    </a:solidFill>
                    <a:latin typeface="Calibri"/>
                  </a:rPr>
                  <a:t>Runs scored in an innings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E6B64"/>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3DCCE"/>
              </a:solidFill>
              <a:prstDash val="solid"/>
              <a:round/>
            </a:ln>
          </c:spPr>
        </c:majorGridlines>
        <c:title>
          <c:tx>
            <c:rich>
              <a:bodyPr/>
              <a:lstStyle/>
              <a:p>
                <a:pPr>
                  <a:defRPr sz="1000" b="0" i="0" u="none" strike="noStrike">
                    <a:solidFill>
                      <a:srgbClr val="6E6B64"/>
                    </a:solidFill>
                    <a:latin typeface="Calibri"/>
                  </a:defRPr>
                </a:pPr>
                <a:r>
                  <a:rPr lang="en-IN" sz="1000" b="0" i="0" u="none" strike="noStrike">
                    <a:solidFill>
                      <a:srgbClr val="6E6B64"/>
                    </a:solidFill>
                    <a:latin typeface="Calibri"/>
                  </a:rPr>
                  <a:t>Number of innings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E6B64"/>
                </a:solidFill>
                <a:latin typeface="Calibri"/>
              </a:defRPr>
            </a:pPr>
            <a:endParaRPr lang="en-US"/>
          </a:p>
        </c:txPr>
        <c:crossAx val="2094734554"/>
        <c:crosses val="autoZero"/>
        <c:crossBetween val="between"/>
      </c:valAx>
      <c:spPr>
        <a:noFill/>
        <a:ln w="12700" cap="flat">
          <a:solidFill>
            <a:srgbClr val="F3EFE7"/>
          </a:solid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05577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Replace member names, roll numbers and faculty name before submission.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 is innings runs. Three regularized linear models are compared on the same feature set.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objectives spanning data preparation through prediction.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08B1A-677C-290A-7751-23596D30A1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A02C6C-C9FD-913A-E3DF-4767ED8103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84CBF4-EC2A-8264-1A3F-16DE4A28B091}"/>
              </a:ext>
            </a:extLst>
          </p:cNvPr>
          <p:cNvSpPr>
            <a:spLocks noGrp="1"/>
          </p:cNvSpPr>
          <p:nvPr>
            <p:ph type="body" idx="1"/>
          </p:nvPr>
        </p:nvSpPr>
        <p:spPr/>
        <p:txBody>
          <a:bodyPr/>
          <a:lstStyle/>
          <a:p>
            <a:r>
              <a:rPr lang="en-US" dirty="0"/>
              <a:t>Eight objectives spanning data preparation through prediction.</a:t>
            </a:r>
          </a:p>
        </p:txBody>
      </p:sp>
      <p:sp>
        <p:nvSpPr>
          <p:cNvPr id="4" name="Slide Number Placeholder 3">
            <a:extLst>
              <a:ext uri="{FF2B5EF4-FFF2-40B4-BE49-F238E27FC236}">
                <a16:creationId xmlns:a16="http://schemas.microsoft.com/office/drawing/2014/main" id="{92D671A0-D67C-DE21-86B5-18E6A62B8BB0}"/>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9766485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bat.csv is the primary table; 946 players survive the minimum-innings filter.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T20 dominates the record count; format is one-hot encoded rather than filtered out.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7EE41-47AE-1642-830D-2AFD7DDF98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2A30F0-D927-80C7-DF59-1BF21080F1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8A2648-27DC-4516-B640-3B2B3259AAF5}"/>
              </a:ext>
            </a:extLst>
          </p:cNvPr>
          <p:cNvSpPr>
            <a:spLocks noGrp="1"/>
          </p:cNvSpPr>
          <p:nvPr>
            <p:ph type="body" idx="1"/>
          </p:nvPr>
        </p:nvSpPr>
        <p:spPr/>
        <p:txBody>
          <a:bodyPr/>
          <a:lstStyle/>
          <a:p>
            <a:r>
              <a:rPr lang="en-US" dirty="0"/>
              <a:t>Excluding same-innings strike rate is the key decision — without it the target is trivially recoverable.</a:t>
            </a:r>
          </a:p>
        </p:txBody>
      </p:sp>
      <p:sp>
        <p:nvSpPr>
          <p:cNvPr id="4" name="Slide Number Placeholder 3">
            <a:extLst>
              <a:ext uri="{FF2B5EF4-FFF2-40B4-BE49-F238E27FC236}">
                <a16:creationId xmlns:a16="http://schemas.microsoft.com/office/drawing/2014/main" id="{7C61FE50-E618-AFCD-D454-3B38280A4806}"/>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5553359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E3C69-86AB-6D99-FEA9-E58812902D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BEBFEA-02F7-5162-38C4-850B78D505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FEDD98-D0D7-AA0C-09E8-8BCA19C74552}"/>
              </a:ext>
            </a:extLst>
          </p:cNvPr>
          <p:cNvSpPr>
            <a:spLocks noGrp="1"/>
          </p:cNvSpPr>
          <p:nvPr>
            <p:ph type="body" idx="1"/>
          </p:nvPr>
        </p:nvSpPr>
        <p:spPr/>
        <p:txBody>
          <a:bodyPr/>
          <a:lstStyle/>
          <a:p>
            <a:r>
              <a:rPr lang="en-US" dirty="0"/>
              <a:t>Excluding same-innings strike rate is the key decision — without it the target is trivially recoverable.</a:t>
            </a:r>
          </a:p>
        </p:txBody>
      </p:sp>
      <p:sp>
        <p:nvSpPr>
          <p:cNvPr id="4" name="Slide Number Placeholder 3">
            <a:extLst>
              <a:ext uri="{FF2B5EF4-FFF2-40B4-BE49-F238E27FC236}">
                <a16:creationId xmlns:a16="http://schemas.microsoft.com/office/drawing/2014/main" id="{84F7F08C-E266-1646-5F77-FC0101E671DA}"/>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8261857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428E5-B833-0E88-7E1D-C5FCE39C25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0CED4E-D3CC-ABA6-3FFD-201C1F4D6E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30F3D0-A36E-F9F7-6BB0-89A3355DE4C9}"/>
              </a:ext>
            </a:extLst>
          </p:cNvPr>
          <p:cNvSpPr>
            <a:spLocks noGrp="1"/>
          </p:cNvSpPr>
          <p:nvPr>
            <p:ph type="body" idx="1"/>
          </p:nvPr>
        </p:nvSpPr>
        <p:spPr/>
        <p:txBody>
          <a:bodyPr/>
          <a:lstStyle/>
          <a:p>
            <a:r>
              <a:rPr lang="en-US" dirty="0"/>
              <a:t>Excluding same-innings strike rate is the key decision — without it the target is trivially recoverable.</a:t>
            </a:r>
          </a:p>
        </p:txBody>
      </p:sp>
      <p:sp>
        <p:nvSpPr>
          <p:cNvPr id="4" name="Slide Number Placeholder 3">
            <a:extLst>
              <a:ext uri="{FF2B5EF4-FFF2-40B4-BE49-F238E27FC236}">
                <a16:creationId xmlns:a16="http://schemas.microsoft.com/office/drawing/2014/main" id="{0C36B1C6-44F5-EBB9-4866-D702F755FA5F}"/>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6677250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skew explains the RMSE-vs-MAE gap seen later in evaluation.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Ridge is the natural fit given how correlated the involvement features are.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alpha = 0.01 neither Lasso nor Elastic Net zeroes a feature — the penalty is too light relative to the signal.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MAE and RMSE are both in runs, so they are directly interpretable.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models share one preprocessing pipeline so the comparison is fair.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two takeaways: the system works, and regularization mattered less than expected.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61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0261F"/>
          </a:solidFill>
          <a:ln/>
        </p:spPr>
      </p:sp>
      <p:sp>
        <p:nvSpPr>
          <p:cNvPr id="3" name="Text 1"/>
          <p:cNvSpPr txBox="1"/>
          <p:nvPr/>
        </p:nvSpPr>
        <p:spPr>
          <a:xfrm>
            <a:off x="704088" y="777240"/>
            <a:ext cx="8229600" cy="274320"/>
          </a:xfrm>
          <a:prstGeom prst="rect">
            <a:avLst/>
          </a:prstGeom>
          <a:noFill/>
          <a:ln/>
        </p:spPr>
        <p:txBody>
          <a:bodyPr wrap="square" lIns="0" tIns="0" rIns="0" bIns="0" rtlCol="0" anchor="ctr"/>
          <a:lstStyle/>
          <a:p>
            <a:pPr marL="0" indent="0">
              <a:buNone/>
            </a:pPr>
            <a:r>
              <a:rPr lang="en-US" sz="1000" b="1" kern="0" spc="250" dirty="0">
                <a:solidFill>
                  <a:srgbClr val="C08A2E"/>
                </a:solidFill>
                <a:latin typeface="Calibri" pitchFamily="34" charset="0"/>
                <a:ea typeface="Calibri" pitchFamily="34" charset="-122"/>
                <a:cs typeface="Calibri" pitchFamily="34" charset="-120"/>
              </a:rPr>
              <a:t>MACHINE LEARNING · REGRESSION PROJECT</a:t>
            </a:r>
            <a:endParaRPr lang="en-US" sz="1000" dirty="0"/>
          </a:p>
        </p:txBody>
      </p:sp>
      <p:sp>
        <p:nvSpPr>
          <p:cNvPr id="4" name="Text 2"/>
          <p:cNvSpPr txBox="1"/>
          <p:nvPr/>
        </p:nvSpPr>
        <p:spPr>
          <a:xfrm>
            <a:off x="704088" y="1188720"/>
            <a:ext cx="9601200" cy="868680"/>
          </a:xfrm>
          <a:prstGeom prst="rect">
            <a:avLst/>
          </a:prstGeom>
          <a:noFill/>
          <a:ln/>
        </p:spPr>
        <p:txBody>
          <a:bodyPr wrap="square" lIns="0" tIns="0" rIns="0" bIns="0" rtlCol="0" anchor="ctr"/>
          <a:lstStyle/>
          <a:p>
            <a:r>
              <a:rPr lang="en-IN" sz="4400" b="1" dirty="0">
                <a:solidFill>
                  <a:schemeClr val="bg1"/>
                </a:solidFill>
                <a:latin typeface="Cambria" panose="02040503050406030204" pitchFamily="18" charset="0"/>
                <a:ea typeface="Cambria" panose="02040503050406030204" pitchFamily="18" charset="0"/>
              </a:rPr>
              <a:t>Cricket</a:t>
            </a:r>
            <a:r>
              <a:rPr lang="en-IN" sz="4400" dirty="0"/>
              <a:t> </a:t>
            </a:r>
            <a:r>
              <a:rPr lang="en-US" sz="4200" b="1" dirty="0">
                <a:solidFill>
                  <a:srgbClr val="FFFFFF"/>
                </a:solidFill>
                <a:latin typeface="Cambria" pitchFamily="34" charset="0"/>
                <a:ea typeface="Cambria" pitchFamily="34" charset="-122"/>
                <a:cs typeface="Cambria" pitchFamily="34" charset="-120"/>
              </a:rPr>
              <a:t>Performance Player Prediction</a:t>
            </a:r>
            <a:endParaRPr lang="en-US" sz="4200" dirty="0"/>
          </a:p>
        </p:txBody>
      </p:sp>
      <p:sp>
        <p:nvSpPr>
          <p:cNvPr id="5" name="Text 3"/>
          <p:cNvSpPr txBox="1"/>
          <p:nvPr/>
        </p:nvSpPr>
        <p:spPr>
          <a:xfrm>
            <a:off x="704088" y="2148840"/>
            <a:ext cx="7863840" cy="640080"/>
          </a:xfrm>
          <a:prstGeom prst="rect">
            <a:avLst/>
          </a:prstGeom>
          <a:noFill/>
          <a:ln/>
        </p:spPr>
        <p:txBody>
          <a:bodyPr wrap="square" lIns="0" tIns="0" rIns="0" bIns="0" rtlCol="0" anchor="ctr"/>
          <a:lstStyle/>
          <a:p>
            <a:pPr marL="0" indent="0">
              <a:lnSpc>
                <a:spcPts val="1900"/>
              </a:lnSpc>
              <a:buNone/>
            </a:pPr>
            <a:r>
              <a:rPr lang="en-US" sz="1300" dirty="0">
                <a:solidFill>
                  <a:srgbClr val="B9C4BC"/>
                </a:solidFill>
                <a:latin typeface="Calibri" pitchFamily="34" charset="0"/>
                <a:ea typeface="Calibri" pitchFamily="34" charset="-122"/>
                <a:cs typeface="Calibri" pitchFamily="34" charset="-120"/>
              </a:rPr>
              <a:t>Predicting cricket player performance from previous match records using Ridge, Lasso and Elastic Net regression.</a:t>
            </a:r>
            <a:endParaRPr lang="en-US" sz="1300" dirty="0"/>
          </a:p>
        </p:txBody>
      </p:sp>
      <p:sp>
        <p:nvSpPr>
          <p:cNvPr id="6" name="Shape 4"/>
          <p:cNvSpPr/>
          <p:nvPr/>
        </p:nvSpPr>
        <p:spPr>
          <a:xfrm>
            <a:off x="704088" y="3200400"/>
            <a:ext cx="4937760" cy="2011680"/>
          </a:xfrm>
          <a:prstGeom prst="roundRect">
            <a:avLst>
              <a:gd name="adj" fmla="val 2727"/>
            </a:avLst>
          </a:prstGeom>
          <a:solidFill>
            <a:srgbClr val="1B3A2E"/>
          </a:solidFill>
          <a:ln w="12700">
            <a:solidFill>
              <a:srgbClr val="2C5244"/>
            </a:solidFill>
            <a:prstDash val="solid"/>
          </a:ln>
        </p:spPr>
      </p:sp>
      <p:sp>
        <p:nvSpPr>
          <p:cNvPr id="7" name="Text 5"/>
          <p:cNvSpPr txBox="1"/>
          <p:nvPr/>
        </p:nvSpPr>
        <p:spPr>
          <a:xfrm>
            <a:off x="932688" y="3401568"/>
            <a:ext cx="3657600" cy="228600"/>
          </a:xfrm>
          <a:prstGeom prst="rect">
            <a:avLst/>
          </a:prstGeom>
          <a:noFill/>
          <a:ln/>
        </p:spPr>
        <p:txBody>
          <a:bodyPr wrap="square" lIns="0" tIns="0" rIns="0" bIns="0" rtlCol="0" anchor="ctr"/>
          <a:lstStyle/>
          <a:p>
            <a:pPr marL="0" indent="0">
              <a:buNone/>
            </a:pPr>
            <a:r>
              <a:rPr lang="en-US" sz="900" b="1" kern="0" spc="160" dirty="0">
                <a:solidFill>
                  <a:srgbClr val="C08A2E"/>
                </a:solidFill>
                <a:latin typeface="Calibri" pitchFamily="34" charset="0"/>
                <a:ea typeface="Calibri" pitchFamily="34" charset="-122"/>
                <a:cs typeface="Calibri" pitchFamily="34" charset="-120"/>
              </a:rPr>
              <a:t>TEAM</a:t>
            </a:r>
            <a:endParaRPr lang="en-US" sz="900" dirty="0"/>
          </a:p>
        </p:txBody>
      </p:sp>
      <p:sp>
        <p:nvSpPr>
          <p:cNvPr id="8" name="Text 6"/>
          <p:cNvSpPr txBox="1"/>
          <p:nvPr/>
        </p:nvSpPr>
        <p:spPr>
          <a:xfrm>
            <a:off x="932688" y="3703320"/>
            <a:ext cx="4206240" cy="5486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Member 1</a:t>
            </a:r>
            <a:endParaRPr lang="en-US" sz="1400" dirty="0"/>
          </a:p>
          <a:p>
            <a:pPr marL="0" indent="0">
              <a:buNone/>
            </a:pPr>
            <a:r>
              <a:rPr lang="en-US" sz="1400" dirty="0">
                <a:solidFill>
                  <a:srgbClr val="9FB0A6"/>
                </a:solidFill>
                <a:latin typeface="Calibri" pitchFamily="34" charset="0"/>
                <a:ea typeface="Calibri" pitchFamily="34" charset="-122"/>
                <a:cs typeface="Calibri" pitchFamily="34" charset="-120"/>
              </a:rPr>
              <a:t>Roll No: 2520030509   |   Name: </a:t>
            </a:r>
            <a:r>
              <a:rPr lang="en-US" sz="1400" dirty="0" err="1">
                <a:solidFill>
                  <a:srgbClr val="9FB0A6"/>
                </a:solidFill>
                <a:latin typeface="Calibri" pitchFamily="34" charset="0"/>
                <a:ea typeface="Calibri" pitchFamily="34" charset="-122"/>
                <a:cs typeface="Calibri" pitchFamily="34" charset="-120"/>
              </a:rPr>
              <a:t>M.V.L.Samhita</a:t>
            </a:r>
            <a:r>
              <a:rPr lang="en-US" sz="1400" dirty="0">
                <a:solidFill>
                  <a:srgbClr val="9FB0A6"/>
                </a:solidFill>
                <a:latin typeface="Calibri" pitchFamily="34" charset="0"/>
                <a:ea typeface="Calibri" pitchFamily="34" charset="-122"/>
                <a:cs typeface="Calibri" pitchFamily="34" charset="-120"/>
              </a:rPr>
              <a:t>  </a:t>
            </a:r>
            <a:endParaRPr lang="en-US" sz="1400" dirty="0"/>
          </a:p>
        </p:txBody>
      </p:sp>
      <p:sp>
        <p:nvSpPr>
          <p:cNvPr id="9" name="Text 7"/>
          <p:cNvSpPr txBox="1"/>
          <p:nvPr/>
        </p:nvSpPr>
        <p:spPr>
          <a:xfrm>
            <a:off x="932688" y="4434840"/>
            <a:ext cx="4206240" cy="5486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Member 2</a:t>
            </a:r>
            <a:endParaRPr lang="en-US" sz="1400" dirty="0"/>
          </a:p>
          <a:p>
            <a:pPr marL="0" indent="0">
              <a:buNone/>
            </a:pPr>
            <a:r>
              <a:rPr lang="en-US" sz="1400" dirty="0">
                <a:solidFill>
                  <a:srgbClr val="9FB0A6"/>
                </a:solidFill>
                <a:latin typeface="Calibri" pitchFamily="34" charset="0"/>
                <a:ea typeface="Calibri" pitchFamily="34" charset="-122"/>
                <a:cs typeface="Calibri" pitchFamily="34" charset="-120"/>
              </a:rPr>
              <a:t>Roll No: 2520030499  |   Name: Sahithi Gotte</a:t>
            </a:r>
            <a:endParaRPr lang="en-US" sz="1400" dirty="0"/>
          </a:p>
        </p:txBody>
      </p:sp>
      <p:sp>
        <p:nvSpPr>
          <p:cNvPr id="10" name="Shape 8"/>
          <p:cNvSpPr/>
          <p:nvPr/>
        </p:nvSpPr>
        <p:spPr>
          <a:xfrm>
            <a:off x="5806440" y="3200400"/>
            <a:ext cx="3840480" cy="2011680"/>
          </a:xfrm>
          <a:prstGeom prst="roundRect">
            <a:avLst>
              <a:gd name="adj" fmla="val 2727"/>
            </a:avLst>
          </a:prstGeom>
          <a:solidFill>
            <a:srgbClr val="1B3A2E"/>
          </a:solidFill>
          <a:ln w="12700">
            <a:solidFill>
              <a:srgbClr val="2C5244"/>
            </a:solidFill>
            <a:prstDash val="solid"/>
          </a:ln>
        </p:spPr>
      </p:sp>
      <p:sp>
        <p:nvSpPr>
          <p:cNvPr id="11" name="Text 9"/>
          <p:cNvSpPr txBox="1"/>
          <p:nvPr/>
        </p:nvSpPr>
        <p:spPr>
          <a:xfrm>
            <a:off x="6035040" y="3401568"/>
            <a:ext cx="3291840" cy="228600"/>
          </a:xfrm>
          <a:prstGeom prst="rect">
            <a:avLst/>
          </a:prstGeom>
          <a:noFill/>
          <a:ln/>
        </p:spPr>
        <p:txBody>
          <a:bodyPr wrap="square" lIns="0" tIns="0" rIns="0" bIns="0" rtlCol="0" anchor="ctr"/>
          <a:lstStyle/>
          <a:p>
            <a:pPr marL="0" indent="0">
              <a:buNone/>
            </a:pPr>
            <a:r>
              <a:rPr lang="en-US" sz="900" b="1" kern="0" spc="160" dirty="0">
                <a:solidFill>
                  <a:srgbClr val="C08A2E"/>
                </a:solidFill>
                <a:latin typeface="Calibri" pitchFamily="34" charset="0"/>
                <a:ea typeface="Calibri" pitchFamily="34" charset="-122"/>
                <a:cs typeface="Calibri" pitchFamily="34" charset="-120"/>
              </a:rPr>
              <a:t>UNDER THE GUIDANCE OF</a:t>
            </a:r>
            <a:endParaRPr lang="en-US" sz="900" dirty="0"/>
          </a:p>
        </p:txBody>
      </p:sp>
      <p:sp>
        <p:nvSpPr>
          <p:cNvPr id="12" name="Text 10"/>
          <p:cNvSpPr txBox="1"/>
          <p:nvPr/>
        </p:nvSpPr>
        <p:spPr>
          <a:xfrm>
            <a:off x="6035040" y="3703320"/>
            <a:ext cx="3393440" cy="731520"/>
          </a:xfrm>
          <a:prstGeom prst="rect">
            <a:avLst/>
          </a:prstGeom>
          <a:noFill/>
          <a:ln/>
        </p:spPr>
        <p:txBody>
          <a:bodyPr wrap="square" lIns="0" tIns="0" rIns="0" bIns="0" rtlCol="0" anchor="ctr"/>
          <a:lstStyle/>
          <a:p>
            <a:pPr marL="0" indent="0">
              <a:buNone/>
            </a:pPr>
            <a:r>
              <a:rPr lang="en-US" dirty="0">
                <a:solidFill>
                  <a:srgbClr val="9FB0A6"/>
                </a:solidFill>
                <a:latin typeface="Calibri" pitchFamily="34" charset="0"/>
                <a:ea typeface="Calibri" pitchFamily="34" charset="-122"/>
                <a:cs typeface="Calibri" pitchFamily="34" charset="-120"/>
              </a:rPr>
              <a:t>Assistant Professor | CSE</a:t>
            </a:r>
          </a:p>
          <a:p>
            <a:pPr marL="0" indent="0">
              <a:buNone/>
            </a:pPr>
            <a:r>
              <a:rPr lang="en-US" b="1" dirty="0">
                <a:solidFill>
                  <a:schemeClr val="bg1"/>
                </a:solidFill>
                <a:latin typeface="Calibri" pitchFamily="34" charset="0"/>
                <a:ea typeface="Calibri" pitchFamily="34" charset="-122"/>
                <a:cs typeface="Calibri" pitchFamily="34" charset="-120"/>
              </a:rPr>
              <a:t>Mr. Shaik Asif</a:t>
            </a:r>
            <a:endParaRPr lang="en-US" b="1" dirty="0">
              <a:solidFill>
                <a:schemeClr val="bg1"/>
              </a:solidFill>
            </a:endParaRPr>
          </a:p>
        </p:txBody>
      </p:sp>
      <p:sp>
        <p:nvSpPr>
          <p:cNvPr id="13" name="Text 11"/>
          <p:cNvSpPr txBox="1"/>
          <p:nvPr/>
        </p:nvSpPr>
        <p:spPr>
          <a:xfrm>
            <a:off x="11000232" y="6080760"/>
            <a:ext cx="640080" cy="365760"/>
          </a:xfrm>
          <a:prstGeom prst="rect">
            <a:avLst/>
          </a:prstGeom>
          <a:noFill/>
          <a:ln/>
        </p:spPr>
        <p:txBody>
          <a:bodyPr wrap="square" lIns="0" tIns="0" rIns="0" bIns="0" rtlCol="0" anchor="ctr"/>
          <a:lstStyle/>
          <a:p>
            <a:pPr marL="0" indent="0" algn="r">
              <a:buNone/>
            </a:pPr>
            <a:r>
              <a:rPr lang="en-US" sz="1500" b="1" dirty="0">
                <a:solidFill>
                  <a:srgbClr val="C08A2E"/>
                </a:solidFill>
                <a:latin typeface="Cambria" pitchFamily="34" charset="0"/>
                <a:ea typeface="Cambria" pitchFamily="34" charset="-122"/>
                <a:cs typeface="Cambria" pitchFamily="34" charset="-120"/>
              </a:rPr>
              <a:t>01</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FE7"/>
        </a:solidFill>
        <a:effectLst/>
      </p:bgPr>
    </p:bg>
    <p:spTree>
      <p:nvGrpSpPr>
        <p:cNvPr id="1" name=""/>
        <p:cNvGrpSpPr/>
        <p:nvPr/>
      </p:nvGrpSpPr>
      <p:grpSpPr>
        <a:xfrm>
          <a:off x="0" y="0"/>
          <a:ext cx="0" cy="0"/>
          <a:chOff x="0" y="0"/>
          <a:chExt cx="0" cy="0"/>
        </a:xfrm>
      </p:grpSpPr>
      <p:sp>
        <p:nvSpPr>
          <p:cNvPr id="2" name="Text 0"/>
          <p:cNvSpPr txBox="1"/>
          <p:nvPr/>
        </p:nvSpPr>
        <p:spPr>
          <a:xfrm>
            <a:off x="11183112" y="6382512"/>
            <a:ext cx="548640" cy="274320"/>
          </a:xfrm>
          <a:prstGeom prst="rect">
            <a:avLst/>
          </a:prstGeom>
          <a:noFill/>
          <a:ln/>
        </p:spPr>
        <p:txBody>
          <a:bodyPr wrap="square" lIns="0" tIns="0" rIns="0" bIns="0" rtlCol="0" anchor="ctr"/>
          <a:lstStyle/>
          <a:p>
            <a:pPr marL="0" indent="0" algn="r">
              <a:buNone/>
            </a:pPr>
            <a:r>
              <a:rPr lang="en-US" sz="1100" b="1" dirty="0">
                <a:solidFill>
                  <a:srgbClr val="C08A2E"/>
                </a:solidFill>
                <a:latin typeface="Cambria" pitchFamily="34" charset="0"/>
                <a:ea typeface="Cambria" pitchFamily="34" charset="-122"/>
                <a:cs typeface="Cambria" pitchFamily="34" charset="-120"/>
              </a:rPr>
              <a:t>02</a:t>
            </a:r>
            <a:endParaRPr lang="en-US" sz="1100" dirty="0"/>
          </a:p>
        </p:txBody>
      </p:sp>
      <p:sp>
        <p:nvSpPr>
          <p:cNvPr id="3" name="Text 1"/>
          <p:cNvSpPr txBox="1"/>
          <p:nvPr/>
        </p:nvSpPr>
        <p:spPr>
          <a:xfrm>
            <a:off x="566928" y="411480"/>
            <a:ext cx="8229600" cy="219456"/>
          </a:xfrm>
          <a:prstGeom prst="rect">
            <a:avLst/>
          </a:prstGeom>
          <a:noFill/>
          <a:ln/>
        </p:spPr>
        <p:txBody>
          <a:bodyPr wrap="square" lIns="0" tIns="0" rIns="0" bIns="0" rtlCol="0" anchor="ctr"/>
          <a:lstStyle/>
          <a:p>
            <a:pPr marL="0" indent="0">
              <a:buNone/>
            </a:pPr>
            <a:r>
              <a:rPr lang="en-US" sz="950" b="1" kern="0" spc="200" dirty="0">
                <a:solidFill>
                  <a:srgbClr val="C08A2E"/>
                </a:solidFill>
                <a:latin typeface="Calibri" pitchFamily="34" charset="0"/>
                <a:ea typeface="Calibri" pitchFamily="34" charset="-122"/>
                <a:cs typeface="Calibri" pitchFamily="34" charset="-120"/>
              </a:rPr>
              <a:t>THE TASK</a:t>
            </a:r>
            <a:endParaRPr lang="en-US" sz="950" dirty="0"/>
          </a:p>
        </p:txBody>
      </p:sp>
      <p:sp>
        <p:nvSpPr>
          <p:cNvPr id="4" name="Text 2"/>
          <p:cNvSpPr txBox="1"/>
          <p:nvPr/>
        </p:nvSpPr>
        <p:spPr>
          <a:xfrm>
            <a:off x="566928" y="667512"/>
            <a:ext cx="11055096" cy="502920"/>
          </a:xfrm>
          <a:prstGeom prst="rect">
            <a:avLst/>
          </a:prstGeom>
          <a:noFill/>
          <a:ln/>
        </p:spPr>
        <p:txBody>
          <a:bodyPr wrap="square" lIns="0" tIns="0" rIns="0" bIns="0" rtlCol="0" anchor="ctr"/>
          <a:lstStyle/>
          <a:p>
            <a:pPr marL="0" indent="0">
              <a:buNone/>
            </a:pPr>
            <a:r>
              <a:rPr lang="en-US" sz="2700" b="1" dirty="0">
                <a:solidFill>
                  <a:srgbClr val="1B4034"/>
                </a:solidFill>
                <a:latin typeface="Cambria" pitchFamily="34" charset="0"/>
                <a:ea typeface="Cambria" pitchFamily="34" charset="-122"/>
                <a:cs typeface="Cambria" pitchFamily="34" charset="-120"/>
              </a:rPr>
              <a:t>Problem Statement</a:t>
            </a:r>
            <a:endParaRPr lang="en-US" sz="2700" dirty="0"/>
          </a:p>
        </p:txBody>
      </p:sp>
      <p:sp>
        <p:nvSpPr>
          <p:cNvPr id="5" name="Shape 3"/>
          <p:cNvSpPr/>
          <p:nvPr/>
        </p:nvSpPr>
        <p:spPr>
          <a:xfrm>
            <a:off x="566928" y="1371600"/>
            <a:ext cx="5394960" cy="1371600"/>
          </a:xfrm>
          <a:prstGeom prst="roundRect">
            <a:avLst>
              <a:gd name="adj" fmla="val 4000"/>
            </a:avLst>
          </a:prstGeom>
          <a:solidFill>
            <a:srgbClr val="FFFFFF"/>
          </a:solidFill>
          <a:ln w="12700">
            <a:solidFill>
              <a:srgbClr val="DDD6C8"/>
            </a:solidFill>
            <a:prstDash val="solid"/>
          </a:ln>
        </p:spPr>
      </p:sp>
      <p:sp>
        <p:nvSpPr>
          <p:cNvPr id="6" name="Text 4"/>
          <p:cNvSpPr txBox="1"/>
          <p:nvPr/>
        </p:nvSpPr>
        <p:spPr>
          <a:xfrm>
            <a:off x="749808" y="1517904"/>
            <a:ext cx="5029200" cy="182880"/>
          </a:xfrm>
          <a:prstGeom prst="rect">
            <a:avLst/>
          </a:prstGeom>
          <a:noFill/>
          <a:ln/>
        </p:spPr>
        <p:txBody>
          <a:bodyPr wrap="square" lIns="0" tIns="0" rIns="0" bIns="0" rtlCol="0" anchor="ctr"/>
          <a:lstStyle/>
          <a:p>
            <a:pPr marL="0" indent="0">
              <a:buNone/>
            </a:pPr>
            <a:r>
              <a:rPr lang="en-US" sz="850" b="1" kern="0" spc="140" dirty="0">
                <a:solidFill>
                  <a:srgbClr val="C08A2E"/>
                </a:solidFill>
                <a:latin typeface="Calibri" pitchFamily="34" charset="0"/>
                <a:ea typeface="Calibri" pitchFamily="34" charset="-122"/>
                <a:cs typeface="Calibri" pitchFamily="34" charset="-120"/>
              </a:rPr>
              <a:t>REGRESSION TASK</a:t>
            </a:r>
            <a:endParaRPr lang="en-US" sz="850" dirty="0"/>
          </a:p>
        </p:txBody>
      </p:sp>
      <p:sp>
        <p:nvSpPr>
          <p:cNvPr id="7" name="Text 5"/>
          <p:cNvSpPr txBox="1"/>
          <p:nvPr/>
        </p:nvSpPr>
        <p:spPr>
          <a:xfrm>
            <a:off x="749808" y="1755648"/>
            <a:ext cx="5029200" cy="877824"/>
          </a:xfrm>
          <a:prstGeom prst="rect">
            <a:avLst/>
          </a:prstGeom>
          <a:noFill/>
          <a:ln/>
        </p:spPr>
        <p:txBody>
          <a:bodyPr wrap="square" lIns="0" tIns="0" rIns="0" bIns="0" rtlCol="0" anchor="t"/>
          <a:lstStyle/>
          <a:p>
            <a:pPr marL="0" indent="0">
              <a:lnSpc>
                <a:spcPts val="1500"/>
              </a:lnSpc>
              <a:buNone/>
            </a:pPr>
            <a:r>
              <a:rPr lang="en-US" sz="1050" dirty="0">
                <a:solidFill>
                  <a:srgbClr val="6E6B64"/>
                </a:solidFill>
                <a:latin typeface="Calibri" pitchFamily="34" charset="0"/>
                <a:ea typeface="Calibri" pitchFamily="34" charset="-122"/>
                <a:cs typeface="Calibri" pitchFamily="34" charset="-120"/>
              </a:rPr>
              <a:t>Estimate how many runs a batter will score in an innings from their recent form and match involvement — framed as a supervised regression problem on continuous output.</a:t>
            </a:r>
            <a:endParaRPr lang="en-US" sz="1050" dirty="0"/>
          </a:p>
        </p:txBody>
      </p:sp>
      <p:sp>
        <p:nvSpPr>
          <p:cNvPr id="8" name="Shape 6"/>
          <p:cNvSpPr/>
          <p:nvPr/>
        </p:nvSpPr>
        <p:spPr>
          <a:xfrm>
            <a:off x="6217920" y="1371600"/>
            <a:ext cx="5394960" cy="1371600"/>
          </a:xfrm>
          <a:prstGeom prst="roundRect">
            <a:avLst>
              <a:gd name="adj" fmla="val 4000"/>
            </a:avLst>
          </a:prstGeom>
          <a:solidFill>
            <a:srgbClr val="FFFFFF"/>
          </a:solidFill>
          <a:ln w="12700">
            <a:solidFill>
              <a:srgbClr val="DDD6C8"/>
            </a:solidFill>
            <a:prstDash val="solid"/>
          </a:ln>
        </p:spPr>
      </p:sp>
      <p:sp>
        <p:nvSpPr>
          <p:cNvPr id="9" name="Text 7"/>
          <p:cNvSpPr txBox="1"/>
          <p:nvPr/>
        </p:nvSpPr>
        <p:spPr>
          <a:xfrm>
            <a:off x="6400800" y="1517904"/>
            <a:ext cx="5029200" cy="182880"/>
          </a:xfrm>
          <a:prstGeom prst="rect">
            <a:avLst/>
          </a:prstGeom>
          <a:noFill/>
          <a:ln/>
        </p:spPr>
        <p:txBody>
          <a:bodyPr wrap="square" lIns="0" tIns="0" rIns="0" bIns="0" rtlCol="0" anchor="ctr"/>
          <a:lstStyle/>
          <a:p>
            <a:pPr marL="0" indent="0">
              <a:buNone/>
            </a:pPr>
            <a:r>
              <a:rPr lang="en-US" sz="850" b="1" kern="0" spc="140" dirty="0">
                <a:solidFill>
                  <a:srgbClr val="C08A2E"/>
                </a:solidFill>
                <a:latin typeface="Calibri" pitchFamily="34" charset="0"/>
                <a:ea typeface="Calibri" pitchFamily="34" charset="-122"/>
                <a:cs typeface="Calibri" pitchFamily="34" charset="-120"/>
              </a:rPr>
              <a:t>TARGET VARIABLE</a:t>
            </a:r>
            <a:endParaRPr lang="en-US" sz="850" dirty="0"/>
          </a:p>
        </p:txBody>
      </p:sp>
      <p:sp>
        <p:nvSpPr>
          <p:cNvPr id="10" name="Text 8"/>
          <p:cNvSpPr txBox="1"/>
          <p:nvPr/>
        </p:nvSpPr>
        <p:spPr>
          <a:xfrm>
            <a:off x="6400800" y="1755648"/>
            <a:ext cx="5029200" cy="877824"/>
          </a:xfrm>
          <a:prstGeom prst="rect">
            <a:avLst/>
          </a:prstGeom>
          <a:noFill/>
          <a:ln/>
        </p:spPr>
        <p:txBody>
          <a:bodyPr wrap="square" lIns="0" tIns="0" rIns="0" bIns="0" rtlCol="0" anchor="t"/>
          <a:lstStyle/>
          <a:p>
            <a:pPr marL="0" indent="0">
              <a:lnSpc>
                <a:spcPts val="1500"/>
              </a:lnSpc>
              <a:buNone/>
            </a:pPr>
            <a:r>
              <a:rPr lang="en-US" sz="1050" dirty="0">
                <a:solidFill>
                  <a:srgbClr val="6E6B64"/>
                </a:solidFill>
                <a:latin typeface="Calibri" pitchFamily="34" charset="0"/>
                <a:ea typeface="Calibri" pitchFamily="34" charset="-122"/>
                <a:cs typeface="Calibri" pitchFamily="34" charset="-120"/>
              </a:rPr>
              <a:t>runs_x — runs scored in a single innings. Range 0–329, mean 23.8, standard deviation 28.6 across 46,263 innings.</a:t>
            </a:r>
            <a:endParaRPr lang="en-US" sz="1050" dirty="0"/>
          </a:p>
        </p:txBody>
      </p:sp>
      <p:sp>
        <p:nvSpPr>
          <p:cNvPr id="11" name="Shape 9"/>
          <p:cNvSpPr/>
          <p:nvPr/>
        </p:nvSpPr>
        <p:spPr>
          <a:xfrm>
            <a:off x="566928" y="2880360"/>
            <a:ext cx="5394960" cy="1417320"/>
          </a:xfrm>
          <a:prstGeom prst="roundRect">
            <a:avLst>
              <a:gd name="adj" fmla="val 3871"/>
            </a:avLst>
          </a:prstGeom>
          <a:solidFill>
            <a:srgbClr val="FFFFFF"/>
          </a:solidFill>
          <a:ln w="12700">
            <a:solidFill>
              <a:srgbClr val="DDD6C8"/>
            </a:solidFill>
            <a:prstDash val="solid"/>
          </a:ln>
        </p:spPr>
      </p:sp>
      <p:sp>
        <p:nvSpPr>
          <p:cNvPr id="12" name="Text 10"/>
          <p:cNvSpPr txBox="1"/>
          <p:nvPr/>
        </p:nvSpPr>
        <p:spPr>
          <a:xfrm>
            <a:off x="749808" y="3026664"/>
            <a:ext cx="5029200" cy="182880"/>
          </a:xfrm>
          <a:prstGeom prst="rect">
            <a:avLst/>
          </a:prstGeom>
          <a:noFill/>
          <a:ln/>
        </p:spPr>
        <p:txBody>
          <a:bodyPr wrap="square" lIns="0" tIns="0" rIns="0" bIns="0" rtlCol="0" anchor="ctr"/>
          <a:lstStyle/>
          <a:p>
            <a:pPr marL="0" indent="0">
              <a:buNone/>
            </a:pPr>
            <a:r>
              <a:rPr lang="en-US" sz="850" b="1" kern="0" spc="140" dirty="0">
                <a:solidFill>
                  <a:srgbClr val="C08A2E"/>
                </a:solidFill>
                <a:latin typeface="Calibri" pitchFamily="34" charset="0"/>
                <a:ea typeface="Calibri" pitchFamily="34" charset="-122"/>
                <a:cs typeface="Calibri" pitchFamily="34" charset="-120"/>
              </a:rPr>
              <a:t>WHY MANUAL ANALYSIS FAILS</a:t>
            </a:r>
            <a:endParaRPr lang="en-US" sz="850" dirty="0"/>
          </a:p>
        </p:txBody>
      </p:sp>
      <p:sp>
        <p:nvSpPr>
          <p:cNvPr id="13" name="Text 11"/>
          <p:cNvSpPr txBox="1"/>
          <p:nvPr/>
        </p:nvSpPr>
        <p:spPr>
          <a:xfrm>
            <a:off x="749808" y="3264408"/>
            <a:ext cx="5029200" cy="923544"/>
          </a:xfrm>
          <a:prstGeom prst="rect">
            <a:avLst/>
          </a:prstGeom>
          <a:noFill/>
          <a:ln/>
        </p:spPr>
        <p:txBody>
          <a:bodyPr wrap="square" lIns="0" tIns="0" rIns="0" bIns="0" rtlCol="0" anchor="t"/>
          <a:lstStyle/>
          <a:p>
            <a:pPr marL="0" indent="0">
              <a:lnSpc>
                <a:spcPts val="1500"/>
              </a:lnSpc>
              <a:buNone/>
            </a:pPr>
            <a:r>
              <a:rPr lang="en-US" sz="1050" dirty="0">
                <a:solidFill>
                  <a:srgbClr val="6E6B64"/>
                </a:solidFill>
                <a:latin typeface="Calibri" pitchFamily="34" charset="0"/>
                <a:ea typeface="Calibri" pitchFamily="34" charset="-122"/>
                <a:cs typeface="Calibri" pitchFamily="34" charset="-120"/>
              </a:rPr>
              <a:t>Performance depends on balls faced, boundaries, batting order, format, opposition and recent form at once. Weighing these by eye is subjective and does not scale across 946 players.</a:t>
            </a:r>
            <a:endParaRPr lang="en-US" sz="1050" dirty="0"/>
          </a:p>
        </p:txBody>
      </p:sp>
      <p:sp>
        <p:nvSpPr>
          <p:cNvPr id="14" name="Shape 12"/>
          <p:cNvSpPr/>
          <p:nvPr/>
        </p:nvSpPr>
        <p:spPr>
          <a:xfrm>
            <a:off x="6217920" y="2880360"/>
            <a:ext cx="5394960" cy="1417320"/>
          </a:xfrm>
          <a:prstGeom prst="roundRect">
            <a:avLst>
              <a:gd name="adj" fmla="val 3871"/>
            </a:avLst>
          </a:prstGeom>
          <a:solidFill>
            <a:srgbClr val="FFFFFF"/>
          </a:solidFill>
          <a:ln w="12700">
            <a:solidFill>
              <a:srgbClr val="DDD6C8"/>
            </a:solidFill>
            <a:prstDash val="solid"/>
          </a:ln>
        </p:spPr>
      </p:sp>
      <p:sp>
        <p:nvSpPr>
          <p:cNvPr id="15" name="Text 13"/>
          <p:cNvSpPr txBox="1"/>
          <p:nvPr/>
        </p:nvSpPr>
        <p:spPr>
          <a:xfrm>
            <a:off x="6400800" y="3026664"/>
            <a:ext cx="5029200" cy="182880"/>
          </a:xfrm>
          <a:prstGeom prst="rect">
            <a:avLst/>
          </a:prstGeom>
          <a:noFill/>
          <a:ln/>
        </p:spPr>
        <p:txBody>
          <a:bodyPr wrap="square" lIns="0" tIns="0" rIns="0" bIns="0" rtlCol="0" anchor="ctr"/>
          <a:lstStyle/>
          <a:p>
            <a:pPr marL="0" indent="0">
              <a:buNone/>
            </a:pPr>
            <a:r>
              <a:rPr lang="en-US" sz="850" b="1" kern="0" spc="140" dirty="0">
                <a:solidFill>
                  <a:srgbClr val="C08A2E"/>
                </a:solidFill>
                <a:latin typeface="Calibri" pitchFamily="34" charset="0"/>
                <a:ea typeface="Calibri" pitchFamily="34" charset="-122"/>
                <a:cs typeface="Calibri" pitchFamily="34" charset="-120"/>
              </a:rPr>
              <a:t>WHY IT MATTERS</a:t>
            </a:r>
            <a:endParaRPr lang="en-US" sz="850" dirty="0"/>
          </a:p>
        </p:txBody>
      </p:sp>
      <p:sp>
        <p:nvSpPr>
          <p:cNvPr id="16" name="Text 14"/>
          <p:cNvSpPr txBox="1"/>
          <p:nvPr/>
        </p:nvSpPr>
        <p:spPr>
          <a:xfrm>
            <a:off x="6400800" y="3264408"/>
            <a:ext cx="5029200" cy="923544"/>
          </a:xfrm>
          <a:prstGeom prst="rect">
            <a:avLst/>
          </a:prstGeom>
          <a:noFill/>
          <a:ln/>
        </p:spPr>
        <p:txBody>
          <a:bodyPr wrap="square" lIns="0" tIns="0" rIns="0" bIns="0" rtlCol="0" anchor="t"/>
          <a:lstStyle/>
          <a:p>
            <a:pPr marL="0" indent="0">
              <a:lnSpc>
                <a:spcPts val="1500"/>
              </a:lnSpc>
              <a:buNone/>
            </a:pPr>
            <a:r>
              <a:rPr lang="en-US" sz="1050" dirty="0">
                <a:solidFill>
                  <a:srgbClr val="6E6B64"/>
                </a:solidFill>
                <a:latin typeface="Calibri" pitchFamily="34" charset="0"/>
                <a:ea typeface="Calibri" pitchFamily="34" charset="-122"/>
                <a:cs typeface="Calibri" pitchFamily="34" charset="-120"/>
              </a:rPr>
              <a:t>A reliable estimate supports team selection, fantasy scoring and workload planning — and shows which performance factors actually carry predictive signal.</a:t>
            </a:r>
            <a:endParaRPr lang="en-US" sz="1050" dirty="0"/>
          </a:p>
        </p:txBody>
      </p:sp>
      <p:sp>
        <p:nvSpPr>
          <p:cNvPr id="17" name="Shape 15"/>
          <p:cNvSpPr/>
          <p:nvPr/>
        </p:nvSpPr>
        <p:spPr>
          <a:xfrm>
            <a:off x="566928" y="4526280"/>
            <a:ext cx="3520440" cy="1234440"/>
          </a:xfrm>
          <a:prstGeom prst="roundRect">
            <a:avLst>
              <a:gd name="adj" fmla="val 4444"/>
            </a:avLst>
          </a:prstGeom>
          <a:solidFill>
            <a:srgbClr val="1B4034"/>
          </a:solidFill>
          <a:ln w="12700">
            <a:solidFill>
              <a:srgbClr val="1B4034"/>
            </a:solidFill>
            <a:prstDash val="solid"/>
          </a:ln>
        </p:spPr>
      </p:sp>
      <p:sp>
        <p:nvSpPr>
          <p:cNvPr id="18" name="Text 16"/>
          <p:cNvSpPr txBox="1"/>
          <p:nvPr/>
        </p:nvSpPr>
        <p:spPr>
          <a:xfrm>
            <a:off x="795528" y="4645152"/>
            <a:ext cx="1097280" cy="548640"/>
          </a:xfrm>
          <a:prstGeom prst="rect">
            <a:avLst/>
          </a:prstGeom>
          <a:noFill/>
          <a:ln/>
        </p:spPr>
        <p:txBody>
          <a:bodyPr wrap="square" lIns="0" tIns="0" rIns="0" bIns="0" rtlCol="0" anchor="ctr"/>
          <a:lstStyle/>
          <a:p>
            <a:pPr marL="0" indent="0">
              <a:buNone/>
            </a:pPr>
            <a:r>
              <a:rPr lang="en-US" sz="3000" b="1" dirty="0">
                <a:solidFill>
                  <a:srgbClr val="C08A2E"/>
                </a:solidFill>
                <a:latin typeface="Cambria" pitchFamily="34" charset="0"/>
                <a:ea typeface="Cambria" pitchFamily="34" charset="-122"/>
              </a:rPr>
              <a:t>2</a:t>
            </a:r>
            <a:endParaRPr lang="en-US" sz="3000" dirty="0"/>
          </a:p>
        </p:txBody>
      </p:sp>
      <p:sp>
        <p:nvSpPr>
          <p:cNvPr id="19" name="Text 17"/>
          <p:cNvSpPr txBox="1"/>
          <p:nvPr/>
        </p:nvSpPr>
        <p:spPr>
          <a:xfrm>
            <a:off x="1801368" y="4754880"/>
            <a:ext cx="210312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Models Compared</a:t>
            </a:r>
            <a:endParaRPr lang="en-US" sz="1150" dirty="0"/>
          </a:p>
        </p:txBody>
      </p:sp>
      <p:sp>
        <p:nvSpPr>
          <p:cNvPr id="20" name="Text 18"/>
          <p:cNvSpPr txBox="1"/>
          <p:nvPr/>
        </p:nvSpPr>
        <p:spPr>
          <a:xfrm>
            <a:off x="795528" y="5230368"/>
            <a:ext cx="3108960" cy="411480"/>
          </a:xfrm>
          <a:prstGeom prst="rect">
            <a:avLst/>
          </a:prstGeom>
          <a:noFill/>
          <a:ln/>
        </p:spPr>
        <p:txBody>
          <a:bodyPr wrap="square" lIns="0" tIns="0" rIns="0" bIns="0" rtlCol="0" anchor="ctr"/>
          <a:lstStyle/>
          <a:p>
            <a:pPr marL="0" indent="0">
              <a:buNone/>
            </a:pPr>
            <a:r>
              <a:rPr lang="en-US" sz="950" dirty="0">
                <a:solidFill>
                  <a:srgbClr val="B9C4BC"/>
                </a:solidFill>
                <a:latin typeface="Calibri" pitchFamily="34" charset="0"/>
                <a:ea typeface="Calibri" pitchFamily="34" charset="-122"/>
                <a:cs typeface="Calibri" pitchFamily="34" charset="-120"/>
              </a:rPr>
              <a:t>Ridge · Lasso · </a:t>
            </a:r>
            <a:endParaRPr lang="en-US" sz="950" dirty="0"/>
          </a:p>
        </p:txBody>
      </p:sp>
      <p:sp>
        <p:nvSpPr>
          <p:cNvPr id="25" name="Shape 23"/>
          <p:cNvSpPr/>
          <p:nvPr/>
        </p:nvSpPr>
        <p:spPr>
          <a:xfrm>
            <a:off x="8065008" y="4526280"/>
            <a:ext cx="3520440" cy="1234440"/>
          </a:xfrm>
          <a:prstGeom prst="roundRect">
            <a:avLst>
              <a:gd name="adj" fmla="val 4444"/>
            </a:avLst>
          </a:prstGeom>
          <a:solidFill>
            <a:srgbClr val="1B4034"/>
          </a:solidFill>
          <a:ln w="12700">
            <a:solidFill>
              <a:srgbClr val="1B4034"/>
            </a:solidFill>
            <a:prstDash val="solid"/>
          </a:ln>
        </p:spPr>
      </p:sp>
      <p:sp>
        <p:nvSpPr>
          <p:cNvPr id="26" name="Text 24"/>
          <p:cNvSpPr txBox="1"/>
          <p:nvPr/>
        </p:nvSpPr>
        <p:spPr>
          <a:xfrm>
            <a:off x="8293608" y="4645152"/>
            <a:ext cx="1097280" cy="548640"/>
          </a:xfrm>
          <a:prstGeom prst="rect">
            <a:avLst/>
          </a:prstGeom>
          <a:noFill/>
          <a:ln/>
        </p:spPr>
        <p:txBody>
          <a:bodyPr wrap="square" lIns="0" tIns="0" rIns="0" bIns="0" rtlCol="0" anchor="ctr"/>
          <a:lstStyle/>
          <a:p>
            <a:pPr marL="0" indent="0">
              <a:buNone/>
            </a:pPr>
            <a:r>
              <a:rPr lang="en-US" sz="3000" b="1" dirty="0">
                <a:solidFill>
                  <a:srgbClr val="C08A2E"/>
                </a:solidFill>
                <a:latin typeface="Cambria" pitchFamily="34" charset="0"/>
                <a:ea typeface="Cambria" pitchFamily="34" charset="-122"/>
                <a:cs typeface="Cambria" pitchFamily="34" charset="-120"/>
              </a:rPr>
              <a:t>4</a:t>
            </a:r>
            <a:endParaRPr lang="en-US" sz="3000" dirty="0"/>
          </a:p>
        </p:txBody>
      </p:sp>
      <p:sp>
        <p:nvSpPr>
          <p:cNvPr id="27" name="Text 25"/>
          <p:cNvSpPr txBox="1"/>
          <p:nvPr/>
        </p:nvSpPr>
        <p:spPr>
          <a:xfrm>
            <a:off x="9299448" y="4754880"/>
            <a:ext cx="210312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Evaluation Metrics</a:t>
            </a:r>
            <a:endParaRPr lang="en-US" sz="1150" dirty="0"/>
          </a:p>
        </p:txBody>
      </p:sp>
      <p:sp>
        <p:nvSpPr>
          <p:cNvPr id="28" name="Text 26"/>
          <p:cNvSpPr txBox="1"/>
          <p:nvPr/>
        </p:nvSpPr>
        <p:spPr>
          <a:xfrm>
            <a:off x="8293608" y="5230368"/>
            <a:ext cx="3108960" cy="411480"/>
          </a:xfrm>
          <a:prstGeom prst="rect">
            <a:avLst/>
          </a:prstGeom>
          <a:noFill/>
          <a:ln/>
        </p:spPr>
        <p:txBody>
          <a:bodyPr wrap="square" lIns="0" tIns="0" rIns="0" bIns="0" rtlCol="0" anchor="ctr"/>
          <a:lstStyle/>
          <a:p>
            <a:pPr marL="0" indent="0">
              <a:buNone/>
            </a:pPr>
            <a:r>
              <a:rPr lang="en-US" sz="950" dirty="0">
                <a:solidFill>
                  <a:srgbClr val="B9C4BC"/>
                </a:solidFill>
                <a:latin typeface="Calibri" pitchFamily="34" charset="0"/>
                <a:ea typeface="Calibri" pitchFamily="34" charset="-122"/>
                <a:cs typeface="Calibri" pitchFamily="34" charset="-120"/>
              </a:rPr>
              <a:t>MAE · MSE · RMSE · R²</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EFE7"/>
        </a:solidFill>
        <a:effectLst/>
      </p:bgPr>
    </p:bg>
    <p:spTree>
      <p:nvGrpSpPr>
        <p:cNvPr id="1" name=""/>
        <p:cNvGrpSpPr/>
        <p:nvPr/>
      </p:nvGrpSpPr>
      <p:grpSpPr>
        <a:xfrm>
          <a:off x="0" y="0"/>
          <a:ext cx="0" cy="0"/>
          <a:chOff x="0" y="0"/>
          <a:chExt cx="0" cy="0"/>
        </a:xfrm>
      </p:grpSpPr>
      <p:sp>
        <p:nvSpPr>
          <p:cNvPr id="2" name="Text 0"/>
          <p:cNvSpPr txBox="1"/>
          <p:nvPr/>
        </p:nvSpPr>
        <p:spPr>
          <a:xfrm>
            <a:off x="11183112" y="6382512"/>
            <a:ext cx="548640" cy="274320"/>
          </a:xfrm>
          <a:prstGeom prst="rect">
            <a:avLst/>
          </a:prstGeom>
          <a:noFill/>
          <a:ln/>
        </p:spPr>
        <p:txBody>
          <a:bodyPr wrap="square" lIns="0" tIns="0" rIns="0" bIns="0" rtlCol="0" anchor="ctr"/>
          <a:lstStyle/>
          <a:p>
            <a:pPr marL="0" indent="0" algn="r">
              <a:buNone/>
            </a:pPr>
            <a:r>
              <a:rPr lang="en-US" sz="1100" b="1" dirty="0">
                <a:solidFill>
                  <a:srgbClr val="C08A2E"/>
                </a:solidFill>
                <a:latin typeface="Cambria" pitchFamily="34" charset="0"/>
                <a:ea typeface="Cambria" pitchFamily="34" charset="-122"/>
                <a:cs typeface="Cambria" pitchFamily="34" charset="-120"/>
              </a:rPr>
              <a:t>03</a:t>
            </a:r>
            <a:endParaRPr lang="en-US" sz="1100" dirty="0"/>
          </a:p>
        </p:txBody>
      </p:sp>
      <p:sp>
        <p:nvSpPr>
          <p:cNvPr id="3" name="Text 1"/>
          <p:cNvSpPr txBox="1"/>
          <p:nvPr/>
        </p:nvSpPr>
        <p:spPr>
          <a:xfrm>
            <a:off x="566928" y="411480"/>
            <a:ext cx="8229600" cy="219456"/>
          </a:xfrm>
          <a:prstGeom prst="rect">
            <a:avLst/>
          </a:prstGeom>
          <a:noFill/>
          <a:ln/>
        </p:spPr>
        <p:txBody>
          <a:bodyPr wrap="square" lIns="0" tIns="0" rIns="0" bIns="0" rtlCol="0" anchor="ctr"/>
          <a:lstStyle/>
          <a:p>
            <a:pPr marL="0" indent="0">
              <a:buNone/>
            </a:pPr>
            <a:r>
              <a:rPr lang="en-US" sz="950" b="1" kern="0" spc="200" dirty="0">
                <a:solidFill>
                  <a:srgbClr val="C08A2E"/>
                </a:solidFill>
                <a:latin typeface="Calibri" pitchFamily="34" charset="0"/>
                <a:ea typeface="Calibri" pitchFamily="34" charset="-122"/>
                <a:cs typeface="Calibri" pitchFamily="34" charset="-120"/>
              </a:rPr>
              <a:t>SCOPE</a:t>
            </a:r>
            <a:endParaRPr lang="en-US" sz="950" dirty="0"/>
          </a:p>
        </p:txBody>
      </p:sp>
      <p:sp>
        <p:nvSpPr>
          <p:cNvPr id="4" name="Text 2"/>
          <p:cNvSpPr txBox="1"/>
          <p:nvPr/>
        </p:nvSpPr>
        <p:spPr>
          <a:xfrm>
            <a:off x="566928" y="667512"/>
            <a:ext cx="11055096" cy="502920"/>
          </a:xfrm>
          <a:prstGeom prst="rect">
            <a:avLst/>
          </a:prstGeom>
          <a:noFill/>
          <a:ln/>
        </p:spPr>
        <p:txBody>
          <a:bodyPr wrap="square" lIns="0" tIns="0" rIns="0" bIns="0" rtlCol="0" anchor="ctr"/>
          <a:lstStyle/>
          <a:p>
            <a:pPr marL="0" indent="0">
              <a:buNone/>
            </a:pPr>
            <a:r>
              <a:rPr lang="en-US" sz="2700" b="1" dirty="0">
                <a:solidFill>
                  <a:srgbClr val="1B4034"/>
                </a:solidFill>
                <a:latin typeface="Cambria" pitchFamily="34" charset="0"/>
                <a:ea typeface="Cambria" pitchFamily="34" charset="-122"/>
                <a:cs typeface="Cambria" pitchFamily="34" charset="-120"/>
              </a:rPr>
              <a:t>Project Objectives</a:t>
            </a:r>
            <a:endParaRPr lang="en-US" sz="2700" dirty="0"/>
          </a:p>
        </p:txBody>
      </p:sp>
      <p:sp>
        <p:nvSpPr>
          <p:cNvPr id="5" name="Shape 3"/>
          <p:cNvSpPr/>
          <p:nvPr/>
        </p:nvSpPr>
        <p:spPr>
          <a:xfrm>
            <a:off x="566928" y="1371600"/>
            <a:ext cx="5577840" cy="1024128"/>
          </a:xfrm>
          <a:prstGeom prst="roundRect">
            <a:avLst>
              <a:gd name="adj" fmla="val 4464"/>
            </a:avLst>
          </a:prstGeom>
          <a:solidFill>
            <a:srgbClr val="FFFFFF"/>
          </a:solidFill>
          <a:ln w="12700">
            <a:solidFill>
              <a:srgbClr val="DDD6C8"/>
            </a:solidFill>
            <a:prstDash val="solid"/>
          </a:ln>
        </p:spPr>
      </p:sp>
      <p:sp>
        <p:nvSpPr>
          <p:cNvPr id="6" name="Shape 4"/>
          <p:cNvSpPr/>
          <p:nvPr/>
        </p:nvSpPr>
        <p:spPr>
          <a:xfrm>
            <a:off x="768096" y="1645920"/>
            <a:ext cx="457200" cy="457200"/>
          </a:xfrm>
          <a:prstGeom prst="ellipse">
            <a:avLst/>
          </a:prstGeom>
          <a:solidFill>
            <a:srgbClr val="1B4034"/>
          </a:solidFill>
          <a:ln w="12700">
            <a:solidFill>
              <a:srgbClr val="1B4034"/>
            </a:solidFill>
            <a:prstDash val="solid"/>
          </a:ln>
        </p:spPr>
      </p:sp>
      <p:sp>
        <p:nvSpPr>
          <p:cNvPr id="7" name="Text 5"/>
          <p:cNvSpPr txBox="1"/>
          <p:nvPr/>
        </p:nvSpPr>
        <p:spPr>
          <a:xfrm>
            <a:off x="768096" y="1746504"/>
            <a:ext cx="457200" cy="256032"/>
          </a:xfrm>
          <a:prstGeom prst="rect">
            <a:avLst/>
          </a:prstGeom>
          <a:noFill/>
          <a:ln/>
        </p:spPr>
        <p:txBody>
          <a:bodyPr wrap="square" lIns="0" tIns="0" rIns="0" bIns="0" rtlCol="0" anchor="ctr"/>
          <a:lstStyle/>
          <a:p>
            <a:pPr marL="0" indent="0" algn="ctr">
              <a:buNone/>
            </a:pPr>
            <a:r>
              <a:rPr lang="en-US" sz="1200" b="1" dirty="0">
                <a:solidFill>
                  <a:srgbClr val="C08A2E"/>
                </a:solidFill>
                <a:latin typeface="Cambria" pitchFamily="34" charset="0"/>
                <a:ea typeface="Cambria" pitchFamily="34" charset="-122"/>
                <a:cs typeface="Cambria" pitchFamily="34" charset="-120"/>
              </a:rPr>
              <a:t>01</a:t>
            </a:r>
            <a:endParaRPr lang="en-US" sz="1200" dirty="0"/>
          </a:p>
        </p:txBody>
      </p:sp>
      <p:sp>
        <p:nvSpPr>
          <p:cNvPr id="8" name="Text 6"/>
          <p:cNvSpPr txBox="1"/>
          <p:nvPr/>
        </p:nvSpPr>
        <p:spPr>
          <a:xfrm>
            <a:off x="1371600" y="1554480"/>
            <a:ext cx="4617720" cy="256032"/>
          </a:xfrm>
          <a:prstGeom prst="rect">
            <a:avLst/>
          </a:prstGeom>
          <a:noFill/>
          <a:ln/>
        </p:spPr>
        <p:txBody>
          <a:bodyPr wrap="square" lIns="0" tIns="0" rIns="0" bIns="0" rtlCol="0" anchor="ctr"/>
          <a:lstStyle/>
          <a:p>
            <a:pPr marL="0" indent="0">
              <a:buNone/>
            </a:pPr>
            <a:r>
              <a:rPr lang="en-US" sz="1300" b="1" dirty="0">
                <a:solidFill>
                  <a:srgbClr val="1B4034"/>
                </a:solidFill>
                <a:latin typeface="Cambria" pitchFamily="34" charset="0"/>
                <a:ea typeface="Cambria" pitchFamily="34" charset="-122"/>
                <a:cs typeface="Cambria" pitchFamily="34" charset="-120"/>
              </a:rPr>
              <a:t>Analyse historical records</a:t>
            </a:r>
            <a:endParaRPr lang="en-US" sz="1300" dirty="0"/>
          </a:p>
        </p:txBody>
      </p:sp>
      <p:sp>
        <p:nvSpPr>
          <p:cNvPr id="9" name="Text 7"/>
          <p:cNvSpPr txBox="1"/>
          <p:nvPr/>
        </p:nvSpPr>
        <p:spPr>
          <a:xfrm>
            <a:off x="1371600" y="1828800"/>
            <a:ext cx="4617720" cy="457200"/>
          </a:xfrm>
          <a:prstGeom prst="rect">
            <a:avLst/>
          </a:prstGeom>
          <a:noFill/>
          <a:ln/>
        </p:spPr>
        <p:txBody>
          <a:bodyPr wrap="square" lIns="0" tIns="0" rIns="0" bIns="0" rtlCol="0" anchor="ctr"/>
          <a:lstStyle/>
          <a:p>
            <a:pPr marL="0" indent="0">
              <a:lnSpc>
                <a:spcPts val="1400"/>
              </a:lnSpc>
              <a:buNone/>
            </a:pPr>
            <a:r>
              <a:rPr lang="en-US" sz="1000" dirty="0">
                <a:solidFill>
                  <a:srgbClr val="6E6B64"/>
                </a:solidFill>
                <a:latin typeface="Calibri" pitchFamily="34" charset="0"/>
                <a:ea typeface="Calibri" pitchFamily="34" charset="-122"/>
                <a:cs typeface="Calibri" pitchFamily="34" charset="-120"/>
              </a:rPr>
              <a:t>Explore 46,300 batting innings across T20, ODI and Test formats.</a:t>
            </a:r>
            <a:endParaRPr lang="en-US" sz="1000" dirty="0"/>
          </a:p>
        </p:txBody>
      </p:sp>
      <p:sp>
        <p:nvSpPr>
          <p:cNvPr id="10" name="Shape 8"/>
          <p:cNvSpPr/>
          <p:nvPr/>
        </p:nvSpPr>
        <p:spPr>
          <a:xfrm>
            <a:off x="6419088" y="1371600"/>
            <a:ext cx="5577840" cy="1024128"/>
          </a:xfrm>
          <a:prstGeom prst="roundRect">
            <a:avLst>
              <a:gd name="adj" fmla="val 4464"/>
            </a:avLst>
          </a:prstGeom>
          <a:solidFill>
            <a:srgbClr val="FFFFFF"/>
          </a:solidFill>
          <a:ln w="12700">
            <a:solidFill>
              <a:srgbClr val="DDD6C8"/>
            </a:solidFill>
            <a:prstDash val="solid"/>
          </a:ln>
        </p:spPr>
      </p:sp>
      <p:sp>
        <p:nvSpPr>
          <p:cNvPr id="11" name="Shape 9"/>
          <p:cNvSpPr/>
          <p:nvPr/>
        </p:nvSpPr>
        <p:spPr>
          <a:xfrm>
            <a:off x="6620256" y="1645920"/>
            <a:ext cx="457200" cy="457200"/>
          </a:xfrm>
          <a:prstGeom prst="ellipse">
            <a:avLst/>
          </a:prstGeom>
          <a:solidFill>
            <a:srgbClr val="1B4034"/>
          </a:solidFill>
          <a:ln w="12700">
            <a:solidFill>
              <a:srgbClr val="1B4034"/>
            </a:solidFill>
            <a:prstDash val="solid"/>
          </a:ln>
        </p:spPr>
      </p:sp>
      <p:sp>
        <p:nvSpPr>
          <p:cNvPr id="12" name="Text 10"/>
          <p:cNvSpPr txBox="1"/>
          <p:nvPr/>
        </p:nvSpPr>
        <p:spPr>
          <a:xfrm>
            <a:off x="6620256" y="1746504"/>
            <a:ext cx="457200" cy="256032"/>
          </a:xfrm>
          <a:prstGeom prst="rect">
            <a:avLst/>
          </a:prstGeom>
          <a:noFill/>
          <a:ln/>
        </p:spPr>
        <p:txBody>
          <a:bodyPr wrap="square" lIns="0" tIns="0" rIns="0" bIns="0" rtlCol="0" anchor="ctr"/>
          <a:lstStyle/>
          <a:p>
            <a:pPr marL="0" indent="0" algn="ctr">
              <a:buNone/>
            </a:pPr>
            <a:r>
              <a:rPr lang="en-US" sz="1200" b="1" dirty="0">
                <a:solidFill>
                  <a:srgbClr val="C08A2E"/>
                </a:solidFill>
                <a:latin typeface="Cambria" pitchFamily="34" charset="0"/>
                <a:ea typeface="Cambria" pitchFamily="34" charset="-122"/>
                <a:cs typeface="Cambria" pitchFamily="34" charset="-120"/>
              </a:rPr>
              <a:t>02</a:t>
            </a:r>
            <a:endParaRPr lang="en-US" sz="1200" dirty="0"/>
          </a:p>
        </p:txBody>
      </p:sp>
      <p:sp>
        <p:nvSpPr>
          <p:cNvPr id="13" name="Text 11"/>
          <p:cNvSpPr txBox="1"/>
          <p:nvPr/>
        </p:nvSpPr>
        <p:spPr>
          <a:xfrm>
            <a:off x="7223760" y="1554480"/>
            <a:ext cx="4617720" cy="256032"/>
          </a:xfrm>
          <a:prstGeom prst="rect">
            <a:avLst/>
          </a:prstGeom>
          <a:noFill/>
          <a:ln/>
        </p:spPr>
        <p:txBody>
          <a:bodyPr wrap="square" lIns="0" tIns="0" rIns="0" bIns="0" rtlCol="0" anchor="ctr"/>
          <a:lstStyle/>
          <a:p>
            <a:pPr marL="0" indent="0">
              <a:buNone/>
            </a:pPr>
            <a:r>
              <a:rPr lang="en-US" sz="1300" b="1" dirty="0">
                <a:solidFill>
                  <a:srgbClr val="1B4034"/>
                </a:solidFill>
                <a:latin typeface="Cambria" pitchFamily="34" charset="0"/>
                <a:ea typeface="Cambria" pitchFamily="34" charset="-122"/>
                <a:cs typeface="Cambria" pitchFamily="34" charset="-120"/>
              </a:rPr>
              <a:t>Identify key drivers</a:t>
            </a:r>
            <a:endParaRPr lang="en-US" sz="1300" dirty="0"/>
          </a:p>
        </p:txBody>
      </p:sp>
      <p:sp>
        <p:nvSpPr>
          <p:cNvPr id="14" name="Text 12"/>
          <p:cNvSpPr txBox="1"/>
          <p:nvPr/>
        </p:nvSpPr>
        <p:spPr>
          <a:xfrm>
            <a:off x="7223760" y="1828800"/>
            <a:ext cx="4617720" cy="457200"/>
          </a:xfrm>
          <a:prstGeom prst="rect">
            <a:avLst/>
          </a:prstGeom>
          <a:noFill/>
          <a:ln/>
        </p:spPr>
        <p:txBody>
          <a:bodyPr wrap="square" lIns="0" tIns="0" rIns="0" bIns="0" rtlCol="0" anchor="ctr"/>
          <a:lstStyle/>
          <a:p>
            <a:pPr marL="0" indent="0">
              <a:lnSpc>
                <a:spcPts val="1400"/>
              </a:lnSpc>
              <a:buNone/>
            </a:pPr>
            <a:r>
              <a:rPr lang="en-US" sz="1000" dirty="0">
                <a:solidFill>
                  <a:srgbClr val="6E6B64"/>
                </a:solidFill>
                <a:latin typeface="Calibri" pitchFamily="34" charset="0"/>
                <a:ea typeface="Calibri" pitchFamily="34" charset="-122"/>
                <a:cs typeface="Calibri" pitchFamily="34" charset="-120"/>
              </a:rPr>
              <a:t>Measure which involvement and form variables correlate with runs.</a:t>
            </a:r>
            <a:endParaRPr lang="en-US" sz="1000" dirty="0"/>
          </a:p>
        </p:txBody>
      </p:sp>
      <p:sp>
        <p:nvSpPr>
          <p:cNvPr id="15" name="Shape 13"/>
          <p:cNvSpPr/>
          <p:nvPr/>
        </p:nvSpPr>
        <p:spPr>
          <a:xfrm>
            <a:off x="566928" y="2542032"/>
            <a:ext cx="5577840" cy="1024128"/>
          </a:xfrm>
          <a:prstGeom prst="roundRect">
            <a:avLst>
              <a:gd name="adj" fmla="val 4464"/>
            </a:avLst>
          </a:prstGeom>
          <a:solidFill>
            <a:srgbClr val="FFFFFF"/>
          </a:solidFill>
          <a:ln w="12700">
            <a:solidFill>
              <a:srgbClr val="DDD6C8"/>
            </a:solidFill>
            <a:prstDash val="solid"/>
          </a:ln>
        </p:spPr>
      </p:sp>
      <p:sp>
        <p:nvSpPr>
          <p:cNvPr id="16" name="Shape 14"/>
          <p:cNvSpPr/>
          <p:nvPr/>
        </p:nvSpPr>
        <p:spPr>
          <a:xfrm>
            <a:off x="768096" y="2816352"/>
            <a:ext cx="457200" cy="457200"/>
          </a:xfrm>
          <a:prstGeom prst="ellipse">
            <a:avLst/>
          </a:prstGeom>
          <a:solidFill>
            <a:srgbClr val="1B4034"/>
          </a:solidFill>
          <a:ln w="12700">
            <a:solidFill>
              <a:srgbClr val="1B4034"/>
            </a:solidFill>
            <a:prstDash val="solid"/>
          </a:ln>
        </p:spPr>
      </p:sp>
      <p:sp>
        <p:nvSpPr>
          <p:cNvPr id="17" name="Text 15"/>
          <p:cNvSpPr txBox="1"/>
          <p:nvPr/>
        </p:nvSpPr>
        <p:spPr>
          <a:xfrm>
            <a:off x="768096" y="2916936"/>
            <a:ext cx="457200" cy="256032"/>
          </a:xfrm>
          <a:prstGeom prst="rect">
            <a:avLst/>
          </a:prstGeom>
          <a:noFill/>
          <a:ln/>
        </p:spPr>
        <p:txBody>
          <a:bodyPr wrap="square" lIns="0" tIns="0" rIns="0" bIns="0" rtlCol="0" anchor="ctr"/>
          <a:lstStyle/>
          <a:p>
            <a:pPr marL="0" indent="0" algn="ctr">
              <a:buNone/>
            </a:pPr>
            <a:r>
              <a:rPr lang="en-US" sz="1200" b="1" dirty="0">
                <a:solidFill>
                  <a:srgbClr val="C08A2E"/>
                </a:solidFill>
                <a:latin typeface="Cambria" pitchFamily="34" charset="0"/>
                <a:ea typeface="Cambria" pitchFamily="34" charset="-122"/>
                <a:cs typeface="Cambria" pitchFamily="34" charset="-120"/>
              </a:rPr>
              <a:t>03</a:t>
            </a:r>
            <a:endParaRPr lang="en-US" sz="1200" dirty="0"/>
          </a:p>
        </p:txBody>
      </p:sp>
      <p:sp>
        <p:nvSpPr>
          <p:cNvPr id="18" name="Text 16"/>
          <p:cNvSpPr txBox="1"/>
          <p:nvPr/>
        </p:nvSpPr>
        <p:spPr>
          <a:xfrm>
            <a:off x="1371600" y="2724912"/>
            <a:ext cx="4617720" cy="256032"/>
          </a:xfrm>
          <a:prstGeom prst="rect">
            <a:avLst/>
          </a:prstGeom>
          <a:noFill/>
          <a:ln/>
        </p:spPr>
        <p:txBody>
          <a:bodyPr wrap="square" lIns="0" tIns="0" rIns="0" bIns="0" rtlCol="0" anchor="ctr"/>
          <a:lstStyle/>
          <a:p>
            <a:pPr marL="0" indent="0">
              <a:buNone/>
            </a:pPr>
            <a:r>
              <a:rPr lang="en-US" sz="1300" b="1" dirty="0">
                <a:solidFill>
                  <a:srgbClr val="1B4034"/>
                </a:solidFill>
                <a:latin typeface="Cambria" pitchFamily="34" charset="0"/>
                <a:ea typeface="Cambria" pitchFamily="34" charset="-122"/>
                <a:cs typeface="Cambria" pitchFamily="34" charset="-120"/>
              </a:rPr>
              <a:t>Clean &amp; preprocess</a:t>
            </a:r>
            <a:endParaRPr lang="en-US" sz="1300" dirty="0"/>
          </a:p>
        </p:txBody>
      </p:sp>
      <p:sp>
        <p:nvSpPr>
          <p:cNvPr id="19" name="Text 17"/>
          <p:cNvSpPr txBox="1"/>
          <p:nvPr/>
        </p:nvSpPr>
        <p:spPr>
          <a:xfrm>
            <a:off x="1371600" y="2999232"/>
            <a:ext cx="4617720" cy="457200"/>
          </a:xfrm>
          <a:prstGeom prst="rect">
            <a:avLst/>
          </a:prstGeom>
          <a:noFill/>
          <a:ln/>
        </p:spPr>
        <p:txBody>
          <a:bodyPr wrap="square" lIns="0" tIns="0" rIns="0" bIns="0" rtlCol="0" anchor="ctr"/>
          <a:lstStyle/>
          <a:p>
            <a:pPr marL="0" indent="0">
              <a:lnSpc>
                <a:spcPts val="1400"/>
              </a:lnSpc>
              <a:buNone/>
            </a:pPr>
            <a:r>
              <a:rPr lang="en-US" sz="1000" dirty="0">
                <a:solidFill>
                  <a:srgbClr val="6E6B64"/>
                </a:solidFill>
                <a:latin typeface="Calibri" pitchFamily="34" charset="0"/>
                <a:ea typeface="Calibri" pitchFamily="34" charset="-122"/>
                <a:cs typeface="Calibri" pitchFamily="34" charset="-120"/>
              </a:rPr>
              <a:t>Handle missing values, verify types, scale numeric predictors.</a:t>
            </a:r>
            <a:endParaRPr lang="en-US" sz="1000" dirty="0"/>
          </a:p>
        </p:txBody>
      </p:sp>
      <p:sp>
        <p:nvSpPr>
          <p:cNvPr id="20" name="Shape 18"/>
          <p:cNvSpPr/>
          <p:nvPr/>
        </p:nvSpPr>
        <p:spPr>
          <a:xfrm>
            <a:off x="6419088" y="2542032"/>
            <a:ext cx="5577840" cy="1024128"/>
          </a:xfrm>
          <a:prstGeom prst="roundRect">
            <a:avLst>
              <a:gd name="adj" fmla="val 4464"/>
            </a:avLst>
          </a:prstGeom>
          <a:solidFill>
            <a:srgbClr val="FFFFFF"/>
          </a:solidFill>
          <a:ln w="12700">
            <a:solidFill>
              <a:srgbClr val="DDD6C8"/>
            </a:solidFill>
            <a:prstDash val="solid"/>
          </a:ln>
        </p:spPr>
      </p:sp>
      <p:sp>
        <p:nvSpPr>
          <p:cNvPr id="21" name="Shape 19"/>
          <p:cNvSpPr/>
          <p:nvPr/>
        </p:nvSpPr>
        <p:spPr>
          <a:xfrm>
            <a:off x="6620256" y="2816352"/>
            <a:ext cx="457200" cy="457200"/>
          </a:xfrm>
          <a:prstGeom prst="ellipse">
            <a:avLst/>
          </a:prstGeom>
          <a:solidFill>
            <a:srgbClr val="1B4034"/>
          </a:solidFill>
          <a:ln w="12700">
            <a:solidFill>
              <a:srgbClr val="1B4034"/>
            </a:solidFill>
            <a:prstDash val="solid"/>
          </a:ln>
        </p:spPr>
      </p:sp>
      <p:sp>
        <p:nvSpPr>
          <p:cNvPr id="22" name="Text 20"/>
          <p:cNvSpPr txBox="1"/>
          <p:nvPr/>
        </p:nvSpPr>
        <p:spPr>
          <a:xfrm>
            <a:off x="6620256" y="2916936"/>
            <a:ext cx="457200" cy="256032"/>
          </a:xfrm>
          <a:prstGeom prst="rect">
            <a:avLst/>
          </a:prstGeom>
          <a:noFill/>
          <a:ln/>
        </p:spPr>
        <p:txBody>
          <a:bodyPr wrap="square" lIns="0" tIns="0" rIns="0" bIns="0" rtlCol="0" anchor="ctr"/>
          <a:lstStyle/>
          <a:p>
            <a:pPr marL="0" indent="0" algn="ctr">
              <a:buNone/>
            </a:pPr>
            <a:r>
              <a:rPr lang="en-US" sz="1200" b="1" dirty="0">
                <a:solidFill>
                  <a:srgbClr val="C08A2E"/>
                </a:solidFill>
                <a:latin typeface="Cambria" pitchFamily="34" charset="0"/>
                <a:ea typeface="Cambria" pitchFamily="34" charset="-122"/>
                <a:cs typeface="Cambria" pitchFamily="34" charset="-120"/>
              </a:rPr>
              <a:t>04</a:t>
            </a:r>
            <a:endParaRPr lang="en-US" sz="1200" dirty="0"/>
          </a:p>
        </p:txBody>
      </p:sp>
      <p:sp>
        <p:nvSpPr>
          <p:cNvPr id="23" name="Text 21"/>
          <p:cNvSpPr txBox="1"/>
          <p:nvPr/>
        </p:nvSpPr>
        <p:spPr>
          <a:xfrm>
            <a:off x="7223760" y="2724912"/>
            <a:ext cx="4617720" cy="256032"/>
          </a:xfrm>
          <a:prstGeom prst="rect">
            <a:avLst/>
          </a:prstGeom>
          <a:noFill/>
          <a:ln/>
        </p:spPr>
        <p:txBody>
          <a:bodyPr wrap="square" lIns="0" tIns="0" rIns="0" bIns="0" rtlCol="0" anchor="ctr"/>
          <a:lstStyle/>
          <a:p>
            <a:pPr marL="0" indent="0">
              <a:buNone/>
            </a:pPr>
            <a:r>
              <a:rPr lang="en-US" sz="1300" b="1" dirty="0">
                <a:solidFill>
                  <a:srgbClr val="1B4034"/>
                </a:solidFill>
                <a:latin typeface="Cambria" pitchFamily="34" charset="0"/>
                <a:ea typeface="Cambria" pitchFamily="34" charset="-122"/>
                <a:cs typeface="Cambria" pitchFamily="34" charset="-120"/>
              </a:rPr>
              <a:t>Engineer form features</a:t>
            </a:r>
            <a:endParaRPr lang="en-US" sz="1300" dirty="0"/>
          </a:p>
        </p:txBody>
      </p:sp>
      <p:sp>
        <p:nvSpPr>
          <p:cNvPr id="24" name="Text 22"/>
          <p:cNvSpPr txBox="1"/>
          <p:nvPr/>
        </p:nvSpPr>
        <p:spPr>
          <a:xfrm>
            <a:off x="7223760" y="2999232"/>
            <a:ext cx="4617720" cy="457200"/>
          </a:xfrm>
          <a:prstGeom prst="rect">
            <a:avLst/>
          </a:prstGeom>
          <a:noFill/>
          <a:ln/>
        </p:spPr>
        <p:txBody>
          <a:bodyPr wrap="square" lIns="0" tIns="0" rIns="0" bIns="0" rtlCol="0" anchor="ctr"/>
          <a:lstStyle/>
          <a:p>
            <a:r>
              <a:rPr lang="en-IN" sz="1000" dirty="0">
                <a:solidFill>
                  <a:srgbClr val="8A8882"/>
                </a:solidFill>
              </a:rPr>
              <a:t>Create features based on a player's </a:t>
            </a:r>
            <a:r>
              <a:rPr lang="en-IN" sz="1000" b="1" dirty="0">
                <a:solidFill>
                  <a:srgbClr val="8A8882"/>
                </a:solidFill>
              </a:rPr>
              <a:t>previous performances</a:t>
            </a:r>
            <a:r>
              <a:rPr lang="en-IN" sz="1000" dirty="0">
                <a:solidFill>
                  <a:srgbClr val="8A8882"/>
                </a:solidFill>
              </a:rPr>
              <a:t>, such as career averages and recent-form averages.</a:t>
            </a:r>
            <a:endParaRPr lang="en-US" sz="1000" dirty="0">
              <a:solidFill>
                <a:srgbClr val="8A8882"/>
              </a:solidFill>
            </a:endParaRPr>
          </a:p>
        </p:txBody>
      </p:sp>
      <p:sp>
        <p:nvSpPr>
          <p:cNvPr id="25" name="Shape 23"/>
          <p:cNvSpPr/>
          <p:nvPr/>
        </p:nvSpPr>
        <p:spPr>
          <a:xfrm>
            <a:off x="566928" y="3712464"/>
            <a:ext cx="5577840" cy="1024128"/>
          </a:xfrm>
          <a:prstGeom prst="roundRect">
            <a:avLst>
              <a:gd name="adj" fmla="val 4464"/>
            </a:avLst>
          </a:prstGeom>
          <a:solidFill>
            <a:srgbClr val="FFFFFF"/>
          </a:solidFill>
          <a:ln w="12700">
            <a:solidFill>
              <a:srgbClr val="DDD6C8"/>
            </a:solidFill>
            <a:prstDash val="solid"/>
          </a:ln>
        </p:spPr>
      </p:sp>
      <p:sp>
        <p:nvSpPr>
          <p:cNvPr id="26" name="Shape 24"/>
          <p:cNvSpPr/>
          <p:nvPr/>
        </p:nvSpPr>
        <p:spPr>
          <a:xfrm>
            <a:off x="768096" y="3986784"/>
            <a:ext cx="457200" cy="457200"/>
          </a:xfrm>
          <a:prstGeom prst="ellipse">
            <a:avLst/>
          </a:prstGeom>
          <a:solidFill>
            <a:srgbClr val="1B4034"/>
          </a:solidFill>
          <a:ln w="12700">
            <a:solidFill>
              <a:srgbClr val="1B4034"/>
            </a:solidFill>
            <a:prstDash val="solid"/>
          </a:ln>
        </p:spPr>
      </p:sp>
      <p:sp>
        <p:nvSpPr>
          <p:cNvPr id="27" name="Text 25"/>
          <p:cNvSpPr txBox="1"/>
          <p:nvPr/>
        </p:nvSpPr>
        <p:spPr>
          <a:xfrm>
            <a:off x="768096" y="4087368"/>
            <a:ext cx="457200" cy="256032"/>
          </a:xfrm>
          <a:prstGeom prst="rect">
            <a:avLst/>
          </a:prstGeom>
          <a:noFill/>
          <a:ln/>
        </p:spPr>
        <p:txBody>
          <a:bodyPr wrap="square" lIns="0" tIns="0" rIns="0" bIns="0" rtlCol="0" anchor="ctr"/>
          <a:lstStyle/>
          <a:p>
            <a:pPr marL="0" indent="0" algn="ctr">
              <a:buNone/>
            </a:pPr>
            <a:r>
              <a:rPr lang="en-US" sz="1200" b="1" dirty="0">
                <a:solidFill>
                  <a:srgbClr val="C08A2E"/>
                </a:solidFill>
                <a:latin typeface="Cambria" pitchFamily="34" charset="0"/>
                <a:ea typeface="Cambria" pitchFamily="34" charset="-122"/>
                <a:cs typeface="Cambria" pitchFamily="34" charset="-120"/>
              </a:rPr>
              <a:t>05</a:t>
            </a:r>
            <a:endParaRPr lang="en-US" sz="1200" dirty="0"/>
          </a:p>
        </p:txBody>
      </p:sp>
      <p:sp>
        <p:nvSpPr>
          <p:cNvPr id="28" name="Text 26"/>
          <p:cNvSpPr txBox="1"/>
          <p:nvPr/>
        </p:nvSpPr>
        <p:spPr>
          <a:xfrm>
            <a:off x="1371600" y="3895344"/>
            <a:ext cx="4617720" cy="256032"/>
          </a:xfrm>
          <a:prstGeom prst="rect">
            <a:avLst/>
          </a:prstGeom>
          <a:noFill/>
          <a:ln/>
        </p:spPr>
        <p:txBody>
          <a:bodyPr wrap="square" lIns="0" tIns="0" rIns="0" bIns="0" rtlCol="0" anchor="ctr"/>
          <a:lstStyle/>
          <a:p>
            <a:pPr marL="0" indent="0">
              <a:buNone/>
            </a:pPr>
            <a:r>
              <a:rPr lang="en-US" sz="1300" b="1" dirty="0">
                <a:solidFill>
                  <a:srgbClr val="1B4034"/>
                </a:solidFill>
                <a:latin typeface="Cambria" pitchFamily="34" charset="0"/>
                <a:ea typeface="Cambria" pitchFamily="34" charset="-122"/>
                <a:cs typeface="Cambria" pitchFamily="34" charset="-120"/>
              </a:rPr>
              <a:t>Build regression models</a:t>
            </a:r>
            <a:endParaRPr lang="en-US" sz="1300" dirty="0"/>
          </a:p>
        </p:txBody>
      </p:sp>
      <p:sp>
        <p:nvSpPr>
          <p:cNvPr id="29" name="Text 27"/>
          <p:cNvSpPr txBox="1"/>
          <p:nvPr/>
        </p:nvSpPr>
        <p:spPr>
          <a:xfrm>
            <a:off x="1371600" y="4169664"/>
            <a:ext cx="4617720" cy="457200"/>
          </a:xfrm>
          <a:prstGeom prst="rect">
            <a:avLst/>
          </a:prstGeom>
          <a:noFill/>
          <a:ln/>
        </p:spPr>
        <p:txBody>
          <a:bodyPr wrap="square" lIns="0" tIns="0" rIns="0" bIns="0" rtlCol="0" anchor="ctr"/>
          <a:lstStyle/>
          <a:p>
            <a:pPr marL="0" indent="0">
              <a:lnSpc>
                <a:spcPts val="1400"/>
              </a:lnSpc>
              <a:buNone/>
            </a:pPr>
            <a:r>
              <a:rPr lang="en-US" sz="1000" dirty="0">
                <a:solidFill>
                  <a:srgbClr val="6E6B64"/>
                </a:solidFill>
                <a:latin typeface="Calibri" pitchFamily="34" charset="0"/>
                <a:ea typeface="Calibri" pitchFamily="34" charset="-122"/>
                <a:cs typeface="Calibri" pitchFamily="34" charset="-120"/>
              </a:rPr>
              <a:t>Train Ridge, Lasso and Elastic Net on an identical pipeline.</a:t>
            </a:r>
            <a:endParaRPr lang="en-US" sz="1000" dirty="0"/>
          </a:p>
        </p:txBody>
      </p:sp>
      <p:sp>
        <p:nvSpPr>
          <p:cNvPr id="30" name="Shape 28"/>
          <p:cNvSpPr/>
          <p:nvPr/>
        </p:nvSpPr>
        <p:spPr>
          <a:xfrm>
            <a:off x="6419088" y="3712464"/>
            <a:ext cx="5577840" cy="1024128"/>
          </a:xfrm>
          <a:prstGeom prst="roundRect">
            <a:avLst>
              <a:gd name="adj" fmla="val 4464"/>
            </a:avLst>
          </a:prstGeom>
          <a:solidFill>
            <a:srgbClr val="FFFFFF"/>
          </a:solidFill>
          <a:ln w="12700">
            <a:solidFill>
              <a:srgbClr val="DDD6C8"/>
            </a:solidFill>
            <a:prstDash val="solid"/>
          </a:ln>
        </p:spPr>
      </p:sp>
      <p:sp>
        <p:nvSpPr>
          <p:cNvPr id="31" name="Shape 29"/>
          <p:cNvSpPr/>
          <p:nvPr/>
        </p:nvSpPr>
        <p:spPr>
          <a:xfrm>
            <a:off x="6620256" y="3986784"/>
            <a:ext cx="457200" cy="457200"/>
          </a:xfrm>
          <a:prstGeom prst="ellipse">
            <a:avLst/>
          </a:prstGeom>
          <a:solidFill>
            <a:srgbClr val="1B4034"/>
          </a:solidFill>
          <a:ln w="12700">
            <a:solidFill>
              <a:srgbClr val="1B4034"/>
            </a:solidFill>
            <a:prstDash val="solid"/>
          </a:ln>
        </p:spPr>
      </p:sp>
      <p:sp>
        <p:nvSpPr>
          <p:cNvPr id="32" name="Text 30"/>
          <p:cNvSpPr txBox="1"/>
          <p:nvPr/>
        </p:nvSpPr>
        <p:spPr>
          <a:xfrm>
            <a:off x="6620256" y="4087368"/>
            <a:ext cx="457200" cy="256032"/>
          </a:xfrm>
          <a:prstGeom prst="rect">
            <a:avLst/>
          </a:prstGeom>
          <a:noFill/>
          <a:ln/>
        </p:spPr>
        <p:txBody>
          <a:bodyPr wrap="square" lIns="0" tIns="0" rIns="0" bIns="0" rtlCol="0" anchor="ctr"/>
          <a:lstStyle/>
          <a:p>
            <a:pPr marL="0" indent="0" algn="ctr">
              <a:buNone/>
            </a:pPr>
            <a:r>
              <a:rPr lang="en-US" sz="1200" b="1" dirty="0">
                <a:solidFill>
                  <a:srgbClr val="C08A2E"/>
                </a:solidFill>
                <a:latin typeface="Cambria" pitchFamily="34" charset="0"/>
                <a:ea typeface="Cambria" pitchFamily="34" charset="-122"/>
                <a:cs typeface="Cambria" pitchFamily="34" charset="-120"/>
              </a:rPr>
              <a:t>06</a:t>
            </a:r>
            <a:endParaRPr lang="en-US" sz="1200" dirty="0"/>
          </a:p>
        </p:txBody>
      </p:sp>
      <p:sp>
        <p:nvSpPr>
          <p:cNvPr id="33" name="Text 31"/>
          <p:cNvSpPr txBox="1"/>
          <p:nvPr/>
        </p:nvSpPr>
        <p:spPr>
          <a:xfrm>
            <a:off x="7223760" y="3895344"/>
            <a:ext cx="4617720" cy="256032"/>
          </a:xfrm>
          <a:prstGeom prst="rect">
            <a:avLst/>
          </a:prstGeom>
          <a:noFill/>
          <a:ln/>
        </p:spPr>
        <p:txBody>
          <a:bodyPr wrap="square" lIns="0" tIns="0" rIns="0" bIns="0" rtlCol="0" anchor="ctr"/>
          <a:lstStyle/>
          <a:p>
            <a:pPr marL="0" indent="0">
              <a:buNone/>
            </a:pPr>
            <a:r>
              <a:rPr lang="en-US" sz="1300" b="1" dirty="0">
                <a:solidFill>
                  <a:srgbClr val="1B4034"/>
                </a:solidFill>
                <a:latin typeface="Cambria" pitchFamily="34" charset="0"/>
                <a:ea typeface="Cambria" pitchFamily="34" charset="-122"/>
                <a:cs typeface="Cambria" pitchFamily="34" charset="-120"/>
              </a:rPr>
              <a:t> Evaluate</a:t>
            </a:r>
            <a:endParaRPr lang="en-US" sz="1300" dirty="0"/>
          </a:p>
        </p:txBody>
      </p:sp>
      <p:sp>
        <p:nvSpPr>
          <p:cNvPr id="34" name="Text 32"/>
          <p:cNvSpPr txBox="1"/>
          <p:nvPr/>
        </p:nvSpPr>
        <p:spPr>
          <a:xfrm>
            <a:off x="7223760" y="4169664"/>
            <a:ext cx="4617720" cy="457200"/>
          </a:xfrm>
          <a:prstGeom prst="rect">
            <a:avLst/>
          </a:prstGeom>
          <a:noFill/>
          <a:ln/>
        </p:spPr>
        <p:txBody>
          <a:bodyPr wrap="square" lIns="0" tIns="0" rIns="0" bIns="0" rtlCol="0" anchor="ctr"/>
          <a:lstStyle/>
          <a:p>
            <a:pPr marL="0" indent="0">
              <a:lnSpc>
                <a:spcPts val="1400"/>
              </a:lnSpc>
              <a:buNone/>
            </a:pPr>
            <a:r>
              <a:rPr lang="en-US" sz="1000" dirty="0">
                <a:solidFill>
                  <a:srgbClr val="6E6B64"/>
                </a:solidFill>
                <a:latin typeface="Calibri" pitchFamily="34" charset="0"/>
                <a:ea typeface="Calibri" pitchFamily="34" charset="-122"/>
                <a:cs typeface="Calibri" pitchFamily="34" charset="-120"/>
              </a:rPr>
              <a:t>Score every model on MAE, MSE, RMSE and R²..</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EFE7"/>
        </a:solidFill>
        <a:effectLst/>
      </p:bgPr>
    </p:bg>
    <p:spTree>
      <p:nvGrpSpPr>
        <p:cNvPr id="1" name="">
          <a:extLst>
            <a:ext uri="{FF2B5EF4-FFF2-40B4-BE49-F238E27FC236}">
              <a16:creationId xmlns:a16="http://schemas.microsoft.com/office/drawing/2014/main" id="{38548BB1-BE26-04BA-49EE-16FD4620EB0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8879C38-0B60-3476-42F8-7012C7A8596A}"/>
              </a:ext>
            </a:extLst>
          </p:cNvPr>
          <p:cNvSpPr txBox="1"/>
          <p:nvPr/>
        </p:nvSpPr>
        <p:spPr>
          <a:xfrm>
            <a:off x="11183112" y="6382512"/>
            <a:ext cx="548640" cy="274320"/>
          </a:xfrm>
          <a:prstGeom prst="rect">
            <a:avLst/>
          </a:prstGeom>
          <a:noFill/>
          <a:ln/>
        </p:spPr>
        <p:txBody>
          <a:bodyPr wrap="square" lIns="0" tIns="0" rIns="0" bIns="0" rtlCol="0" anchor="ctr"/>
          <a:lstStyle/>
          <a:p>
            <a:pPr marL="0" indent="0" algn="r">
              <a:buNone/>
            </a:pPr>
            <a:r>
              <a:rPr lang="en-US" sz="1100" b="1" dirty="0">
                <a:solidFill>
                  <a:srgbClr val="C08A2E"/>
                </a:solidFill>
                <a:latin typeface="Cambria" pitchFamily="34" charset="0"/>
                <a:ea typeface="Cambria" pitchFamily="34" charset="-122"/>
                <a:cs typeface="Cambria" pitchFamily="34" charset="-120"/>
              </a:rPr>
              <a:t>03</a:t>
            </a:r>
            <a:endParaRPr lang="en-US" sz="1100" dirty="0"/>
          </a:p>
        </p:txBody>
      </p:sp>
      <p:sp>
        <p:nvSpPr>
          <p:cNvPr id="4" name="Text 2">
            <a:extLst>
              <a:ext uri="{FF2B5EF4-FFF2-40B4-BE49-F238E27FC236}">
                <a16:creationId xmlns:a16="http://schemas.microsoft.com/office/drawing/2014/main" id="{4F6B1A8F-2B91-9FCE-3055-E745BC427FE7}"/>
              </a:ext>
            </a:extLst>
          </p:cNvPr>
          <p:cNvSpPr txBox="1"/>
          <p:nvPr/>
        </p:nvSpPr>
        <p:spPr>
          <a:xfrm>
            <a:off x="566928" y="423865"/>
            <a:ext cx="11055096" cy="502920"/>
          </a:xfrm>
          <a:prstGeom prst="rect">
            <a:avLst/>
          </a:prstGeom>
          <a:noFill/>
          <a:ln/>
        </p:spPr>
        <p:txBody>
          <a:bodyPr wrap="square" lIns="0" tIns="0" rIns="0" bIns="0" rtlCol="0" anchor="ctr"/>
          <a:lstStyle/>
          <a:p>
            <a:pPr marL="0" indent="0">
              <a:buNone/>
            </a:pPr>
            <a:r>
              <a:rPr lang="en-US" sz="2700" b="1" dirty="0">
                <a:solidFill>
                  <a:srgbClr val="1B4034"/>
                </a:solidFill>
                <a:latin typeface="Cambria" pitchFamily="34" charset="0"/>
                <a:ea typeface="Cambria" pitchFamily="34" charset="-122"/>
              </a:rPr>
              <a:t>Motivation</a:t>
            </a:r>
            <a:endParaRPr lang="en-US" sz="2700" dirty="0"/>
          </a:p>
        </p:txBody>
      </p:sp>
      <p:sp>
        <p:nvSpPr>
          <p:cNvPr id="5" name="Shape 3">
            <a:extLst>
              <a:ext uri="{FF2B5EF4-FFF2-40B4-BE49-F238E27FC236}">
                <a16:creationId xmlns:a16="http://schemas.microsoft.com/office/drawing/2014/main" id="{93050F81-9778-57DB-5601-6039572058FF}"/>
              </a:ext>
            </a:extLst>
          </p:cNvPr>
          <p:cNvSpPr/>
          <p:nvPr/>
        </p:nvSpPr>
        <p:spPr>
          <a:xfrm>
            <a:off x="566928" y="1112906"/>
            <a:ext cx="5799766" cy="1575430"/>
          </a:xfrm>
          <a:prstGeom prst="roundRect">
            <a:avLst>
              <a:gd name="adj" fmla="val 4464"/>
            </a:avLst>
          </a:prstGeom>
          <a:solidFill>
            <a:srgbClr val="FFFFFF"/>
          </a:solidFill>
          <a:ln w="12700">
            <a:solidFill>
              <a:srgbClr val="DDD6C8"/>
            </a:solidFill>
            <a:prstDash val="solid"/>
          </a:ln>
        </p:spPr>
      </p:sp>
      <p:sp>
        <p:nvSpPr>
          <p:cNvPr id="6" name="Shape 4">
            <a:extLst>
              <a:ext uri="{FF2B5EF4-FFF2-40B4-BE49-F238E27FC236}">
                <a16:creationId xmlns:a16="http://schemas.microsoft.com/office/drawing/2014/main" id="{F20F1501-6401-B8EA-9A91-F54C3FF73247}"/>
              </a:ext>
            </a:extLst>
          </p:cNvPr>
          <p:cNvSpPr/>
          <p:nvPr/>
        </p:nvSpPr>
        <p:spPr>
          <a:xfrm>
            <a:off x="768096" y="1243584"/>
            <a:ext cx="457200" cy="457200"/>
          </a:xfrm>
          <a:prstGeom prst="ellipse">
            <a:avLst/>
          </a:prstGeom>
          <a:solidFill>
            <a:srgbClr val="1B4034"/>
          </a:solidFill>
          <a:ln w="12700">
            <a:solidFill>
              <a:srgbClr val="1B4034"/>
            </a:solidFill>
            <a:prstDash val="solid"/>
          </a:ln>
        </p:spPr>
      </p:sp>
      <p:sp>
        <p:nvSpPr>
          <p:cNvPr id="7" name="Text 5">
            <a:extLst>
              <a:ext uri="{FF2B5EF4-FFF2-40B4-BE49-F238E27FC236}">
                <a16:creationId xmlns:a16="http://schemas.microsoft.com/office/drawing/2014/main" id="{986CB41B-4C36-5C00-CF47-B5924FA32548}"/>
              </a:ext>
            </a:extLst>
          </p:cNvPr>
          <p:cNvSpPr txBox="1"/>
          <p:nvPr/>
        </p:nvSpPr>
        <p:spPr>
          <a:xfrm>
            <a:off x="796107" y="1371600"/>
            <a:ext cx="457200" cy="256032"/>
          </a:xfrm>
          <a:prstGeom prst="rect">
            <a:avLst/>
          </a:prstGeom>
          <a:noFill/>
          <a:ln/>
        </p:spPr>
        <p:txBody>
          <a:bodyPr wrap="square" lIns="0" tIns="0" rIns="0" bIns="0" rtlCol="0" anchor="ctr"/>
          <a:lstStyle/>
          <a:p>
            <a:pPr marL="0" indent="0" algn="ctr">
              <a:buNone/>
            </a:pPr>
            <a:r>
              <a:rPr lang="en-US" sz="1200" b="1" dirty="0">
                <a:solidFill>
                  <a:srgbClr val="C08A2E"/>
                </a:solidFill>
                <a:latin typeface="Cambria" pitchFamily="34" charset="0"/>
                <a:ea typeface="Cambria" pitchFamily="34" charset="-122"/>
                <a:cs typeface="Cambria" pitchFamily="34" charset="-120"/>
              </a:rPr>
              <a:t>01</a:t>
            </a:r>
            <a:endParaRPr lang="en-US" sz="1200" dirty="0"/>
          </a:p>
        </p:txBody>
      </p:sp>
      <p:sp>
        <p:nvSpPr>
          <p:cNvPr id="8" name="Text 6">
            <a:extLst>
              <a:ext uri="{FF2B5EF4-FFF2-40B4-BE49-F238E27FC236}">
                <a16:creationId xmlns:a16="http://schemas.microsoft.com/office/drawing/2014/main" id="{F217F211-EF26-2E50-CDD4-4C981B45F729}"/>
              </a:ext>
            </a:extLst>
          </p:cNvPr>
          <p:cNvSpPr txBox="1"/>
          <p:nvPr/>
        </p:nvSpPr>
        <p:spPr>
          <a:xfrm>
            <a:off x="1426464" y="1311961"/>
            <a:ext cx="4617720" cy="256032"/>
          </a:xfrm>
          <a:prstGeom prst="rect">
            <a:avLst/>
          </a:prstGeom>
          <a:noFill/>
          <a:ln/>
        </p:spPr>
        <p:txBody>
          <a:bodyPr wrap="square" lIns="0" tIns="0" rIns="0" bIns="0" rtlCol="0" anchor="ctr"/>
          <a:lstStyle/>
          <a:p>
            <a:pPr marL="0" indent="0">
              <a:buNone/>
            </a:pPr>
            <a:r>
              <a:rPr lang="en-US" sz="2000" b="1" dirty="0">
                <a:solidFill>
                  <a:srgbClr val="1B4034"/>
                </a:solidFill>
                <a:latin typeface="Cambria" pitchFamily="34" charset="0"/>
                <a:ea typeface="Cambria" pitchFamily="34" charset="-122"/>
              </a:rPr>
              <a:t>Form Changes</a:t>
            </a:r>
            <a:endParaRPr lang="en-US" sz="2000" dirty="0"/>
          </a:p>
        </p:txBody>
      </p:sp>
      <p:sp>
        <p:nvSpPr>
          <p:cNvPr id="9" name="Text 7">
            <a:extLst>
              <a:ext uri="{FF2B5EF4-FFF2-40B4-BE49-F238E27FC236}">
                <a16:creationId xmlns:a16="http://schemas.microsoft.com/office/drawing/2014/main" id="{9F5C58A1-AE91-D802-7722-D54CFD5E2CAF}"/>
              </a:ext>
            </a:extLst>
          </p:cNvPr>
          <p:cNvSpPr txBox="1"/>
          <p:nvPr/>
        </p:nvSpPr>
        <p:spPr>
          <a:xfrm>
            <a:off x="1371600" y="1828800"/>
            <a:ext cx="4617720" cy="457200"/>
          </a:xfrm>
          <a:prstGeom prst="rect">
            <a:avLst/>
          </a:prstGeom>
          <a:noFill/>
          <a:ln/>
        </p:spPr>
        <p:txBody>
          <a:bodyPr wrap="square" lIns="0" tIns="0" rIns="0" bIns="0" rtlCol="0" anchor="ctr"/>
          <a:lstStyle/>
          <a:p>
            <a:r>
              <a:rPr lang="en-US" sz="1600" dirty="0">
                <a:solidFill>
                  <a:srgbClr val="22301F"/>
                </a:solidFill>
                <a:latin typeface="Calibri" pitchFamily="34" charset="0"/>
                <a:ea typeface="Calibri" pitchFamily="34" charset="-122"/>
                <a:cs typeface="Calibri" pitchFamily="34" charset="-120"/>
              </a:rPr>
              <a:t>A career average built over 10 years cannot notice that a player has failed in his last five innings. Recent form and career form are different pieces of evidence.</a:t>
            </a:r>
            <a:endParaRPr lang="en-US" sz="1600" dirty="0"/>
          </a:p>
        </p:txBody>
      </p:sp>
      <p:sp>
        <p:nvSpPr>
          <p:cNvPr id="10" name="Shape 8">
            <a:extLst>
              <a:ext uri="{FF2B5EF4-FFF2-40B4-BE49-F238E27FC236}">
                <a16:creationId xmlns:a16="http://schemas.microsoft.com/office/drawing/2014/main" id="{B0D2FB37-C73F-FF93-8C95-494F65877C55}"/>
              </a:ext>
            </a:extLst>
          </p:cNvPr>
          <p:cNvSpPr/>
          <p:nvPr/>
        </p:nvSpPr>
        <p:spPr>
          <a:xfrm>
            <a:off x="6419087" y="1112907"/>
            <a:ext cx="5638008" cy="1619876"/>
          </a:xfrm>
          <a:prstGeom prst="roundRect">
            <a:avLst>
              <a:gd name="adj" fmla="val 4464"/>
            </a:avLst>
          </a:prstGeom>
          <a:solidFill>
            <a:srgbClr val="FFFFFF"/>
          </a:solidFill>
          <a:ln w="12700">
            <a:solidFill>
              <a:srgbClr val="DDD6C8"/>
            </a:solidFill>
            <a:prstDash val="solid"/>
          </a:ln>
        </p:spPr>
      </p:sp>
      <p:sp>
        <p:nvSpPr>
          <p:cNvPr id="11" name="Shape 9">
            <a:extLst>
              <a:ext uri="{FF2B5EF4-FFF2-40B4-BE49-F238E27FC236}">
                <a16:creationId xmlns:a16="http://schemas.microsoft.com/office/drawing/2014/main" id="{035F7B67-EFAD-5091-708D-610D3D656795}"/>
              </a:ext>
            </a:extLst>
          </p:cNvPr>
          <p:cNvSpPr/>
          <p:nvPr/>
        </p:nvSpPr>
        <p:spPr>
          <a:xfrm>
            <a:off x="6596470" y="1275038"/>
            <a:ext cx="457200" cy="457200"/>
          </a:xfrm>
          <a:prstGeom prst="ellipse">
            <a:avLst/>
          </a:prstGeom>
          <a:solidFill>
            <a:srgbClr val="1B4034"/>
          </a:solidFill>
          <a:ln w="12700">
            <a:solidFill>
              <a:srgbClr val="1B4034"/>
            </a:solidFill>
            <a:prstDash val="solid"/>
          </a:ln>
        </p:spPr>
      </p:sp>
      <p:sp>
        <p:nvSpPr>
          <p:cNvPr id="12" name="Text 10">
            <a:extLst>
              <a:ext uri="{FF2B5EF4-FFF2-40B4-BE49-F238E27FC236}">
                <a16:creationId xmlns:a16="http://schemas.microsoft.com/office/drawing/2014/main" id="{72FDC3A2-DB23-A004-BD92-B9B8D8DDF1B2}"/>
              </a:ext>
            </a:extLst>
          </p:cNvPr>
          <p:cNvSpPr txBox="1"/>
          <p:nvPr/>
        </p:nvSpPr>
        <p:spPr>
          <a:xfrm>
            <a:off x="6596470" y="1359910"/>
            <a:ext cx="457200" cy="256032"/>
          </a:xfrm>
          <a:prstGeom prst="rect">
            <a:avLst/>
          </a:prstGeom>
          <a:noFill/>
          <a:ln/>
        </p:spPr>
        <p:txBody>
          <a:bodyPr wrap="square" lIns="0" tIns="0" rIns="0" bIns="0" rtlCol="0" anchor="ctr"/>
          <a:lstStyle/>
          <a:p>
            <a:pPr marL="0" indent="0" algn="ctr">
              <a:buNone/>
            </a:pPr>
            <a:r>
              <a:rPr lang="en-US" sz="1200" b="1" dirty="0">
                <a:solidFill>
                  <a:srgbClr val="C08A2E"/>
                </a:solidFill>
                <a:latin typeface="Cambria" pitchFamily="34" charset="0"/>
                <a:ea typeface="Cambria" pitchFamily="34" charset="-122"/>
                <a:cs typeface="Cambria" pitchFamily="34" charset="-120"/>
              </a:rPr>
              <a:t>02</a:t>
            </a:r>
            <a:endParaRPr lang="en-US" sz="1200" dirty="0"/>
          </a:p>
        </p:txBody>
      </p:sp>
      <p:sp>
        <p:nvSpPr>
          <p:cNvPr id="13" name="Text 11">
            <a:extLst>
              <a:ext uri="{FF2B5EF4-FFF2-40B4-BE49-F238E27FC236}">
                <a16:creationId xmlns:a16="http://schemas.microsoft.com/office/drawing/2014/main" id="{981B43CC-3655-426E-23B2-1BE3AA1EB65F}"/>
              </a:ext>
            </a:extLst>
          </p:cNvPr>
          <p:cNvSpPr txBox="1"/>
          <p:nvPr/>
        </p:nvSpPr>
        <p:spPr>
          <a:xfrm>
            <a:off x="7231053" y="1344168"/>
            <a:ext cx="4617720" cy="256032"/>
          </a:xfrm>
          <a:prstGeom prst="rect">
            <a:avLst/>
          </a:prstGeom>
          <a:noFill/>
          <a:ln/>
        </p:spPr>
        <p:txBody>
          <a:bodyPr wrap="square" lIns="0" tIns="0" rIns="0" bIns="0" rtlCol="0" anchor="ctr"/>
          <a:lstStyle/>
          <a:p>
            <a:pPr marL="0" indent="0">
              <a:buNone/>
            </a:pPr>
            <a:r>
              <a:rPr lang="en-US" sz="2000" b="1" dirty="0">
                <a:solidFill>
                  <a:srgbClr val="1B4034"/>
                </a:solidFill>
                <a:latin typeface="Cambria" pitchFamily="34" charset="0"/>
                <a:ea typeface="Cambria" pitchFamily="34" charset="-122"/>
              </a:rPr>
              <a:t>One statistic is not enough</a:t>
            </a:r>
            <a:endParaRPr lang="en-US" sz="2000" dirty="0"/>
          </a:p>
        </p:txBody>
      </p:sp>
      <p:sp>
        <p:nvSpPr>
          <p:cNvPr id="14" name="Text 12">
            <a:extLst>
              <a:ext uri="{FF2B5EF4-FFF2-40B4-BE49-F238E27FC236}">
                <a16:creationId xmlns:a16="http://schemas.microsoft.com/office/drawing/2014/main" id="{EE32ECDE-328D-67A1-6988-3769436D2963}"/>
              </a:ext>
            </a:extLst>
          </p:cNvPr>
          <p:cNvSpPr txBox="1"/>
          <p:nvPr/>
        </p:nvSpPr>
        <p:spPr>
          <a:xfrm>
            <a:off x="7223760" y="1828800"/>
            <a:ext cx="4617720" cy="457200"/>
          </a:xfrm>
          <a:prstGeom prst="rect">
            <a:avLst/>
          </a:prstGeom>
          <a:noFill/>
          <a:ln/>
        </p:spPr>
        <p:txBody>
          <a:bodyPr wrap="square" lIns="0" tIns="0" rIns="0" bIns="0" rtlCol="0" anchor="ctr"/>
          <a:lstStyle/>
          <a:p>
            <a:r>
              <a:rPr lang="en-US" sz="1600" dirty="0">
                <a:solidFill>
                  <a:srgbClr val="22301F"/>
                </a:solidFill>
                <a:latin typeface="Calibri" pitchFamily="34" charset="0"/>
                <a:ea typeface="Calibri" pitchFamily="34" charset="-122"/>
                <a:cs typeface="Calibri" pitchFamily="34" charset="-120"/>
              </a:rPr>
              <a:t>Runs, strike rate, boundaries, balls faced and batting position each describe a different part of a batter. Selection debates usually quote only one of them.</a:t>
            </a:r>
            <a:endParaRPr lang="en-US" sz="1600" dirty="0"/>
          </a:p>
        </p:txBody>
      </p:sp>
      <p:sp>
        <p:nvSpPr>
          <p:cNvPr id="15" name="Shape 13">
            <a:extLst>
              <a:ext uri="{FF2B5EF4-FFF2-40B4-BE49-F238E27FC236}">
                <a16:creationId xmlns:a16="http://schemas.microsoft.com/office/drawing/2014/main" id="{8D7FF969-F908-74B9-A32E-87198823E59F}"/>
              </a:ext>
            </a:extLst>
          </p:cNvPr>
          <p:cNvSpPr/>
          <p:nvPr/>
        </p:nvSpPr>
        <p:spPr>
          <a:xfrm>
            <a:off x="366340" y="3300579"/>
            <a:ext cx="6077132" cy="1575430"/>
          </a:xfrm>
          <a:prstGeom prst="roundRect">
            <a:avLst>
              <a:gd name="adj" fmla="val 4464"/>
            </a:avLst>
          </a:prstGeom>
          <a:solidFill>
            <a:srgbClr val="FFFFFF"/>
          </a:solidFill>
          <a:ln w="12700">
            <a:solidFill>
              <a:srgbClr val="DDD6C8"/>
            </a:solidFill>
            <a:prstDash val="solid"/>
          </a:ln>
        </p:spPr>
      </p:sp>
      <p:sp>
        <p:nvSpPr>
          <p:cNvPr id="16" name="Shape 14">
            <a:extLst>
              <a:ext uri="{FF2B5EF4-FFF2-40B4-BE49-F238E27FC236}">
                <a16:creationId xmlns:a16="http://schemas.microsoft.com/office/drawing/2014/main" id="{CB425C98-A9AD-FCC2-0106-167BD7A3BD24}"/>
              </a:ext>
            </a:extLst>
          </p:cNvPr>
          <p:cNvSpPr/>
          <p:nvPr/>
        </p:nvSpPr>
        <p:spPr>
          <a:xfrm>
            <a:off x="744368" y="3407240"/>
            <a:ext cx="457200" cy="457200"/>
          </a:xfrm>
          <a:prstGeom prst="ellipse">
            <a:avLst/>
          </a:prstGeom>
          <a:solidFill>
            <a:srgbClr val="1B4034"/>
          </a:solidFill>
          <a:ln w="12700">
            <a:solidFill>
              <a:srgbClr val="1B4034"/>
            </a:solidFill>
            <a:prstDash val="solid"/>
          </a:ln>
        </p:spPr>
        <p:txBody>
          <a:bodyPr/>
          <a:lstStyle/>
          <a:p>
            <a:endParaRPr lang="en-IN" dirty="0"/>
          </a:p>
        </p:txBody>
      </p:sp>
      <p:sp>
        <p:nvSpPr>
          <p:cNvPr id="17" name="Text 15">
            <a:extLst>
              <a:ext uri="{FF2B5EF4-FFF2-40B4-BE49-F238E27FC236}">
                <a16:creationId xmlns:a16="http://schemas.microsoft.com/office/drawing/2014/main" id="{9ABEFAE3-E097-B109-1EDE-5A14F8E8783E}"/>
              </a:ext>
            </a:extLst>
          </p:cNvPr>
          <p:cNvSpPr txBox="1"/>
          <p:nvPr/>
        </p:nvSpPr>
        <p:spPr>
          <a:xfrm>
            <a:off x="769369" y="3502615"/>
            <a:ext cx="457200" cy="256032"/>
          </a:xfrm>
          <a:prstGeom prst="rect">
            <a:avLst/>
          </a:prstGeom>
          <a:noFill/>
          <a:ln/>
        </p:spPr>
        <p:txBody>
          <a:bodyPr wrap="square" lIns="0" tIns="0" rIns="0" bIns="0" rtlCol="0" anchor="ctr"/>
          <a:lstStyle/>
          <a:p>
            <a:pPr marL="0" indent="0" algn="ctr">
              <a:buNone/>
            </a:pPr>
            <a:r>
              <a:rPr lang="en-US" sz="1200" b="1" dirty="0">
                <a:solidFill>
                  <a:srgbClr val="C08A2E"/>
                </a:solidFill>
                <a:latin typeface="Cambria" pitchFamily="34" charset="0"/>
                <a:ea typeface="Cambria" pitchFamily="34" charset="-122"/>
                <a:cs typeface="Cambria" pitchFamily="34" charset="-120"/>
              </a:rPr>
              <a:t>03</a:t>
            </a:r>
            <a:endParaRPr lang="en-US" sz="1200" dirty="0"/>
          </a:p>
        </p:txBody>
      </p:sp>
      <p:sp>
        <p:nvSpPr>
          <p:cNvPr id="18" name="Text 16">
            <a:extLst>
              <a:ext uri="{FF2B5EF4-FFF2-40B4-BE49-F238E27FC236}">
                <a16:creationId xmlns:a16="http://schemas.microsoft.com/office/drawing/2014/main" id="{EACEC348-1312-909A-9B12-8DD848ACCD92}"/>
              </a:ext>
            </a:extLst>
          </p:cNvPr>
          <p:cNvSpPr txBox="1"/>
          <p:nvPr/>
        </p:nvSpPr>
        <p:spPr>
          <a:xfrm>
            <a:off x="1627632" y="3488609"/>
            <a:ext cx="4617720" cy="256032"/>
          </a:xfrm>
          <a:prstGeom prst="rect">
            <a:avLst/>
          </a:prstGeom>
          <a:noFill/>
          <a:ln/>
        </p:spPr>
        <p:txBody>
          <a:bodyPr wrap="square" lIns="0" tIns="0" rIns="0" bIns="0" rtlCol="0" anchor="ctr"/>
          <a:lstStyle/>
          <a:p>
            <a:pPr marL="0" indent="0">
              <a:buNone/>
            </a:pPr>
            <a:r>
              <a:rPr lang="en-US" sz="2000" b="1" dirty="0">
                <a:solidFill>
                  <a:srgbClr val="1B4034"/>
                </a:solidFill>
                <a:latin typeface="Cambria" pitchFamily="34" charset="0"/>
                <a:ea typeface="Cambria" pitchFamily="34" charset="-122"/>
              </a:rPr>
              <a:t>Records contain patterns</a:t>
            </a:r>
            <a:endParaRPr lang="en-US" sz="2000" dirty="0"/>
          </a:p>
        </p:txBody>
      </p:sp>
      <p:sp>
        <p:nvSpPr>
          <p:cNvPr id="19" name="Text 17">
            <a:extLst>
              <a:ext uri="{FF2B5EF4-FFF2-40B4-BE49-F238E27FC236}">
                <a16:creationId xmlns:a16="http://schemas.microsoft.com/office/drawing/2014/main" id="{47773335-741C-4F95-2732-3054D339BB38}"/>
              </a:ext>
            </a:extLst>
          </p:cNvPr>
          <p:cNvSpPr txBox="1"/>
          <p:nvPr/>
        </p:nvSpPr>
        <p:spPr>
          <a:xfrm>
            <a:off x="1347872" y="4095353"/>
            <a:ext cx="4617720" cy="457200"/>
          </a:xfrm>
          <a:prstGeom prst="rect">
            <a:avLst/>
          </a:prstGeom>
          <a:noFill/>
          <a:ln/>
        </p:spPr>
        <p:txBody>
          <a:bodyPr wrap="square" lIns="0" tIns="0" rIns="0" bIns="0" rtlCol="0" anchor="ctr"/>
          <a:lstStyle/>
          <a:p>
            <a:r>
              <a:rPr lang="en-US" sz="1600" dirty="0">
                <a:solidFill>
                  <a:srgbClr val="22301F"/>
                </a:solidFill>
                <a:latin typeface="Calibri" pitchFamily="34" charset="0"/>
                <a:ea typeface="Calibri" pitchFamily="34" charset="-122"/>
                <a:cs typeface="Calibri" pitchFamily="34" charset="-120"/>
              </a:rPr>
              <a:t>Across 46,300 innings the same signals repeat: batters who face more balls and hit more fours historically also score more in the next innings.</a:t>
            </a:r>
            <a:endParaRPr lang="en-US" sz="1600" dirty="0"/>
          </a:p>
        </p:txBody>
      </p:sp>
      <p:sp>
        <p:nvSpPr>
          <p:cNvPr id="20" name="Shape 18">
            <a:extLst>
              <a:ext uri="{FF2B5EF4-FFF2-40B4-BE49-F238E27FC236}">
                <a16:creationId xmlns:a16="http://schemas.microsoft.com/office/drawing/2014/main" id="{4615898F-A7A0-7E12-73E2-FC21784D2837}"/>
              </a:ext>
            </a:extLst>
          </p:cNvPr>
          <p:cNvSpPr/>
          <p:nvPr/>
        </p:nvSpPr>
        <p:spPr>
          <a:xfrm>
            <a:off x="6553991" y="3300579"/>
            <a:ext cx="5503103" cy="1575430"/>
          </a:xfrm>
          <a:prstGeom prst="roundRect">
            <a:avLst>
              <a:gd name="adj" fmla="val 4464"/>
            </a:avLst>
          </a:prstGeom>
          <a:solidFill>
            <a:srgbClr val="FFFFFF"/>
          </a:solidFill>
          <a:ln w="12700">
            <a:solidFill>
              <a:srgbClr val="DDD6C8"/>
            </a:solidFill>
            <a:prstDash val="solid"/>
          </a:ln>
        </p:spPr>
        <p:txBody>
          <a:bodyPr/>
          <a:lstStyle/>
          <a:p>
            <a:endParaRPr lang="en-IN" dirty="0"/>
          </a:p>
        </p:txBody>
      </p:sp>
      <p:sp>
        <p:nvSpPr>
          <p:cNvPr id="21" name="Shape 19">
            <a:extLst>
              <a:ext uri="{FF2B5EF4-FFF2-40B4-BE49-F238E27FC236}">
                <a16:creationId xmlns:a16="http://schemas.microsoft.com/office/drawing/2014/main" id="{0188FC2A-75FC-555C-BC96-AE5687BDD5BE}"/>
              </a:ext>
            </a:extLst>
          </p:cNvPr>
          <p:cNvSpPr/>
          <p:nvPr/>
        </p:nvSpPr>
        <p:spPr>
          <a:xfrm>
            <a:off x="6620256" y="3429000"/>
            <a:ext cx="457200" cy="457200"/>
          </a:xfrm>
          <a:prstGeom prst="ellipse">
            <a:avLst/>
          </a:prstGeom>
          <a:solidFill>
            <a:srgbClr val="1B4034"/>
          </a:solidFill>
          <a:ln w="12700">
            <a:solidFill>
              <a:srgbClr val="1B4034"/>
            </a:solidFill>
            <a:prstDash val="solid"/>
          </a:ln>
        </p:spPr>
        <p:txBody>
          <a:bodyPr/>
          <a:lstStyle/>
          <a:p>
            <a:endParaRPr lang="en-IN" dirty="0"/>
          </a:p>
        </p:txBody>
      </p:sp>
      <p:sp>
        <p:nvSpPr>
          <p:cNvPr id="22" name="Text 20">
            <a:extLst>
              <a:ext uri="{FF2B5EF4-FFF2-40B4-BE49-F238E27FC236}">
                <a16:creationId xmlns:a16="http://schemas.microsoft.com/office/drawing/2014/main" id="{54050A6F-836F-A8A1-4B4C-43D35604B3EA}"/>
              </a:ext>
            </a:extLst>
          </p:cNvPr>
          <p:cNvSpPr txBox="1"/>
          <p:nvPr/>
        </p:nvSpPr>
        <p:spPr>
          <a:xfrm>
            <a:off x="6620256" y="3545325"/>
            <a:ext cx="457200" cy="256032"/>
          </a:xfrm>
          <a:prstGeom prst="rect">
            <a:avLst/>
          </a:prstGeom>
          <a:noFill/>
          <a:ln/>
        </p:spPr>
        <p:txBody>
          <a:bodyPr wrap="square" lIns="0" tIns="0" rIns="0" bIns="0" rtlCol="0" anchor="ctr"/>
          <a:lstStyle/>
          <a:p>
            <a:pPr marL="0" indent="0" algn="ctr">
              <a:buNone/>
            </a:pPr>
            <a:r>
              <a:rPr lang="en-US" sz="1200" b="1" dirty="0">
                <a:solidFill>
                  <a:srgbClr val="C08A2E"/>
                </a:solidFill>
                <a:latin typeface="Cambria" pitchFamily="34" charset="0"/>
                <a:ea typeface="Cambria" pitchFamily="34" charset="-122"/>
                <a:cs typeface="Cambria" pitchFamily="34" charset="-120"/>
              </a:rPr>
              <a:t>04</a:t>
            </a:r>
            <a:endParaRPr lang="en-US" sz="1200" dirty="0"/>
          </a:p>
        </p:txBody>
      </p:sp>
      <p:sp>
        <p:nvSpPr>
          <p:cNvPr id="23" name="Text 21">
            <a:extLst>
              <a:ext uri="{FF2B5EF4-FFF2-40B4-BE49-F238E27FC236}">
                <a16:creationId xmlns:a16="http://schemas.microsoft.com/office/drawing/2014/main" id="{40154DE9-3743-9EF5-E565-2AB95FCC3126}"/>
              </a:ext>
            </a:extLst>
          </p:cNvPr>
          <p:cNvSpPr txBox="1"/>
          <p:nvPr/>
        </p:nvSpPr>
        <p:spPr>
          <a:xfrm>
            <a:off x="7325868" y="3535949"/>
            <a:ext cx="4617720" cy="256032"/>
          </a:xfrm>
          <a:prstGeom prst="rect">
            <a:avLst/>
          </a:prstGeom>
          <a:noFill/>
          <a:ln/>
        </p:spPr>
        <p:txBody>
          <a:bodyPr wrap="square" lIns="0" tIns="0" rIns="0" bIns="0" rtlCol="0" anchor="ctr"/>
          <a:lstStyle/>
          <a:p>
            <a:pPr marL="0" indent="0">
              <a:buNone/>
            </a:pPr>
            <a:r>
              <a:rPr lang="en-US" sz="2000" b="1" dirty="0">
                <a:solidFill>
                  <a:srgbClr val="1B4034"/>
                </a:solidFill>
                <a:latin typeface="Cambria" panose="02040503050406030204" pitchFamily="18" charset="0"/>
                <a:ea typeface="Cambria" panose="02040503050406030204" pitchFamily="18" charset="0"/>
              </a:rPr>
              <a:t>ML combines predictors</a:t>
            </a:r>
          </a:p>
        </p:txBody>
      </p:sp>
      <p:sp>
        <p:nvSpPr>
          <p:cNvPr id="24" name="Text 22">
            <a:extLst>
              <a:ext uri="{FF2B5EF4-FFF2-40B4-BE49-F238E27FC236}">
                <a16:creationId xmlns:a16="http://schemas.microsoft.com/office/drawing/2014/main" id="{DDF303A0-83A8-871D-E983-E973789DF30B}"/>
              </a:ext>
            </a:extLst>
          </p:cNvPr>
          <p:cNvSpPr txBox="1"/>
          <p:nvPr/>
        </p:nvSpPr>
        <p:spPr>
          <a:xfrm>
            <a:off x="7199589" y="3712464"/>
            <a:ext cx="4992411" cy="890092"/>
          </a:xfrm>
          <a:prstGeom prst="rect">
            <a:avLst/>
          </a:prstGeom>
          <a:noFill/>
          <a:ln/>
        </p:spPr>
        <p:txBody>
          <a:bodyPr wrap="square" lIns="0" tIns="0" rIns="0" bIns="0" rtlCol="0" anchor="ctr"/>
          <a:lstStyle/>
          <a:p>
            <a:r>
              <a:rPr lang="en-US" sz="1600" dirty="0">
                <a:solidFill>
                  <a:srgbClr val="22301F"/>
                </a:solidFill>
                <a:latin typeface="Calibri" pitchFamily="34" charset="0"/>
                <a:ea typeface="Calibri" pitchFamily="34" charset="-122"/>
                <a:cs typeface="Calibri" pitchFamily="34" charset="-120"/>
              </a:rPr>
              <a:t>Regression can weigh all sixteen historical signals together, instead of a human eyeballing one column at a time.</a:t>
            </a:r>
            <a:endParaRPr lang="en-US" sz="1600" dirty="0"/>
          </a:p>
        </p:txBody>
      </p:sp>
      <p:sp>
        <p:nvSpPr>
          <p:cNvPr id="46" name="Shape 24">
            <a:extLst>
              <a:ext uri="{FF2B5EF4-FFF2-40B4-BE49-F238E27FC236}">
                <a16:creationId xmlns:a16="http://schemas.microsoft.com/office/drawing/2014/main" id="{131CC54C-80AE-F0E0-B135-67F5355B61F3}"/>
              </a:ext>
            </a:extLst>
          </p:cNvPr>
          <p:cNvSpPr/>
          <p:nvPr/>
        </p:nvSpPr>
        <p:spPr>
          <a:xfrm>
            <a:off x="758952" y="5264398"/>
            <a:ext cx="10972800" cy="960120"/>
          </a:xfrm>
          <a:prstGeom prst="roundRect">
            <a:avLst>
              <a:gd name="adj" fmla="val 5714"/>
            </a:avLst>
          </a:prstGeom>
          <a:solidFill>
            <a:srgbClr val="1B4332"/>
          </a:solidFill>
          <a:ln/>
        </p:spPr>
        <p:txBody>
          <a:bodyPr/>
          <a:lstStyle/>
          <a:p>
            <a:endParaRPr lang="en-IN" dirty="0"/>
          </a:p>
        </p:txBody>
      </p:sp>
      <p:sp>
        <p:nvSpPr>
          <p:cNvPr id="47" name="Text 25">
            <a:extLst>
              <a:ext uri="{FF2B5EF4-FFF2-40B4-BE49-F238E27FC236}">
                <a16:creationId xmlns:a16="http://schemas.microsoft.com/office/drawing/2014/main" id="{BD21EB48-F383-A363-FBB8-9DFD10812BBA}"/>
              </a:ext>
            </a:extLst>
          </p:cNvPr>
          <p:cNvSpPr txBox="1"/>
          <p:nvPr/>
        </p:nvSpPr>
        <p:spPr>
          <a:xfrm>
            <a:off x="1024707" y="5264398"/>
            <a:ext cx="10332720" cy="9601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500" i="1" dirty="0">
                <a:solidFill>
                  <a:srgbClr val="FFFFFF"/>
                </a:solidFill>
                <a:latin typeface="Cambria" pitchFamily="34" charset="0"/>
                <a:ea typeface="Cambria" pitchFamily="34" charset="-122"/>
                <a:cs typeface="Cambria" pitchFamily="34" charset="-120"/>
              </a:rPr>
              <a:t>“</a:t>
            </a:r>
            <a:r>
              <a:rPr lang="en-US" sz="1600" i="1" dirty="0">
                <a:solidFill>
                  <a:srgbClr val="FFFFFF"/>
                </a:solidFill>
                <a:latin typeface="Cambria" pitchFamily="34" charset="0"/>
                <a:ea typeface="Cambria" pitchFamily="34" charset="-122"/>
                <a:cs typeface="Cambria" pitchFamily="34" charset="-120"/>
              </a:rPr>
              <a:t>Instead of simply asking whether a player is good, the project attempts to quantitatively estimate player performance using evidence from previous records.”</a:t>
            </a:r>
            <a:endParaRPr lang="en-US" sz="1600" dirty="0"/>
          </a:p>
        </p:txBody>
      </p:sp>
    </p:spTree>
    <p:extLst>
      <p:ext uri="{BB962C8B-B14F-4D97-AF65-F5344CB8AC3E}">
        <p14:creationId xmlns:p14="http://schemas.microsoft.com/office/powerpoint/2010/main" val="23244551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3EFE7"/>
        </a:solidFill>
        <a:effectLst/>
      </p:bgPr>
    </p:bg>
    <p:spTree>
      <p:nvGrpSpPr>
        <p:cNvPr id="1" name=""/>
        <p:cNvGrpSpPr/>
        <p:nvPr/>
      </p:nvGrpSpPr>
      <p:grpSpPr>
        <a:xfrm>
          <a:off x="0" y="0"/>
          <a:ext cx="0" cy="0"/>
          <a:chOff x="0" y="0"/>
          <a:chExt cx="0" cy="0"/>
        </a:xfrm>
      </p:grpSpPr>
      <p:sp>
        <p:nvSpPr>
          <p:cNvPr id="2" name="Text 0"/>
          <p:cNvSpPr txBox="1"/>
          <p:nvPr/>
        </p:nvSpPr>
        <p:spPr>
          <a:xfrm>
            <a:off x="11183112" y="6382512"/>
            <a:ext cx="548640" cy="274320"/>
          </a:xfrm>
          <a:prstGeom prst="rect">
            <a:avLst/>
          </a:prstGeom>
          <a:noFill/>
          <a:ln/>
        </p:spPr>
        <p:txBody>
          <a:bodyPr wrap="square" lIns="0" tIns="0" rIns="0" bIns="0" rtlCol="0" anchor="ctr"/>
          <a:lstStyle/>
          <a:p>
            <a:pPr marL="0" indent="0" algn="r">
              <a:buNone/>
            </a:pPr>
            <a:r>
              <a:rPr lang="en-US" sz="1100" b="1" dirty="0">
                <a:solidFill>
                  <a:srgbClr val="C08A2E"/>
                </a:solidFill>
                <a:latin typeface="Cambria" pitchFamily="34" charset="0"/>
                <a:ea typeface="Cambria" pitchFamily="34" charset="-122"/>
                <a:cs typeface="Cambria" pitchFamily="34" charset="-120"/>
              </a:rPr>
              <a:t>04</a:t>
            </a:r>
            <a:endParaRPr lang="en-US" sz="1100" dirty="0"/>
          </a:p>
        </p:txBody>
      </p:sp>
      <p:sp>
        <p:nvSpPr>
          <p:cNvPr id="3" name="Text 1"/>
          <p:cNvSpPr txBox="1"/>
          <p:nvPr/>
        </p:nvSpPr>
        <p:spPr>
          <a:xfrm>
            <a:off x="566928" y="411480"/>
            <a:ext cx="8229600" cy="219456"/>
          </a:xfrm>
          <a:prstGeom prst="rect">
            <a:avLst/>
          </a:prstGeom>
          <a:noFill/>
          <a:ln/>
        </p:spPr>
        <p:txBody>
          <a:bodyPr wrap="square" lIns="0" tIns="0" rIns="0" bIns="0" rtlCol="0" anchor="ctr"/>
          <a:lstStyle/>
          <a:p>
            <a:pPr marL="0" indent="0">
              <a:buNone/>
            </a:pPr>
            <a:r>
              <a:rPr lang="en-US" sz="950" b="1" kern="0" spc="200" dirty="0">
                <a:solidFill>
                  <a:srgbClr val="C08A2E"/>
                </a:solidFill>
                <a:latin typeface="Calibri" pitchFamily="34" charset="0"/>
                <a:ea typeface="Calibri" pitchFamily="34" charset="-122"/>
                <a:cs typeface="Calibri" pitchFamily="34" charset="-120"/>
              </a:rPr>
              <a:t>DATA SOURCE</a:t>
            </a:r>
            <a:endParaRPr lang="en-US" sz="950" dirty="0"/>
          </a:p>
        </p:txBody>
      </p:sp>
      <p:sp>
        <p:nvSpPr>
          <p:cNvPr id="4" name="Text 2"/>
          <p:cNvSpPr txBox="1"/>
          <p:nvPr/>
        </p:nvSpPr>
        <p:spPr>
          <a:xfrm>
            <a:off x="566928" y="667512"/>
            <a:ext cx="11055096" cy="502920"/>
          </a:xfrm>
          <a:prstGeom prst="rect">
            <a:avLst/>
          </a:prstGeom>
          <a:noFill/>
          <a:ln/>
        </p:spPr>
        <p:txBody>
          <a:bodyPr wrap="square" lIns="0" tIns="0" rIns="0" bIns="0" rtlCol="0" anchor="ctr"/>
          <a:lstStyle/>
          <a:p>
            <a:pPr marL="0" indent="0">
              <a:buNone/>
            </a:pPr>
            <a:r>
              <a:rPr lang="en-US" sz="2700" b="1" dirty="0">
                <a:solidFill>
                  <a:srgbClr val="1B4034"/>
                </a:solidFill>
                <a:latin typeface="Cambria" pitchFamily="34" charset="0"/>
                <a:ea typeface="Cambria" pitchFamily="34" charset="-122"/>
                <a:cs typeface="Cambria" pitchFamily="34" charset="-120"/>
              </a:rPr>
              <a:t>Dataset Description</a:t>
            </a:r>
            <a:endParaRPr lang="en-US" sz="2700" dirty="0"/>
          </a:p>
        </p:txBody>
      </p:sp>
      <p:sp>
        <p:nvSpPr>
          <p:cNvPr id="5" name="Shape 3"/>
          <p:cNvSpPr/>
          <p:nvPr/>
        </p:nvSpPr>
        <p:spPr>
          <a:xfrm>
            <a:off x="566928" y="1371600"/>
            <a:ext cx="3520440" cy="1005840"/>
          </a:xfrm>
          <a:prstGeom prst="roundRect">
            <a:avLst>
              <a:gd name="adj" fmla="val 5455"/>
            </a:avLst>
          </a:prstGeom>
          <a:solidFill>
            <a:srgbClr val="FFFFFF"/>
          </a:solidFill>
          <a:ln w="12700">
            <a:solidFill>
              <a:srgbClr val="DDD6C8"/>
            </a:solidFill>
            <a:prstDash val="solid"/>
          </a:ln>
        </p:spPr>
      </p:sp>
      <p:sp>
        <p:nvSpPr>
          <p:cNvPr id="6" name="Text 4"/>
          <p:cNvSpPr txBox="1"/>
          <p:nvPr/>
        </p:nvSpPr>
        <p:spPr>
          <a:xfrm>
            <a:off x="749808" y="1517904"/>
            <a:ext cx="3154680" cy="182880"/>
          </a:xfrm>
          <a:prstGeom prst="rect">
            <a:avLst/>
          </a:prstGeom>
          <a:noFill/>
          <a:ln/>
        </p:spPr>
        <p:txBody>
          <a:bodyPr wrap="square" lIns="0" tIns="0" rIns="0" bIns="0" rtlCol="0" anchor="ctr"/>
          <a:lstStyle/>
          <a:p>
            <a:pPr marL="0" indent="0">
              <a:buNone/>
            </a:pPr>
            <a:r>
              <a:rPr lang="en-US" sz="850" b="1" kern="0" spc="140" dirty="0">
                <a:solidFill>
                  <a:srgbClr val="C08A2E"/>
                </a:solidFill>
                <a:latin typeface="Calibri" pitchFamily="34" charset="0"/>
                <a:ea typeface="Calibri" pitchFamily="34" charset="-122"/>
                <a:cs typeface="Calibri" pitchFamily="34" charset="-120"/>
              </a:rPr>
              <a:t>RAW INNINGS RECORDS</a:t>
            </a:r>
            <a:endParaRPr lang="en-US" sz="850" dirty="0"/>
          </a:p>
        </p:txBody>
      </p:sp>
      <p:sp>
        <p:nvSpPr>
          <p:cNvPr id="7" name="Text 5"/>
          <p:cNvSpPr txBox="1"/>
          <p:nvPr/>
        </p:nvSpPr>
        <p:spPr>
          <a:xfrm>
            <a:off x="749808" y="1755648"/>
            <a:ext cx="3154680" cy="502920"/>
          </a:xfrm>
          <a:prstGeom prst="rect">
            <a:avLst/>
          </a:prstGeom>
          <a:noFill/>
          <a:ln/>
        </p:spPr>
        <p:txBody>
          <a:bodyPr wrap="square" lIns="0" tIns="0" rIns="0" bIns="0" rtlCol="0" anchor="ctr"/>
          <a:lstStyle/>
          <a:p>
            <a:pPr marL="0" indent="0">
              <a:buNone/>
            </a:pPr>
            <a:r>
              <a:rPr lang="en-US" sz="2300" b="1" dirty="0">
                <a:solidFill>
                  <a:srgbClr val="1B4034"/>
                </a:solidFill>
                <a:latin typeface="Cambria" pitchFamily="34" charset="0"/>
                <a:ea typeface="Cambria" pitchFamily="34" charset="-122"/>
              </a:rPr>
              <a:t>46,300</a:t>
            </a:r>
            <a:endParaRPr lang="en-US" sz="2300" dirty="0"/>
          </a:p>
        </p:txBody>
      </p:sp>
      <p:sp>
        <p:nvSpPr>
          <p:cNvPr id="8" name="Shape 6"/>
          <p:cNvSpPr/>
          <p:nvPr/>
        </p:nvSpPr>
        <p:spPr>
          <a:xfrm>
            <a:off x="4315968" y="1371600"/>
            <a:ext cx="3520440" cy="1005840"/>
          </a:xfrm>
          <a:prstGeom prst="roundRect">
            <a:avLst>
              <a:gd name="adj" fmla="val 5455"/>
            </a:avLst>
          </a:prstGeom>
          <a:solidFill>
            <a:srgbClr val="FFFFFF"/>
          </a:solidFill>
          <a:ln w="12700">
            <a:solidFill>
              <a:srgbClr val="DDD6C8"/>
            </a:solidFill>
            <a:prstDash val="solid"/>
          </a:ln>
        </p:spPr>
      </p:sp>
      <p:sp>
        <p:nvSpPr>
          <p:cNvPr id="9" name="Text 7"/>
          <p:cNvSpPr txBox="1"/>
          <p:nvPr/>
        </p:nvSpPr>
        <p:spPr>
          <a:xfrm>
            <a:off x="4498848" y="1517904"/>
            <a:ext cx="3154680" cy="182880"/>
          </a:xfrm>
          <a:prstGeom prst="rect">
            <a:avLst/>
          </a:prstGeom>
          <a:noFill/>
          <a:ln/>
        </p:spPr>
        <p:txBody>
          <a:bodyPr wrap="square" lIns="0" tIns="0" rIns="0" bIns="0" rtlCol="0" anchor="ctr"/>
          <a:lstStyle/>
          <a:p>
            <a:pPr marL="0" indent="0">
              <a:buNone/>
            </a:pPr>
            <a:r>
              <a:rPr lang="en-US" sz="850" b="1" kern="0" spc="140" dirty="0">
                <a:solidFill>
                  <a:srgbClr val="C08A2E"/>
                </a:solidFill>
                <a:latin typeface="Calibri" pitchFamily="34" charset="0"/>
                <a:ea typeface="Calibri" pitchFamily="34" charset="-122"/>
                <a:cs typeface="Calibri" pitchFamily="34" charset="-120"/>
              </a:rPr>
              <a:t>PLAYERS MODELLED</a:t>
            </a:r>
            <a:endParaRPr lang="en-US" sz="850" dirty="0"/>
          </a:p>
        </p:txBody>
      </p:sp>
      <p:sp>
        <p:nvSpPr>
          <p:cNvPr id="10" name="Text 8"/>
          <p:cNvSpPr txBox="1"/>
          <p:nvPr/>
        </p:nvSpPr>
        <p:spPr>
          <a:xfrm>
            <a:off x="4498848" y="1755648"/>
            <a:ext cx="3154680" cy="502920"/>
          </a:xfrm>
          <a:prstGeom prst="rect">
            <a:avLst/>
          </a:prstGeom>
          <a:noFill/>
          <a:ln/>
        </p:spPr>
        <p:txBody>
          <a:bodyPr wrap="square" lIns="0" tIns="0" rIns="0" bIns="0" rtlCol="0" anchor="ctr"/>
          <a:lstStyle/>
          <a:p>
            <a:pPr marL="0" indent="0">
              <a:buNone/>
            </a:pPr>
            <a:r>
              <a:rPr lang="en-US" sz="2300" b="1" dirty="0">
                <a:solidFill>
                  <a:srgbClr val="1B4034"/>
                </a:solidFill>
                <a:latin typeface="Cambria" pitchFamily="34" charset="0"/>
                <a:ea typeface="Cambria" pitchFamily="34" charset="-122"/>
                <a:cs typeface="Cambria" pitchFamily="34" charset="-120"/>
              </a:rPr>
              <a:t>946</a:t>
            </a:r>
            <a:endParaRPr lang="en-US" sz="2300" dirty="0"/>
          </a:p>
        </p:txBody>
      </p:sp>
      <p:sp>
        <p:nvSpPr>
          <p:cNvPr id="11" name="Shape 9"/>
          <p:cNvSpPr/>
          <p:nvPr/>
        </p:nvSpPr>
        <p:spPr>
          <a:xfrm>
            <a:off x="8065008" y="1371600"/>
            <a:ext cx="3520440" cy="1005840"/>
          </a:xfrm>
          <a:prstGeom prst="roundRect">
            <a:avLst>
              <a:gd name="adj" fmla="val 5455"/>
            </a:avLst>
          </a:prstGeom>
          <a:solidFill>
            <a:srgbClr val="FFFFFF"/>
          </a:solidFill>
          <a:ln w="12700">
            <a:solidFill>
              <a:srgbClr val="DDD6C8"/>
            </a:solidFill>
            <a:prstDash val="solid"/>
          </a:ln>
        </p:spPr>
      </p:sp>
      <p:sp>
        <p:nvSpPr>
          <p:cNvPr id="12" name="Text 10"/>
          <p:cNvSpPr txBox="1"/>
          <p:nvPr/>
        </p:nvSpPr>
        <p:spPr>
          <a:xfrm>
            <a:off x="8247888" y="1517904"/>
            <a:ext cx="3154680" cy="182880"/>
          </a:xfrm>
          <a:prstGeom prst="rect">
            <a:avLst/>
          </a:prstGeom>
          <a:noFill/>
          <a:ln/>
        </p:spPr>
        <p:txBody>
          <a:bodyPr wrap="square" lIns="0" tIns="0" rIns="0" bIns="0" rtlCol="0" anchor="ctr"/>
          <a:lstStyle/>
          <a:p>
            <a:pPr marL="0" indent="0">
              <a:buNone/>
            </a:pPr>
            <a:r>
              <a:rPr lang="en-US" sz="850" b="1" kern="0" spc="140" dirty="0">
                <a:solidFill>
                  <a:srgbClr val="C08A2E"/>
                </a:solidFill>
                <a:latin typeface="Calibri" pitchFamily="34" charset="0"/>
                <a:ea typeface="Calibri" pitchFamily="34" charset="-122"/>
                <a:cs typeface="Calibri" pitchFamily="34" charset="-120"/>
              </a:rPr>
              <a:t>SEASONS COVERED</a:t>
            </a:r>
            <a:endParaRPr lang="en-US" sz="850" dirty="0"/>
          </a:p>
        </p:txBody>
      </p:sp>
      <p:sp>
        <p:nvSpPr>
          <p:cNvPr id="13" name="Text 11"/>
          <p:cNvSpPr txBox="1"/>
          <p:nvPr/>
        </p:nvSpPr>
        <p:spPr>
          <a:xfrm>
            <a:off x="8247888" y="1755648"/>
            <a:ext cx="3154680" cy="502920"/>
          </a:xfrm>
          <a:prstGeom prst="rect">
            <a:avLst/>
          </a:prstGeom>
          <a:noFill/>
          <a:ln/>
        </p:spPr>
        <p:txBody>
          <a:bodyPr wrap="square" lIns="0" tIns="0" rIns="0" bIns="0" rtlCol="0" anchor="ctr"/>
          <a:lstStyle/>
          <a:p>
            <a:pPr marL="0" indent="0">
              <a:buNone/>
            </a:pPr>
            <a:r>
              <a:rPr lang="en-US" sz="2300" b="1" dirty="0">
                <a:solidFill>
                  <a:srgbClr val="1B4034"/>
                </a:solidFill>
                <a:latin typeface="Cambria" pitchFamily="34" charset="0"/>
                <a:ea typeface="Cambria" pitchFamily="34" charset="-122"/>
                <a:cs typeface="Cambria" pitchFamily="34" charset="-120"/>
              </a:rPr>
              <a:t>2004–2021</a:t>
            </a:r>
            <a:endParaRPr lang="en-US" sz="2300" dirty="0"/>
          </a:p>
        </p:txBody>
      </p:sp>
      <p:sp>
        <p:nvSpPr>
          <p:cNvPr id="14" name="Shape 12"/>
          <p:cNvSpPr/>
          <p:nvPr/>
        </p:nvSpPr>
        <p:spPr>
          <a:xfrm>
            <a:off x="566928" y="2606040"/>
            <a:ext cx="5577840" cy="3108960"/>
          </a:xfrm>
          <a:prstGeom prst="roundRect">
            <a:avLst>
              <a:gd name="adj" fmla="val 1765"/>
            </a:avLst>
          </a:prstGeom>
          <a:solidFill>
            <a:srgbClr val="FFFFFF"/>
          </a:solidFill>
          <a:ln w="12700">
            <a:solidFill>
              <a:srgbClr val="DDD6C8"/>
            </a:solidFill>
            <a:prstDash val="solid"/>
          </a:ln>
        </p:spPr>
      </p:sp>
      <p:sp>
        <p:nvSpPr>
          <p:cNvPr id="15" name="Text 13"/>
          <p:cNvSpPr txBox="1"/>
          <p:nvPr/>
        </p:nvSpPr>
        <p:spPr>
          <a:xfrm>
            <a:off x="749808" y="2752344"/>
            <a:ext cx="5212080" cy="182880"/>
          </a:xfrm>
          <a:prstGeom prst="rect">
            <a:avLst/>
          </a:prstGeom>
          <a:noFill/>
          <a:ln/>
        </p:spPr>
        <p:txBody>
          <a:bodyPr wrap="square" lIns="0" tIns="0" rIns="0" bIns="0" rtlCol="0" anchor="ctr"/>
          <a:lstStyle/>
          <a:p>
            <a:pPr marL="0" indent="0">
              <a:buNone/>
            </a:pPr>
            <a:r>
              <a:rPr lang="en-US" sz="850" b="1" kern="0" spc="140" dirty="0">
                <a:solidFill>
                  <a:srgbClr val="C08A2E"/>
                </a:solidFill>
                <a:latin typeface="Calibri" pitchFamily="34" charset="0"/>
                <a:ea typeface="Calibri" pitchFamily="34" charset="-122"/>
                <a:cs typeface="Calibri" pitchFamily="34" charset="-120"/>
              </a:rPr>
              <a:t>SOURCE FILES</a:t>
            </a:r>
            <a:endParaRPr lang="en-US" sz="850" dirty="0"/>
          </a:p>
        </p:txBody>
      </p:sp>
      <p:sp>
        <p:nvSpPr>
          <p:cNvPr id="16" name="Text 14"/>
          <p:cNvSpPr txBox="1"/>
          <p:nvPr/>
        </p:nvSpPr>
        <p:spPr>
          <a:xfrm>
            <a:off x="749808" y="2990088"/>
            <a:ext cx="5212080" cy="237744"/>
          </a:xfrm>
          <a:prstGeom prst="rect">
            <a:avLst/>
          </a:prstGeom>
          <a:noFill/>
          <a:ln/>
        </p:spPr>
        <p:txBody>
          <a:bodyPr wrap="square" lIns="0" tIns="0" rIns="0" bIns="0" rtlCol="0" anchor="ctr"/>
          <a:lstStyle/>
          <a:p>
            <a:pPr marL="0" indent="0">
              <a:buNone/>
            </a:pPr>
            <a:r>
              <a:rPr lang="en-US" sz="1300" b="1" dirty="0">
                <a:solidFill>
                  <a:srgbClr val="1B4034"/>
                </a:solidFill>
                <a:latin typeface="Cambria" pitchFamily="34" charset="0"/>
                <a:ea typeface="Cambria" pitchFamily="34" charset="-122"/>
                <a:cs typeface="Cambria" pitchFamily="34" charset="-120"/>
              </a:rPr>
              <a:t>bat.csv · ball.csv · match.csv</a:t>
            </a:r>
            <a:endParaRPr lang="en-US" sz="1300" dirty="0"/>
          </a:p>
        </p:txBody>
      </p:sp>
      <p:sp>
        <p:nvSpPr>
          <p:cNvPr id="17" name="Text 15"/>
          <p:cNvSpPr txBox="1"/>
          <p:nvPr/>
        </p:nvSpPr>
        <p:spPr>
          <a:xfrm>
            <a:off x="749808" y="3264408"/>
            <a:ext cx="5212080" cy="2340864"/>
          </a:xfrm>
          <a:prstGeom prst="rect">
            <a:avLst/>
          </a:prstGeom>
          <a:noFill/>
          <a:ln/>
        </p:spPr>
        <p:txBody>
          <a:bodyPr wrap="square" lIns="0" tIns="0" rIns="0" bIns="0" rtlCol="0" anchor="t"/>
          <a:lstStyle/>
          <a:p>
            <a:pPr marL="0" indent="0">
              <a:lnSpc>
                <a:spcPts val="1500"/>
              </a:lnSpc>
              <a:buNone/>
            </a:pPr>
            <a:r>
              <a:rPr lang="en-US" sz="1050" dirty="0">
                <a:solidFill>
                  <a:srgbClr val="6E6B64"/>
                </a:solidFill>
                <a:latin typeface="Calibri" pitchFamily="34" charset="0"/>
                <a:ea typeface="Calibri" pitchFamily="34" charset="-122"/>
                <a:cs typeface="Calibri" pitchFamily="34" charset="-120"/>
              </a:rPr>
              <a:t>bat.csv is the modelling table: one row per batter per innings, joined to match-level context. ball.csv holds bowling figures and match.csv holds innings totals, run rates and team identifiers.</a:t>
            </a:r>
            <a:endParaRPr lang="en-US" sz="1050" dirty="0"/>
          </a:p>
        </p:txBody>
      </p:sp>
      <p:sp>
        <p:nvSpPr>
          <p:cNvPr id="19" name="Text 17"/>
          <p:cNvSpPr txBox="1"/>
          <p:nvPr/>
        </p:nvSpPr>
        <p:spPr>
          <a:xfrm>
            <a:off x="795528" y="3703320"/>
            <a:ext cx="5120640" cy="192024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23231F"/>
                </a:solidFill>
                <a:latin typeface="Calibri" pitchFamily="34" charset="0"/>
                <a:ea typeface="Calibri" pitchFamily="34" charset="-122"/>
                <a:cs typeface="Calibri" pitchFamily="34" charset="-120"/>
              </a:rPr>
              <a:t>runs_x — runs scored (target)</a:t>
            </a:r>
            <a:endParaRPr lang="en-US" sz="1050" dirty="0"/>
          </a:p>
          <a:p>
            <a:pPr marL="342900" indent="-342900">
              <a:spcAft>
                <a:spcPts val="300"/>
              </a:spcAft>
              <a:buSzPct val="100000"/>
              <a:buChar char="•"/>
            </a:pPr>
            <a:r>
              <a:rPr lang="en-US" sz="1050" dirty="0">
                <a:solidFill>
                  <a:srgbClr val="23231F"/>
                </a:solidFill>
                <a:latin typeface="Calibri" pitchFamily="34" charset="0"/>
                <a:ea typeface="Calibri" pitchFamily="34" charset="-122"/>
                <a:cs typeface="Calibri" pitchFamily="34" charset="-120"/>
              </a:rPr>
              <a:t>balls — deliveries faced</a:t>
            </a:r>
            <a:endParaRPr lang="en-US" sz="1050" dirty="0"/>
          </a:p>
          <a:p>
            <a:pPr marL="342900" indent="-342900">
              <a:spcAft>
                <a:spcPts val="300"/>
              </a:spcAft>
              <a:buSzPct val="100000"/>
              <a:buChar char="•"/>
            </a:pPr>
            <a:r>
              <a:rPr lang="en-US" sz="1050" dirty="0">
                <a:solidFill>
                  <a:srgbClr val="23231F"/>
                </a:solidFill>
                <a:latin typeface="Calibri" pitchFamily="34" charset="0"/>
                <a:ea typeface="Calibri" pitchFamily="34" charset="-122"/>
                <a:cs typeface="Calibri" pitchFamily="34" charset="-120"/>
              </a:rPr>
              <a:t>fours / sixes — boundaries hit</a:t>
            </a:r>
            <a:endParaRPr lang="en-US" sz="1050" dirty="0"/>
          </a:p>
          <a:p>
            <a:pPr marL="342900" indent="-342900">
              <a:spcAft>
                <a:spcPts val="300"/>
              </a:spcAft>
              <a:buSzPct val="100000"/>
              <a:buChar char="•"/>
            </a:pPr>
            <a:r>
              <a:rPr lang="en-US" sz="1050" dirty="0">
                <a:solidFill>
                  <a:srgbClr val="23231F"/>
                </a:solidFill>
                <a:latin typeface="Calibri" pitchFamily="34" charset="0"/>
                <a:ea typeface="Calibri" pitchFamily="34" charset="-122"/>
                <a:cs typeface="Calibri" pitchFamily="34" charset="-120"/>
              </a:rPr>
              <a:t>order — position in batting line-up</a:t>
            </a:r>
            <a:endParaRPr lang="en-US" sz="1050" dirty="0"/>
          </a:p>
          <a:p>
            <a:pPr marL="342900" indent="-342900">
              <a:spcAft>
                <a:spcPts val="300"/>
              </a:spcAft>
              <a:buSzPct val="100000"/>
              <a:buChar char="•"/>
            </a:pPr>
            <a:r>
              <a:rPr lang="en-US" sz="1050" dirty="0">
                <a:solidFill>
                  <a:srgbClr val="23231F"/>
                </a:solidFill>
                <a:latin typeface="Calibri" pitchFamily="34" charset="0"/>
                <a:ea typeface="Calibri" pitchFamily="34" charset="-122"/>
                <a:cs typeface="Calibri" pitchFamily="34" charset="-120"/>
              </a:rPr>
              <a:t>strike_rate — scoring efficiency</a:t>
            </a:r>
            <a:endParaRPr lang="en-US" sz="1050" dirty="0"/>
          </a:p>
          <a:p>
            <a:pPr marL="342900" indent="-342900">
              <a:spcAft>
                <a:spcPts val="300"/>
              </a:spcAft>
              <a:buSzPct val="100000"/>
              <a:buChar char="•"/>
            </a:pPr>
            <a:r>
              <a:rPr lang="en-US" sz="1050" dirty="0">
                <a:solidFill>
                  <a:srgbClr val="23231F"/>
                </a:solidFill>
                <a:latin typeface="Calibri" pitchFamily="34" charset="0"/>
                <a:ea typeface="Calibri" pitchFamily="34" charset="-122"/>
                <a:cs typeface="Calibri" pitchFamily="34" charset="-120"/>
              </a:rPr>
              <a:t>matchtype — T20 / ODI / Test</a:t>
            </a:r>
            <a:endParaRPr lang="en-US" sz="1050" dirty="0"/>
          </a:p>
          <a:p>
            <a:pPr marL="342900" indent="-342900">
              <a:spcAft>
                <a:spcPts val="300"/>
              </a:spcAft>
              <a:buSzPct val="100000"/>
              <a:buChar char="•"/>
            </a:pPr>
            <a:r>
              <a:rPr lang="en-US" sz="1050" dirty="0">
                <a:solidFill>
                  <a:srgbClr val="23231F"/>
                </a:solidFill>
                <a:latin typeface="Calibri" pitchFamily="34" charset="0"/>
                <a:ea typeface="Calibri" pitchFamily="34" charset="-122"/>
                <a:cs typeface="Calibri" pitchFamily="34" charset="-120"/>
              </a:rPr>
              <a:t>over, run_rate — innings context</a:t>
            </a:r>
            <a:endParaRPr lang="en-US" sz="1050" dirty="0"/>
          </a:p>
          <a:p>
            <a:pPr marL="342900" indent="-342900">
              <a:spcAft>
                <a:spcPts val="300"/>
              </a:spcAft>
              <a:buSzPct val="100000"/>
              <a:buChar char="•"/>
            </a:pPr>
            <a:r>
              <a:rPr lang="en-US" sz="1050" dirty="0">
                <a:solidFill>
                  <a:srgbClr val="23231F"/>
                </a:solidFill>
                <a:latin typeface="Calibri" pitchFamily="34" charset="0"/>
                <a:ea typeface="Calibri" pitchFamily="34" charset="-122"/>
                <a:cs typeface="Calibri" pitchFamily="34" charset="-120"/>
              </a:rPr>
              <a:t>start_date, player_id — form tracking keys</a:t>
            </a:r>
            <a:endParaRPr lang="en-US" sz="1050" dirty="0"/>
          </a:p>
        </p:txBody>
      </p:sp>
      <p:sp>
        <p:nvSpPr>
          <p:cNvPr id="20" name="Shape 18"/>
          <p:cNvSpPr/>
          <p:nvPr/>
        </p:nvSpPr>
        <p:spPr>
          <a:xfrm>
            <a:off x="6217920" y="2606040"/>
            <a:ext cx="5394960" cy="3108960"/>
          </a:xfrm>
          <a:prstGeom prst="roundRect">
            <a:avLst>
              <a:gd name="adj" fmla="val 1765"/>
            </a:avLst>
          </a:prstGeom>
          <a:solidFill>
            <a:srgbClr val="1B4034"/>
          </a:solidFill>
          <a:ln w="12700">
            <a:solidFill>
              <a:srgbClr val="1B4034"/>
            </a:solidFill>
            <a:prstDash val="solid"/>
          </a:ln>
        </p:spPr>
      </p:sp>
      <p:sp>
        <p:nvSpPr>
          <p:cNvPr id="21" name="Text 19"/>
          <p:cNvSpPr txBox="1"/>
          <p:nvPr/>
        </p:nvSpPr>
        <p:spPr>
          <a:xfrm>
            <a:off x="6400800" y="2752344"/>
            <a:ext cx="5029200" cy="182880"/>
          </a:xfrm>
          <a:prstGeom prst="rect">
            <a:avLst/>
          </a:prstGeom>
          <a:noFill/>
          <a:ln/>
        </p:spPr>
        <p:txBody>
          <a:bodyPr wrap="square" lIns="0" tIns="0" rIns="0" bIns="0" rtlCol="0" anchor="ctr"/>
          <a:lstStyle/>
          <a:p>
            <a:pPr marL="0" indent="0">
              <a:buNone/>
            </a:pPr>
            <a:r>
              <a:rPr lang="en-US" sz="850" b="1" kern="0" spc="140" dirty="0">
                <a:solidFill>
                  <a:srgbClr val="C08A2E"/>
                </a:solidFill>
                <a:latin typeface="Calibri" pitchFamily="34" charset="0"/>
                <a:ea typeface="Calibri" pitchFamily="34" charset="-122"/>
                <a:cs typeface="Calibri" pitchFamily="34" charset="-120"/>
              </a:rPr>
              <a:t>TARGET VARIABLE</a:t>
            </a:r>
            <a:endParaRPr lang="en-US" sz="850" dirty="0"/>
          </a:p>
        </p:txBody>
      </p:sp>
      <p:sp>
        <p:nvSpPr>
          <p:cNvPr id="22" name="Text 20"/>
          <p:cNvSpPr txBox="1"/>
          <p:nvPr/>
        </p:nvSpPr>
        <p:spPr>
          <a:xfrm>
            <a:off x="6400800" y="2990088"/>
            <a:ext cx="5029200" cy="237744"/>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runs_x — innings runs</a:t>
            </a:r>
            <a:endParaRPr lang="en-US" sz="1600" dirty="0"/>
          </a:p>
        </p:txBody>
      </p:sp>
      <p:sp>
        <p:nvSpPr>
          <p:cNvPr id="23" name="Text 21"/>
          <p:cNvSpPr txBox="1"/>
          <p:nvPr/>
        </p:nvSpPr>
        <p:spPr>
          <a:xfrm>
            <a:off x="6400800" y="3300984"/>
            <a:ext cx="5029200" cy="2304288"/>
          </a:xfrm>
          <a:prstGeom prst="rect">
            <a:avLst/>
          </a:prstGeom>
          <a:noFill/>
          <a:ln/>
        </p:spPr>
        <p:txBody>
          <a:bodyPr wrap="square" lIns="0" tIns="0" rIns="0" bIns="0" rtlCol="0" anchor="t"/>
          <a:lstStyle/>
          <a:p>
            <a:r>
              <a:rPr lang="en-IN" sz="1400" dirty="0">
                <a:solidFill>
                  <a:srgbClr val="8A8882"/>
                </a:solidFill>
              </a:rPr>
              <a:t>TARGET VARIABLE — </a:t>
            </a:r>
            <a:r>
              <a:rPr lang="en-IN" sz="1400" dirty="0" err="1">
                <a:solidFill>
                  <a:srgbClr val="8A8882"/>
                </a:solidFill>
              </a:rPr>
              <a:t>runs_x</a:t>
            </a:r>
            <a:endParaRPr lang="en-IN" sz="1400" dirty="0">
              <a:solidFill>
                <a:srgbClr val="8A8882"/>
              </a:solidFill>
            </a:endParaRPr>
          </a:p>
          <a:p>
            <a:r>
              <a:rPr lang="en-IN" sz="1400" dirty="0">
                <a:solidFill>
                  <a:srgbClr val="8A8882"/>
                </a:solidFill>
              </a:rPr>
              <a:t>Innings-level batting performance</a:t>
            </a:r>
          </a:p>
          <a:p>
            <a:pPr lvl="0"/>
            <a:r>
              <a:rPr lang="en-IN" sz="1400" dirty="0">
                <a:solidFill>
                  <a:srgbClr val="8A8882"/>
                </a:solidFill>
              </a:rPr>
              <a:t>0–329 runs per innings </a:t>
            </a:r>
          </a:p>
          <a:p>
            <a:pPr lvl="0"/>
            <a:r>
              <a:rPr lang="en-IN" sz="1400" dirty="0">
                <a:solidFill>
                  <a:srgbClr val="8A8882"/>
                </a:solidFill>
              </a:rPr>
              <a:t>Mean: 23.8 runs </a:t>
            </a:r>
          </a:p>
          <a:p>
            <a:pPr lvl="0"/>
            <a:r>
              <a:rPr lang="en-IN" sz="1400" dirty="0">
                <a:solidFill>
                  <a:srgbClr val="8A8882"/>
                </a:solidFill>
              </a:rPr>
              <a:t>Median: 13 runs </a:t>
            </a:r>
          </a:p>
          <a:p>
            <a:pPr lvl="0"/>
            <a:r>
              <a:rPr lang="en-IN" sz="1400" dirty="0">
                <a:solidFill>
                  <a:srgbClr val="8A8882"/>
                </a:solidFill>
              </a:rPr>
              <a:t>Used as the continuous target for regression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3EFE7"/>
        </a:solidFill>
        <a:effectLst/>
      </p:bgPr>
    </p:bg>
    <p:spTree>
      <p:nvGrpSpPr>
        <p:cNvPr id="1" name=""/>
        <p:cNvGrpSpPr/>
        <p:nvPr/>
      </p:nvGrpSpPr>
      <p:grpSpPr>
        <a:xfrm>
          <a:off x="0" y="0"/>
          <a:ext cx="0" cy="0"/>
          <a:chOff x="0" y="0"/>
          <a:chExt cx="0" cy="0"/>
        </a:xfrm>
      </p:grpSpPr>
      <p:sp>
        <p:nvSpPr>
          <p:cNvPr id="2" name="Text 0"/>
          <p:cNvSpPr txBox="1"/>
          <p:nvPr/>
        </p:nvSpPr>
        <p:spPr>
          <a:xfrm>
            <a:off x="11183112" y="6382512"/>
            <a:ext cx="548640" cy="274320"/>
          </a:xfrm>
          <a:prstGeom prst="rect">
            <a:avLst/>
          </a:prstGeom>
          <a:noFill/>
          <a:ln/>
        </p:spPr>
        <p:txBody>
          <a:bodyPr wrap="square" lIns="0" tIns="0" rIns="0" bIns="0" rtlCol="0" anchor="ctr"/>
          <a:lstStyle/>
          <a:p>
            <a:pPr marL="0" indent="0" algn="r">
              <a:buNone/>
            </a:pPr>
            <a:r>
              <a:rPr lang="en-US" sz="1100" b="1" dirty="0">
                <a:solidFill>
                  <a:srgbClr val="C08A2E"/>
                </a:solidFill>
                <a:latin typeface="Cambria" pitchFamily="34" charset="0"/>
                <a:ea typeface="Cambria" pitchFamily="34" charset="-122"/>
                <a:cs typeface="Cambria" pitchFamily="34" charset="-120"/>
              </a:rPr>
              <a:t>05</a:t>
            </a:r>
            <a:endParaRPr lang="en-US" sz="1100" dirty="0"/>
          </a:p>
        </p:txBody>
      </p:sp>
      <p:sp>
        <p:nvSpPr>
          <p:cNvPr id="3" name="Text 1"/>
          <p:cNvSpPr txBox="1"/>
          <p:nvPr/>
        </p:nvSpPr>
        <p:spPr>
          <a:xfrm>
            <a:off x="566928" y="411480"/>
            <a:ext cx="8229600" cy="219456"/>
          </a:xfrm>
          <a:prstGeom prst="rect">
            <a:avLst/>
          </a:prstGeom>
          <a:noFill/>
          <a:ln/>
        </p:spPr>
        <p:txBody>
          <a:bodyPr wrap="square" lIns="0" tIns="0" rIns="0" bIns="0" rtlCol="0" anchor="ctr"/>
          <a:lstStyle/>
          <a:p>
            <a:pPr marL="0" indent="0">
              <a:buNone/>
            </a:pPr>
            <a:r>
              <a:rPr lang="en-US" sz="950" b="1" kern="0" spc="200" dirty="0">
                <a:solidFill>
                  <a:srgbClr val="C08A2E"/>
                </a:solidFill>
                <a:latin typeface="Calibri" pitchFamily="34" charset="0"/>
                <a:ea typeface="Calibri" pitchFamily="34" charset="-122"/>
                <a:cs typeface="Calibri" pitchFamily="34" charset="-120"/>
              </a:rPr>
              <a:t>STRUCTURE</a:t>
            </a:r>
            <a:endParaRPr lang="en-US" sz="950" dirty="0"/>
          </a:p>
        </p:txBody>
      </p:sp>
      <p:sp>
        <p:nvSpPr>
          <p:cNvPr id="4" name="Text 2"/>
          <p:cNvSpPr txBox="1"/>
          <p:nvPr/>
        </p:nvSpPr>
        <p:spPr>
          <a:xfrm>
            <a:off x="566928" y="667512"/>
            <a:ext cx="11055096" cy="502920"/>
          </a:xfrm>
          <a:prstGeom prst="rect">
            <a:avLst/>
          </a:prstGeom>
          <a:noFill/>
          <a:ln/>
        </p:spPr>
        <p:txBody>
          <a:bodyPr wrap="square" lIns="0" tIns="0" rIns="0" bIns="0" rtlCol="0" anchor="ctr"/>
          <a:lstStyle/>
          <a:p>
            <a:pPr marL="0" indent="0">
              <a:buNone/>
            </a:pPr>
            <a:r>
              <a:rPr lang="en-US" sz="2700" b="1" dirty="0">
                <a:solidFill>
                  <a:srgbClr val="1B4034"/>
                </a:solidFill>
                <a:latin typeface="Cambria" pitchFamily="34" charset="0"/>
                <a:ea typeface="Cambria" pitchFamily="34" charset="-122"/>
                <a:cs typeface="Cambria" pitchFamily="34" charset="-120"/>
              </a:rPr>
              <a:t>Dataset Snapshot</a:t>
            </a:r>
            <a:endParaRPr lang="en-US" sz="2700" dirty="0"/>
          </a:p>
        </p:txBody>
      </p:sp>
      <p:sp>
        <p:nvSpPr>
          <p:cNvPr id="5" name="Shape 3"/>
          <p:cNvSpPr/>
          <p:nvPr/>
        </p:nvSpPr>
        <p:spPr>
          <a:xfrm>
            <a:off x="566928" y="1371600"/>
            <a:ext cx="3520440" cy="2743200"/>
          </a:xfrm>
          <a:prstGeom prst="roundRect">
            <a:avLst>
              <a:gd name="adj" fmla="val 1667"/>
            </a:avLst>
          </a:prstGeom>
          <a:solidFill>
            <a:srgbClr val="FFFFFF"/>
          </a:solidFill>
          <a:ln w="12700">
            <a:solidFill>
              <a:srgbClr val="DDD6C8"/>
            </a:solidFill>
            <a:prstDash val="solid"/>
          </a:ln>
        </p:spPr>
      </p:sp>
      <p:sp>
        <p:nvSpPr>
          <p:cNvPr id="6" name="Text 4"/>
          <p:cNvSpPr txBox="1"/>
          <p:nvPr/>
        </p:nvSpPr>
        <p:spPr>
          <a:xfrm>
            <a:off x="768096" y="1517904"/>
            <a:ext cx="3108960" cy="219456"/>
          </a:xfrm>
          <a:prstGeom prst="rect">
            <a:avLst/>
          </a:prstGeom>
          <a:noFill/>
          <a:ln/>
        </p:spPr>
        <p:txBody>
          <a:bodyPr wrap="square" lIns="0" tIns="0" rIns="0" bIns="0" rtlCol="0" anchor="ctr"/>
          <a:lstStyle/>
          <a:p>
            <a:pPr marL="0" indent="0">
              <a:buNone/>
            </a:pPr>
            <a:r>
              <a:rPr lang="en-US" sz="850" b="1" kern="0" spc="140" dirty="0">
                <a:solidFill>
                  <a:srgbClr val="C08A2E"/>
                </a:solidFill>
                <a:latin typeface="Calibri" pitchFamily="34" charset="0"/>
                <a:ea typeface="Calibri" pitchFamily="34" charset="-122"/>
                <a:cs typeface="Calibri" pitchFamily="34" charset="-120"/>
              </a:rPr>
              <a:t>NUMERICAL FEATURES</a:t>
            </a:r>
            <a:endParaRPr lang="en-US" sz="850" dirty="0"/>
          </a:p>
        </p:txBody>
      </p:sp>
      <p:sp>
        <p:nvSpPr>
          <p:cNvPr id="7" name="Text 5"/>
          <p:cNvSpPr txBox="1"/>
          <p:nvPr/>
        </p:nvSpPr>
        <p:spPr>
          <a:xfrm>
            <a:off x="768096" y="1810512"/>
            <a:ext cx="3108960" cy="2194560"/>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23231F"/>
                </a:solidFill>
                <a:latin typeface="Calibri" pitchFamily="34" charset="0"/>
                <a:ea typeface="Calibri" pitchFamily="34" charset="-122"/>
                <a:cs typeface="Calibri" pitchFamily="34" charset="-120"/>
              </a:rPr>
              <a:t>runs_x</a:t>
            </a:r>
            <a:endParaRPr lang="en-US" sz="1000" dirty="0"/>
          </a:p>
          <a:p>
            <a:pPr marL="342900" indent="-342900">
              <a:spcAft>
                <a:spcPts val="300"/>
              </a:spcAft>
              <a:buSzPct val="100000"/>
              <a:buChar char="•"/>
            </a:pPr>
            <a:r>
              <a:rPr lang="en-US" sz="1000" dirty="0">
                <a:solidFill>
                  <a:srgbClr val="23231F"/>
                </a:solidFill>
                <a:latin typeface="Calibri" pitchFamily="34" charset="0"/>
                <a:ea typeface="Calibri" pitchFamily="34" charset="-122"/>
                <a:cs typeface="Calibri" pitchFamily="34" charset="-120"/>
              </a:rPr>
              <a:t>balls</a:t>
            </a:r>
            <a:endParaRPr lang="en-US" sz="1000" dirty="0"/>
          </a:p>
          <a:p>
            <a:pPr marL="342900" indent="-342900">
              <a:spcAft>
                <a:spcPts val="300"/>
              </a:spcAft>
              <a:buSzPct val="100000"/>
              <a:buChar char="•"/>
            </a:pPr>
            <a:r>
              <a:rPr lang="en-US" sz="1000" dirty="0">
                <a:solidFill>
                  <a:srgbClr val="23231F"/>
                </a:solidFill>
                <a:latin typeface="Calibri" pitchFamily="34" charset="0"/>
                <a:ea typeface="Calibri" pitchFamily="34" charset="-122"/>
                <a:cs typeface="Calibri" pitchFamily="34" charset="-120"/>
              </a:rPr>
              <a:t>strike_rate</a:t>
            </a:r>
            <a:endParaRPr lang="en-US" sz="1000" dirty="0"/>
          </a:p>
          <a:p>
            <a:pPr marL="342900" indent="-342900">
              <a:spcAft>
                <a:spcPts val="300"/>
              </a:spcAft>
              <a:buSzPct val="100000"/>
              <a:buChar char="•"/>
            </a:pPr>
            <a:r>
              <a:rPr lang="en-US" sz="1000" dirty="0">
                <a:solidFill>
                  <a:srgbClr val="23231F"/>
                </a:solidFill>
                <a:latin typeface="Calibri" pitchFamily="34" charset="0"/>
                <a:ea typeface="Calibri" pitchFamily="34" charset="-122"/>
                <a:cs typeface="Calibri" pitchFamily="34" charset="-120"/>
              </a:rPr>
              <a:t>fours</a:t>
            </a:r>
            <a:endParaRPr lang="en-US" sz="1000" dirty="0"/>
          </a:p>
          <a:p>
            <a:pPr marL="342900" indent="-342900">
              <a:spcAft>
                <a:spcPts val="300"/>
              </a:spcAft>
              <a:buSzPct val="100000"/>
              <a:buChar char="•"/>
            </a:pPr>
            <a:r>
              <a:rPr lang="en-US" sz="1000" dirty="0">
                <a:solidFill>
                  <a:srgbClr val="23231F"/>
                </a:solidFill>
                <a:latin typeface="Calibri" pitchFamily="34" charset="0"/>
                <a:ea typeface="Calibri" pitchFamily="34" charset="-122"/>
                <a:cs typeface="Calibri" pitchFamily="34" charset="-120"/>
              </a:rPr>
              <a:t>sixes</a:t>
            </a:r>
            <a:endParaRPr lang="en-US" sz="1000" dirty="0"/>
          </a:p>
          <a:p>
            <a:pPr marL="342900" indent="-342900">
              <a:spcAft>
                <a:spcPts val="300"/>
              </a:spcAft>
              <a:buSzPct val="100000"/>
              <a:buChar char="•"/>
            </a:pPr>
            <a:r>
              <a:rPr lang="en-US" sz="1000" dirty="0">
                <a:solidFill>
                  <a:srgbClr val="23231F"/>
                </a:solidFill>
                <a:latin typeface="Calibri" pitchFamily="34" charset="0"/>
                <a:ea typeface="Calibri" pitchFamily="34" charset="-122"/>
                <a:cs typeface="Calibri" pitchFamily="34" charset="-120"/>
              </a:rPr>
              <a:t>order</a:t>
            </a:r>
            <a:endParaRPr lang="en-US" sz="1000" dirty="0"/>
          </a:p>
          <a:p>
            <a:pPr marL="342900" indent="-342900">
              <a:spcAft>
                <a:spcPts val="300"/>
              </a:spcAft>
              <a:buSzPct val="100000"/>
              <a:buChar char="•"/>
            </a:pPr>
            <a:r>
              <a:rPr lang="en-US" sz="1000" dirty="0">
                <a:solidFill>
                  <a:srgbClr val="23231F"/>
                </a:solidFill>
                <a:latin typeface="Calibri" pitchFamily="34" charset="0"/>
                <a:ea typeface="Calibri" pitchFamily="34" charset="-122"/>
                <a:cs typeface="Calibri" pitchFamily="34" charset="-120"/>
              </a:rPr>
              <a:t>over</a:t>
            </a:r>
            <a:endParaRPr lang="en-US" sz="1000" dirty="0"/>
          </a:p>
          <a:p>
            <a:pPr marL="342900" indent="-342900">
              <a:spcAft>
                <a:spcPts val="300"/>
              </a:spcAft>
              <a:buSzPct val="100000"/>
              <a:buChar char="•"/>
            </a:pPr>
            <a:r>
              <a:rPr lang="en-US" sz="1000" dirty="0">
                <a:solidFill>
                  <a:srgbClr val="23231F"/>
                </a:solidFill>
                <a:latin typeface="Calibri" pitchFamily="34" charset="0"/>
                <a:ea typeface="Calibri" pitchFamily="34" charset="-122"/>
                <a:cs typeface="Calibri" pitchFamily="34" charset="-120"/>
              </a:rPr>
              <a:t>run_rate</a:t>
            </a:r>
            <a:endParaRPr lang="en-US" sz="1000" dirty="0"/>
          </a:p>
          <a:p>
            <a:pPr marL="342900" indent="-342900">
              <a:spcAft>
                <a:spcPts val="300"/>
              </a:spcAft>
              <a:buSzPct val="100000"/>
              <a:buChar char="•"/>
            </a:pPr>
            <a:r>
              <a:rPr lang="en-US" sz="1000" dirty="0">
                <a:solidFill>
                  <a:srgbClr val="23231F"/>
                </a:solidFill>
                <a:latin typeface="Calibri" pitchFamily="34" charset="0"/>
                <a:ea typeface="Calibri" pitchFamily="34" charset="-122"/>
                <a:cs typeface="Calibri" pitchFamily="34" charset="-120"/>
              </a:rPr>
              <a:t>fall_of_wicket_over</a:t>
            </a:r>
            <a:endParaRPr lang="en-US" sz="1000" dirty="0"/>
          </a:p>
        </p:txBody>
      </p:sp>
      <p:sp>
        <p:nvSpPr>
          <p:cNvPr id="8" name="Shape 6"/>
          <p:cNvSpPr/>
          <p:nvPr/>
        </p:nvSpPr>
        <p:spPr>
          <a:xfrm>
            <a:off x="4315968" y="1371600"/>
            <a:ext cx="3520440" cy="2743200"/>
          </a:xfrm>
          <a:prstGeom prst="roundRect">
            <a:avLst>
              <a:gd name="adj" fmla="val 1667"/>
            </a:avLst>
          </a:prstGeom>
          <a:solidFill>
            <a:srgbClr val="FFFFFF"/>
          </a:solidFill>
          <a:ln w="12700">
            <a:solidFill>
              <a:srgbClr val="DDD6C8"/>
            </a:solidFill>
            <a:prstDash val="solid"/>
          </a:ln>
        </p:spPr>
      </p:sp>
      <p:sp>
        <p:nvSpPr>
          <p:cNvPr id="9" name="Text 7"/>
          <p:cNvSpPr txBox="1"/>
          <p:nvPr/>
        </p:nvSpPr>
        <p:spPr>
          <a:xfrm>
            <a:off x="4517136" y="1517904"/>
            <a:ext cx="3108960" cy="219456"/>
          </a:xfrm>
          <a:prstGeom prst="rect">
            <a:avLst/>
          </a:prstGeom>
          <a:noFill/>
          <a:ln/>
        </p:spPr>
        <p:txBody>
          <a:bodyPr wrap="square" lIns="0" tIns="0" rIns="0" bIns="0" rtlCol="0" anchor="ctr"/>
          <a:lstStyle/>
          <a:p>
            <a:pPr marL="0" indent="0">
              <a:buNone/>
            </a:pPr>
            <a:r>
              <a:rPr lang="en-US" sz="850" b="1" kern="0" spc="140" dirty="0">
                <a:solidFill>
                  <a:srgbClr val="C08A2E"/>
                </a:solidFill>
                <a:latin typeface="Calibri" pitchFamily="34" charset="0"/>
                <a:ea typeface="Calibri" pitchFamily="34" charset="-122"/>
                <a:cs typeface="Calibri" pitchFamily="34" charset="-120"/>
              </a:rPr>
              <a:t>CATEGORICAL FEATURES</a:t>
            </a:r>
            <a:endParaRPr lang="en-US" sz="850" dirty="0"/>
          </a:p>
        </p:txBody>
      </p:sp>
      <p:sp>
        <p:nvSpPr>
          <p:cNvPr id="10" name="Text 8"/>
          <p:cNvSpPr txBox="1"/>
          <p:nvPr/>
        </p:nvSpPr>
        <p:spPr>
          <a:xfrm>
            <a:off x="4517136" y="1810512"/>
            <a:ext cx="3108960" cy="2194560"/>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23231F"/>
                </a:solidFill>
                <a:latin typeface="Calibri" pitchFamily="34" charset="0"/>
                <a:ea typeface="Calibri" pitchFamily="34" charset="-122"/>
                <a:cs typeface="Calibri" pitchFamily="34" charset="-120"/>
              </a:rPr>
              <a:t>name_x — player</a:t>
            </a:r>
            <a:endParaRPr lang="en-US" sz="1000" dirty="0"/>
          </a:p>
          <a:p>
            <a:pPr marL="342900" indent="-342900">
              <a:spcAft>
                <a:spcPts val="300"/>
              </a:spcAft>
              <a:buSzPct val="100000"/>
              <a:buChar char="•"/>
            </a:pPr>
            <a:r>
              <a:rPr lang="en-US" sz="1000" dirty="0">
                <a:solidFill>
                  <a:srgbClr val="23231F"/>
                </a:solidFill>
                <a:latin typeface="Calibri" pitchFamily="34" charset="0"/>
                <a:ea typeface="Calibri" pitchFamily="34" charset="-122"/>
                <a:cs typeface="Calibri" pitchFamily="34" charset="-120"/>
              </a:rPr>
              <a:t>playing_role</a:t>
            </a:r>
            <a:endParaRPr lang="en-US" sz="1000" dirty="0"/>
          </a:p>
          <a:p>
            <a:pPr marL="342900" indent="-342900">
              <a:spcAft>
                <a:spcPts val="300"/>
              </a:spcAft>
              <a:buSzPct val="100000"/>
              <a:buChar char="•"/>
            </a:pPr>
            <a:r>
              <a:rPr lang="en-US" sz="1000" dirty="0">
                <a:solidFill>
                  <a:srgbClr val="23231F"/>
                </a:solidFill>
                <a:latin typeface="Calibri" pitchFamily="34" charset="0"/>
                <a:ea typeface="Calibri" pitchFamily="34" charset="-122"/>
                <a:cs typeface="Calibri" pitchFamily="34" charset="-120"/>
              </a:rPr>
              <a:t>matchtype</a:t>
            </a:r>
            <a:endParaRPr lang="en-US" sz="1000" dirty="0"/>
          </a:p>
          <a:p>
            <a:pPr marL="342900" indent="-342900">
              <a:spcAft>
                <a:spcPts val="300"/>
              </a:spcAft>
              <a:buSzPct val="100000"/>
              <a:buChar char="•"/>
            </a:pPr>
            <a:r>
              <a:rPr lang="en-US" sz="1000" dirty="0">
                <a:solidFill>
                  <a:srgbClr val="23231F"/>
                </a:solidFill>
                <a:latin typeface="Calibri" pitchFamily="34" charset="0"/>
                <a:ea typeface="Calibri" pitchFamily="34" charset="-122"/>
                <a:cs typeface="Calibri" pitchFamily="34" charset="-120"/>
              </a:rPr>
              <a:t>how_out</a:t>
            </a:r>
            <a:endParaRPr lang="en-US" sz="1000" dirty="0"/>
          </a:p>
          <a:p>
            <a:pPr marL="342900" indent="-342900">
              <a:spcAft>
                <a:spcPts val="300"/>
              </a:spcAft>
              <a:buSzPct val="100000"/>
              <a:buChar char="•"/>
            </a:pPr>
            <a:r>
              <a:rPr lang="en-US" sz="1000" dirty="0">
                <a:solidFill>
                  <a:srgbClr val="23231F"/>
                </a:solidFill>
                <a:latin typeface="Calibri" pitchFamily="34" charset="0"/>
                <a:ea typeface="Calibri" pitchFamily="34" charset="-122"/>
                <a:cs typeface="Calibri" pitchFamily="34" charset="-120"/>
              </a:rPr>
              <a:t>title — innings</a:t>
            </a:r>
            <a:endParaRPr lang="en-US" sz="1000" dirty="0"/>
          </a:p>
          <a:p>
            <a:pPr marL="342900" indent="-342900">
              <a:spcAft>
                <a:spcPts val="300"/>
              </a:spcAft>
              <a:buSzPct val="100000"/>
              <a:buChar char="•"/>
            </a:pPr>
            <a:r>
              <a:rPr lang="en-US" sz="1000" dirty="0">
                <a:solidFill>
                  <a:srgbClr val="23231F"/>
                </a:solidFill>
                <a:latin typeface="Calibri" pitchFamily="34" charset="0"/>
                <a:ea typeface="Calibri" pitchFamily="34" charset="-122"/>
                <a:cs typeface="Calibri" pitchFamily="34" charset="-120"/>
              </a:rPr>
              <a:t>team_id</a:t>
            </a:r>
            <a:endParaRPr lang="en-US" sz="1000" dirty="0"/>
          </a:p>
          <a:p>
            <a:pPr marL="342900" indent="-342900">
              <a:spcAft>
                <a:spcPts val="300"/>
              </a:spcAft>
              <a:buSzPct val="100000"/>
              <a:buChar char="•"/>
            </a:pPr>
            <a:r>
              <a:rPr lang="en-US" sz="1000" dirty="0">
                <a:solidFill>
                  <a:srgbClr val="23231F"/>
                </a:solidFill>
                <a:latin typeface="Calibri" pitchFamily="34" charset="0"/>
                <a:ea typeface="Calibri" pitchFamily="34" charset="-122"/>
                <a:cs typeface="Calibri" pitchFamily="34" charset="-120"/>
              </a:rPr>
              <a:t>opp_team_id</a:t>
            </a:r>
            <a:endParaRPr lang="en-US" sz="1000" dirty="0"/>
          </a:p>
        </p:txBody>
      </p:sp>
      <p:sp>
        <p:nvSpPr>
          <p:cNvPr id="11" name="Shape 9"/>
          <p:cNvSpPr/>
          <p:nvPr/>
        </p:nvSpPr>
        <p:spPr>
          <a:xfrm>
            <a:off x="8065008" y="1371600"/>
            <a:ext cx="3520440" cy="2743200"/>
          </a:xfrm>
          <a:prstGeom prst="roundRect">
            <a:avLst>
              <a:gd name="adj" fmla="val 1667"/>
            </a:avLst>
          </a:prstGeom>
          <a:solidFill>
            <a:srgbClr val="FFFFFF"/>
          </a:solidFill>
          <a:ln w="12700">
            <a:solidFill>
              <a:srgbClr val="DDD6C8"/>
            </a:solidFill>
            <a:prstDash val="solid"/>
          </a:ln>
        </p:spPr>
      </p:sp>
      <p:sp>
        <p:nvSpPr>
          <p:cNvPr id="12" name="Text 10"/>
          <p:cNvSpPr txBox="1"/>
          <p:nvPr/>
        </p:nvSpPr>
        <p:spPr>
          <a:xfrm>
            <a:off x="8266176" y="1517904"/>
            <a:ext cx="3108960" cy="219456"/>
          </a:xfrm>
          <a:prstGeom prst="rect">
            <a:avLst/>
          </a:prstGeom>
          <a:noFill/>
          <a:ln/>
        </p:spPr>
        <p:txBody>
          <a:bodyPr wrap="square" lIns="0" tIns="0" rIns="0" bIns="0" rtlCol="0" anchor="ctr"/>
          <a:lstStyle/>
          <a:p>
            <a:pPr marL="0" indent="0">
              <a:buNone/>
            </a:pPr>
            <a:r>
              <a:rPr lang="en-US" sz="850" b="1" kern="0" spc="140" dirty="0">
                <a:solidFill>
                  <a:srgbClr val="C08A2E"/>
                </a:solidFill>
                <a:latin typeface="Calibri" pitchFamily="34" charset="0"/>
                <a:ea typeface="Calibri" pitchFamily="34" charset="-122"/>
                <a:cs typeface="Calibri" pitchFamily="34" charset="-120"/>
              </a:rPr>
              <a:t>DATE / KEY FEATURES</a:t>
            </a:r>
            <a:endParaRPr lang="en-US" sz="850" dirty="0"/>
          </a:p>
        </p:txBody>
      </p:sp>
      <p:sp>
        <p:nvSpPr>
          <p:cNvPr id="13" name="Text 11"/>
          <p:cNvSpPr txBox="1"/>
          <p:nvPr/>
        </p:nvSpPr>
        <p:spPr>
          <a:xfrm>
            <a:off x="8266176" y="1810512"/>
            <a:ext cx="3108960" cy="2194560"/>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23231F"/>
                </a:solidFill>
                <a:latin typeface="Calibri" pitchFamily="34" charset="0"/>
                <a:ea typeface="Calibri" pitchFamily="34" charset="-122"/>
                <a:cs typeface="Calibri" pitchFamily="34" charset="-120"/>
              </a:rPr>
              <a:t>start_date</a:t>
            </a:r>
            <a:endParaRPr lang="en-US" sz="1000" dirty="0"/>
          </a:p>
          <a:p>
            <a:pPr marL="342900" indent="-342900">
              <a:spcAft>
                <a:spcPts val="300"/>
              </a:spcAft>
              <a:buSzPct val="100000"/>
              <a:buChar char="•"/>
            </a:pPr>
            <a:r>
              <a:rPr lang="en-US" sz="1000" dirty="0">
                <a:solidFill>
                  <a:srgbClr val="23231F"/>
                </a:solidFill>
                <a:latin typeface="Calibri" pitchFamily="34" charset="0"/>
                <a:ea typeface="Calibri" pitchFamily="34" charset="-122"/>
                <a:cs typeface="Calibri" pitchFamily="34" charset="-120"/>
              </a:rPr>
              <a:t>player_id</a:t>
            </a:r>
            <a:endParaRPr lang="en-US" sz="1000" dirty="0"/>
          </a:p>
          <a:p>
            <a:pPr marL="342900" indent="-342900">
              <a:spcAft>
                <a:spcPts val="300"/>
              </a:spcAft>
              <a:buSzPct val="100000"/>
              <a:buChar char="•"/>
            </a:pPr>
            <a:r>
              <a:rPr lang="en-US" sz="1000" dirty="0">
                <a:solidFill>
                  <a:srgbClr val="23231F"/>
                </a:solidFill>
                <a:latin typeface="Calibri" pitchFamily="34" charset="0"/>
                <a:ea typeface="Calibri" pitchFamily="34" charset="-122"/>
                <a:cs typeface="Calibri" pitchFamily="34" charset="-120"/>
              </a:rPr>
              <a:t>match_id</a:t>
            </a:r>
            <a:endParaRPr lang="en-US" sz="1000" dirty="0"/>
          </a:p>
          <a:p>
            <a:pPr marL="342900" indent="-342900">
              <a:spcAft>
                <a:spcPts val="300"/>
              </a:spcAft>
              <a:buSzPct val="100000"/>
              <a:buChar char="•"/>
            </a:pPr>
            <a:r>
              <a:rPr lang="en-US" sz="1000" dirty="0">
                <a:solidFill>
                  <a:srgbClr val="23231F"/>
                </a:solidFill>
                <a:latin typeface="Calibri" pitchFamily="34" charset="0"/>
                <a:ea typeface="Calibri" pitchFamily="34" charset="-122"/>
                <a:cs typeface="Calibri" pitchFamily="34" charset="-120"/>
              </a:rPr>
              <a:t>scorecard_id</a:t>
            </a:r>
            <a:endParaRPr lang="en-US" sz="1000" dirty="0"/>
          </a:p>
          <a:p>
            <a:pPr marL="342900" indent="-342900">
              <a:spcAft>
                <a:spcPts val="300"/>
              </a:spcAft>
              <a:buSzPct val="100000"/>
              <a:buChar char="•"/>
            </a:pPr>
            <a:r>
              <a:rPr lang="en-US" sz="1000" dirty="0">
                <a:solidFill>
                  <a:srgbClr val="23231F"/>
                </a:solidFill>
                <a:latin typeface="Calibri" pitchFamily="34" charset="0"/>
                <a:ea typeface="Calibri" pitchFamily="34" charset="-122"/>
                <a:cs typeface="Calibri" pitchFamily="34" charset="-120"/>
              </a:rPr>
              <a:t>series_id</a:t>
            </a:r>
            <a:endParaRPr lang="en-US" sz="1000" dirty="0"/>
          </a:p>
          <a:p>
            <a:pPr marL="342900" indent="-342900">
              <a:spcAft>
                <a:spcPts val="300"/>
              </a:spcAft>
              <a:buSzPct val="100000"/>
              <a:buChar char="•"/>
            </a:pPr>
            <a:r>
              <a:rPr lang="en-US" sz="1000" dirty="0">
                <a:solidFill>
                  <a:srgbClr val="23231F"/>
                </a:solidFill>
                <a:latin typeface="Calibri" pitchFamily="34" charset="0"/>
                <a:ea typeface="Calibri" pitchFamily="34" charset="-122"/>
                <a:cs typeface="Calibri" pitchFamily="34" charset="-120"/>
              </a:rPr>
              <a:t>match_number</a:t>
            </a:r>
            <a:endParaRPr lang="en-US" sz="1000" dirty="0"/>
          </a:p>
        </p:txBody>
      </p:sp>
      <p:sp>
        <p:nvSpPr>
          <p:cNvPr id="19" name="Shape 3">
            <a:extLst>
              <a:ext uri="{FF2B5EF4-FFF2-40B4-BE49-F238E27FC236}">
                <a16:creationId xmlns:a16="http://schemas.microsoft.com/office/drawing/2014/main" id="{AC9CC4E0-5603-8EDD-3311-257EDCC52967}"/>
              </a:ext>
            </a:extLst>
          </p:cNvPr>
          <p:cNvSpPr/>
          <p:nvPr/>
        </p:nvSpPr>
        <p:spPr>
          <a:xfrm>
            <a:off x="937549" y="4497228"/>
            <a:ext cx="9167150" cy="1693260"/>
          </a:xfrm>
          <a:prstGeom prst="roundRect">
            <a:avLst>
              <a:gd name="adj" fmla="val 1667"/>
            </a:avLst>
          </a:prstGeom>
          <a:solidFill>
            <a:srgbClr val="FFFFFF"/>
          </a:solidFill>
          <a:ln w="12700">
            <a:solidFill>
              <a:srgbClr val="DDD6C8"/>
            </a:solidFill>
            <a:prstDash val="solid"/>
          </a:ln>
        </p:spPr>
      </p:sp>
      <p:sp>
        <p:nvSpPr>
          <p:cNvPr id="20" name="TextBox 19">
            <a:extLst>
              <a:ext uri="{FF2B5EF4-FFF2-40B4-BE49-F238E27FC236}">
                <a16:creationId xmlns:a16="http://schemas.microsoft.com/office/drawing/2014/main" id="{EFB7B088-A208-45B8-C028-0C2774654B7F}"/>
              </a:ext>
            </a:extLst>
          </p:cNvPr>
          <p:cNvSpPr txBox="1"/>
          <p:nvPr/>
        </p:nvSpPr>
        <p:spPr>
          <a:xfrm>
            <a:off x="937549" y="4770488"/>
            <a:ext cx="9411067" cy="1200329"/>
          </a:xfrm>
          <a:prstGeom prst="rect">
            <a:avLst/>
          </a:prstGeom>
          <a:noFill/>
        </p:spPr>
        <p:txBody>
          <a:bodyPr wrap="square" rtlCol="0">
            <a:spAutoFit/>
          </a:bodyPr>
          <a:lstStyle/>
          <a:p>
            <a:r>
              <a:rPr lang="en-IN" dirty="0"/>
              <a:t>This slide shows the different types of variables in our dataset. We have numerical features, categorical features, and date or identifier columns. Categorical variables such as match type are encoded so that the machine learning models can process them. Identifiers are mainly used for tracking and grouping rather than prediction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EFE7"/>
        </a:solidFill>
        <a:effectLst/>
      </p:bgPr>
    </p:bg>
    <p:spTree>
      <p:nvGrpSpPr>
        <p:cNvPr id="1" name="">
          <a:extLst>
            <a:ext uri="{FF2B5EF4-FFF2-40B4-BE49-F238E27FC236}">
              <a16:creationId xmlns:a16="http://schemas.microsoft.com/office/drawing/2014/main" id="{4401D419-B46D-3F25-8AB6-276D71A1305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7977CBB-C7FB-1EC4-DE5C-9578BAE97837}"/>
              </a:ext>
            </a:extLst>
          </p:cNvPr>
          <p:cNvSpPr txBox="1"/>
          <p:nvPr/>
        </p:nvSpPr>
        <p:spPr>
          <a:xfrm>
            <a:off x="11183112" y="6382512"/>
            <a:ext cx="548640" cy="274320"/>
          </a:xfrm>
          <a:prstGeom prst="rect">
            <a:avLst/>
          </a:prstGeom>
          <a:noFill/>
          <a:ln/>
        </p:spPr>
        <p:txBody>
          <a:bodyPr wrap="square" lIns="0" tIns="0" rIns="0" bIns="0" rtlCol="0" anchor="ctr"/>
          <a:lstStyle/>
          <a:p>
            <a:pPr marL="0" indent="0" algn="r">
              <a:buNone/>
            </a:pPr>
            <a:r>
              <a:rPr lang="en-US" sz="1100" b="1" dirty="0">
                <a:solidFill>
                  <a:srgbClr val="C08A2E"/>
                </a:solidFill>
                <a:latin typeface="Cambria" pitchFamily="34" charset="0"/>
                <a:ea typeface="Cambria" pitchFamily="34" charset="-122"/>
                <a:cs typeface="Cambria" pitchFamily="34" charset="-120"/>
              </a:rPr>
              <a:t>06</a:t>
            </a:r>
            <a:endParaRPr lang="en-US" sz="1100" dirty="0"/>
          </a:p>
        </p:txBody>
      </p:sp>
      <p:sp>
        <p:nvSpPr>
          <p:cNvPr id="3" name="Text 1">
            <a:extLst>
              <a:ext uri="{FF2B5EF4-FFF2-40B4-BE49-F238E27FC236}">
                <a16:creationId xmlns:a16="http://schemas.microsoft.com/office/drawing/2014/main" id="{500FFBAE-2208-9365-E197-C6F020F94F2B}"/>
              </a:ext>
            </a:extLst>
          </p:cNvPr>
          <p:cNvSpPr txBox="1"/>
          <p:nvPr/>
        </p:nvSpPr>
        <p:spPr>
          <a:xfrm>
            <a:off x="566928" y="411480"/>
            <a:ext cx="8229600" cy="219456"/>
          </a:xfrm>
          <a:prstGeom prst="rect">
            <a:avLst/>
          </a:prstGeom>
          <a:noFill/>
          <a:ln/>
        </p:spPr>
        <p:txBody>
          <a:bodyPr wrap="square" lIns="0" tIns="0" rIns="0" bIns="0" rtlCol="0" anchor="ctr"/>
          <a:lstStyle/>
          <a:p>
            <a:pPr marL="0" indent="0">
              <a:buNone/>
            </a:pPr>
            <a:r>
              <a:rPr lang="en-US" sz="950" b="1" kern="0" spc="200" dirty="0">
                <a:solidFill>
                  <a:srgbClr val="C08A2E"/>
                </a:solidFill>
                <a:latin typeface="Calibri" pitchFamily="34" charset="0"/>
                <a:ea typeface="Calibri" pitchFamily="34" charset="-122"/>
                <a:cs typeface="Calibri" pitchFamily="34" charset="-120"/>
              </a:rPr>
              <a:t>PREPARATION</a:t>
            </a:r>
            <a:endParaRPr lang="en-US" sz="950" dirty="0"/>
          </a:p>
        </p:txBody>
      </p:sp>
      <p:sp>
        <p:nvSpPr>
          <p:cNvPr id="4" name="Text 2">
            <a:extLst>
              <a:ext uri="{FF2B5EF4-FFF2-40B4-BE49-F238E27FC236}">
                <a16:creationId xmlns:a16="http://schemas.microsoft.com/office/drawing/2014/main" id="{40C7A31D-95F7-4B43-4DF8-0F30BE1B3EE8}"/>
              </a:ext>
            </a:extLst>
          </p:cNvPr>
          <p:cNvSpPr txBox="1"/>
          <p:nvPr/>
        </p:nvSpPr>
        <p:spPr>
          <a:xfrm>
            <a:off x="566928" y="667512"/>
            <a:ext cx="11055096" cy="502920"/>
          </a:xfrm>
          <a:prstGeom prst="rect">
            <a:avLst/>
          </a:prstGeom>
          <a:noFill/>
          <a:ln/>
        </p:spPr>
        <p:txBody>
          <a:bodyPr wrap="square" lIns="0" tIns="0" rIns="0" bIns="0" rtlCol="0" anchor="ctr"/>
          <a:lstStyle/>
          <a:p>
            <a:pPr marL="0" indent="0">
              <a:buNone/>
            </a:pPr>
            <a:r>
              <a:rPr lang="en-US" sz="2700" b="1" dirty="0">
                <a:solidFill>
                  <a:srgbClr val="1B4034"/>
                </a:solidFill>
                <a:latin typeface="Cambria" pitchFamily="34" charset="0"/>
                <a:ea typeface="Cambria" pitchFamily="34" charset="-122"/>
                <a:cs typeface="Cambria" pitchFamily="34" charset="-120"/>
              </a:rPr>
              <a:t>Data Cleaning &amp; Preprocessing</a:t>
            </a:r>
            <a:endParaRPr lang="en-US" sz="2700" dirty="0"/>
          </a:p>
        </p:txBody>
      </p:sp>
      <p:graphicFrame>
        <p:nvGraphicFramePr>
          <p:cNvPr id="35" name="Table 0">
            <a:extLst>
              <a:ext uri="{FF2B5EF4-FFF2-40B4-BE49-F238E27FC236}">
                <a16:creationId xmlns:a16="http://schemas.microsoft.com/office/drawing/2014/main" id="{ED0D031D-3946-EE07-E646-7CDA8194FB82}"/>
              </a:ext>
            </a:extLst>
          </p:cNvPr>
          <p:cNvGraphicFramePr>
            <a:graphicFrameLocks noGrp="1"/>
          </p:cNvGraphicFramePr>
          <p:nvPr>
            <p:extLst>
              <p:ext uri="{D42A27DB-BD31-4B8C-83A1-F6EECF244321}">
                <p14:modId xmlns:p14="http://schemas.microsoft.com/office/powerpoint/2010/main" val="3187853893"/>
              </p:ext>
            </p:extLst>
          </p:nvPr>
        </p:nvGraphicFramePr>
        <p:xfrm>
          <a:off x="328675" y="1512316"/>
          <a:ext cx="11531601" cy="4058090"/>
        </p:xfrm>
        <a:graphic>
          <a:graphicData uri="http://schemas.openxmlformats.org/drawingml/2006/table">
            <a:tbl>
              <a:tblPr/>
              <a:tblGrid>
                <a:gridCol w="1701384">
                  <a:extLst>
                    <a:ext uri="{9D8B030D-6E8A-4147-A177-3AD203B41FA5}">
                      <a16:colId xmlns:a16="http://schemas.microsoft.com/office/drawing/2014/main" val="20000"/>
                    </a:ext>
                  </a:extLst>
                </a:gridCol>
                <a:gridCol w="6143886">
                  <a:extLst>
                    <a:ext uri="{9D8B030D-6E8A-4147-A177-3AD203B41FA5}">
                      <a16:colId xmlns:a16="http://schemas.microsoft.com/office/drawing/2014/main" val="20001"/>
                    </a:ext>
                  </a:extLst>
                </a:gridCol>
                <a:gridCol w="3686331">
                  <a:extLst>
                    <a:ext uri="{9D8B030D-6E8A-4147-A177-3AD203B41FA5}">
                      <a16:colId xmlns:a16="http://schemas.microsoft.com/office/drawing/2014/main" val="20002"/>
                    </a:ext>
                  </a:extLst>
                </a:gridCol>
              </a:tblGrid>
              <a:tr h="620082">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Problem</a:t>
                      </a:r>
                      <a:endParaRPr lang="en-US" sz="1000" dirty="0">
                        <a:latin typeface="Calibri" charset="0"/>
                        <a:ea typeface="Calibri" charset="0"/>
                        <a:cs typeface="Calibri" charset="0"/>
                      </a:endParaRPr>
                    </a:p>
                  </a:txBody>
                  <a:tcPr marL="88900" marR="88900" marT="50800" marB="50800" anchor="ctr">
                    <a:lnL w="6350" cap="flat" cmpd="sng" algn="ctr">
                      <a:solidFill>
                        <a:srgbClr val="DDE3D9"/>
                      </a:solidFill>
                      <a:prstDash val="solid"/>
                      <a:round/>
                      <a:headEnd type="none" w="med" len="med"/>
                      <a:tailEnd type="none" w="med" len="med"/>
                    </a:lnL>
                    <a:lnR w="6350" cap="flat" cmpd="sng" algn="ctr">
                      <a:solidFill>
                        <a:srgbClr val="DDE3D9"/>
                      </a:solidFill>
                      <a:prstDash val="solid"/>
                      <a:round/>
                      <a:headEnd type="none" w="med" len="med"/>
                      <a:tailEnd type="none" w="med" len="med"/>
                    </a:lnR>
                    <a:lnT w="6350" cap="flat" cmpd="sng" algn="ctr">
                      <a:solidFill>
                        <a:srgbClr val="DDE3D9"/>
                      </a:solidFill>
                      <a:prstDash val="solid"/>
                      <a:round/>
                      <a:headEnd type="none" w="med" len="med"/>
                      <a:tailEnd type="none" w="med" len="med"/>
                    </a:lnT>
                    <a:lnB w="6350" cap="flat" cmpd="sng" algn="ctr">
                      <a:solidFill>
                        <a:srgbClr val="DDE3D9"/>
                      </a:solidFill>
                      <a:prstDash val="solid"/>
                      <a:round/>
                      <a:headEnd type="none" w="med" len="med"/>
                      <a:tailEnd type="none" w="med" len="med"/>
                    </a:lnB>
                    <a:solidFill>
                      <a:srgbClr val="1B4332"/>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Observation in our data</a:t>
                      </a:r>
                      <a:endParaRPr lang="en-US" sz="1000" dirty="0">
                        <a:latin typeface="Calibri" charset="0"/>
                        <a:ea typeface="Calibri" charset="0"/>
                        <a:cs typeface="Calibri" charset="0"/>
                      </a:endParaRPr>
                    </a:p>
                  </a:txBody>
                  <a:tcPr marL="88900" marR="88900" marT="50800" marB="50800" anchor="ctr">
                    <a:lnL w="6350" cap="flat" cmpd="sng" algn="ctr">
                      <a:solidFill>
                        <a:srgbClr val="DDE3D9"/>
                      </a:solidFill>
                      <a:prstDash val="solid"/>
                      <a:round/>
                      <a:headEnd type="none" w="med" len="med"/>
                      <a:tailEnd type="none" w="med" len="med"/>
                    </a:lnL>
                    <a:lnR w="6350" cap="flat" cmpd="sng" algn="ctr">
                      <a:solidFill>
                        <a:srgbClr val="DDE3D9"/>
                      </a:solidFill>
                      <a:prstDash val="solid"/>
                      <a:round/>
                      <a:headEnd type="none" w="med" len="med"/>
                      <a:tailEnd type="none" w="med" len="med"/>
                    </a:lnR>
                    <a:lnT w="6350" cap="flat" cmpd="sng" algn="ctr">
                      <a:solidFill>
                        <a:srgbClr val="DDE3D9"/>
                      </a:solidFill>
                      <a:prstDash val="solid"/>
                      <a:round/>
                      <a:headEnd type="none" w="med" len="med"/>
                      <a:tailEnd type="none" w="med" len="med"/>
                    </a:lnT>
                    <a:lnB w="6350" cap="flat" cmpd="sng" algn="ctr">
                      <a:solidFill>
                        <a:srgbClr val="DDE3D9"/>
                      </a:solidFill>
                      <a:prstDash val="solid"/>
                      <a:round/>
                      <a:headEnd type="none" w="med" len="med"/>
                      <a:tailEnd type="none" w="med" len="med"/>
                    </a:lnB>
                    <a:solidFill>
                      <a:srgbClr val="1B4332"/>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Handling</a:t>
                      </a:r>
                      <a:endParaRPr lang="en-US" sz="1000" dirty="0">
                        <a:latin typeface="Calibri" charset="0"/>
                        <a:ea typeface="Calibri" charset="0"/>
                        <a:cs typeface="Calibri" charset="0"/>
                      </a:endParaRPr>
                    </a:p>
                  </a:txBody>
                  <a:tcPr marL="88900" marR="88900" marT="50800" marB="50800" anchor="ctr">
                    <a:lnL w="6350" cap="flat" cmpd="sng" algn="ctr">
                      <a:solidFill>
                        <a:srgbClr val="DDE3D9"/>
                      </a:solidFill>
                      <a:prstDash val="solid"/>
                      <a:round/>
                      <a:headEnd type="none" w="med" len="med"/>
                      <a:tailEnd type="none" w="med" len="med"/>
                    </a:lnL>
                    <a:lnR w="6350" cap="flat" cmpd="sng" algn="ctr">
                      <a:solidFill>
                        <a:srgbClr val="DDE3D9"/>
                      </a:solidFill>
                      <a:prstDash val="solid"/>
                      <a:round/>
                      <a:headEnd type="none" w="med" len="med"/>
                      <a:tailEnd type="none" w="med" len="med"/>
                    </a:lnR>
                    <a:lnT w="6350" cap="flat" cmpd="sng" algn="ctr">
                      <a:solidFill>
                        <a:srgbClr val="DDE3D9"/>
                      </a:solidFill>
                      <a:prstDash val="solid"/>
                      <a:round/>
                      <a:headEnd type="none" w="med" len="med"/>
                      <a:tailEnd type="none" w="med" len="med"/>
                    </a:lnT>
                    <a:lnB w="6350" cap="flat" cmpd="sng" algn="ctr">
                      <a:solidFill>
                        <a:srgbClr val="DDE3D9"/>
                      </a:solidFill>
                      <a:prstDash val="solid"/>
                      <a:round/>
                      <a:headEnd type="none" w="med" len="med"/>
                      <a:tailEnd type="none" w="med" len="med"/>
                    </a:lnB>
                    <a:solidFill>
                      <a:srgbClr val="1B4332"/>
                    </a:solidFill>
                  </a:tcPr>
                </a:tc>
                <a:extLst>
                  <a:ext uri="{0D108BD9-81ED-4DB2-BD59-A6C34878D82A}">
                    <a16:rowId xmlns:a16="http://schemas.microsoft.com/office/drawing/2014/main" val="10000"/>
                  </a:ext>
                </a:extLst>
              </a:tr>
              <a:tr h="788881">
                <a:tc>
                  <a:txBody>
                    <a:bodyPr/>
                    <a:lstStyle/>
                    <a:p>
                      <a:pPr marL="0" indent="0">
                        <a:buNone/>
                      </a:pPr>
                      <a:r>
                        <a:rPr lang="en-US" sz="1050" dirty="0">
                          <a:solidFill>
                            <a:srgbClr val="22301F"/>
                          </a:solidFill>
                          <a:latin typeface="Calibri" pitchFamily="34" charset="0"/>
                          <a:ea typeface="Calibri" pitchFamily="34" charset="-122"/>
                          <a:cs typeface="Calibri" pitchFamily="34" charset="-120"/>
                        </a:rPr>
                        <a:t>Missing values</a:t>
                      </a:r>
                      <a:endParaRPr lang="en-US" sz="1050" dirty="0">
                        <a:latin typeface="Calibri" charset="0"/>
                        <a:ea typeface="Calibri" charset="0"/>
                        <a:cs typeface="Calibri" charset="0"/>
                      </a:endParaRPr>
                    </a:p>
                  </a:txBody>
                  <a:tcPr marL="88900" marR="88900" marT="50800" marB="50800" anchor="ctr">
                    <a:lnL w="6350" cap="flat" cmpd="sng" algn="ctr">
                      <a:solidFill>
                        <a:srgbClr val="DDE3D9"/>
                      </a:solidFill>
                      <a:prstDash val="solid"/>
                      <a:round/>
                      <a:headEnd type="none" w="med" len="med"/>
                      <a:tailEnd type="none" w="med" len="med"/>
                    </a:lnL>
                    <a:lnR w="6350" cap="flat" cmpd="sng" algn="ctr">
                      <a:solidFill>
                        <a:srgbClr val="DDE3D9"/>
                      </a:solidFill>
                      <a:prstDash val="solid"/>
                      <a:round/>
                      <a:headEnd type="none" w="med" len="med"/>
                      <a:tailEnd type="none" w="med" len="med"/>
                    </a:lnR>
                    <a:lnT w="6350" cap="flat" cmpd="sng" algn="ctr">
                      <a:solidFill>
                        <a:srgbClr val="DDE3D9"/>
                      </a:solidFill>
                      <a:prstDash val="solid"/>
                      <a:round/>
                      <a:headEnd type="none" w="med" len="med"/>
                      <a:tailEnd type="none" w="med" len="med"/>
                    </a:lnT>
                    <a:lnB w="6350" cap="flat" cmpd="sng" algn="ctr">
                      <a:solidFill>
                        <a:srgbClr val="DDE3D9"/>
                      </a:solidFill>
                      <a:prstDash val="solid"/>
                      <a:round/>
                      <a:headEnd type="none" w="med" len="med"/>
                      <a:tailEnd type="none" w="med" len="med"/>
                    </a:lnB>
                    <a:solidFill>
                      <a:srgbClr val="FFFFFF"/>
                    </a:solidFill>
                  </a:tcPr>
                </a:tc>
                <a:tc>
                  <a:txBody>
                    <a:bodyPr/>
                    <a:lstStyle/>
                    <a:p>
                      <a:pPr marL="0" indent="0">
                        <a:buNone/>
                      </a:pPr>
                      <a:r>
                        <a:rPr lang="en-US" sz="1050" dirty="0" err="1">
                          <a:solidFill>
                            <a:srgbClr val="22301F"/>
                          </a:solidFill>
                          <a:latin typeface="Calibri" pitchFamily="34" charset="0"/>
                          <a:ea typeface="Calibri" pitchFamily="34" charset="-122"/>
                          <a:cs typeface="Calibri" pitchFamily="34" charset="-120"/>
                        </a:rPr>
                        <a:t>playing_role</a:t>
                      </a:r>
                      <a:r>
                        <a:rPr lang="en-US" sz="1050" dirty="0">
                          <a:solidFill>
                            <a:srgbClr val="22301F"/>
                          </a:solidFill>
                          <a:latin typeface="Calibri" pitchFamily="34" charset="0"/>
                          <a:ea typeface="Calibri" pitchFamily="34" charset="-122"/>
                          <a:cs typeface="Calibri" pitchFamily="34" charset="-120"/>
                        </a:rPr>
                        <a:t> 1,543, match_number 635, matchtype 37, name_y 13, how_out 9.  ball.csv: fours/sixes/zeros 36,134 (99.96%).  match.csv: match_number 75, name 2, matchtype 4</a:t>
                      </a:r>
                      <a:endParaRPr lang="en-US" sz="1050" dirty="0">
                        <a:latin typeface="Calibri" charset="0"/>
                        <a:ea typeface="Calibri" charset="0"/>
                        <a:cs typeface="Calibri" charset="0"/>
                      </a:endParaRPr>
                    </a:p>
                  </a:txBody>
                  <a:tcPr marL="88900" marR="88900" marT="50800" marB="50800" anchor="ctr">
                    <a:lnL w="6350" cap="flat" cmpd="sng" algn="ctr">
                      <a:solidFill>
                        <a:srgbClr val="DDE3D9"/>
                      </a:solidFill>
                      <a:prstDash val="solid"/>
                      <a:round/>
                      <a:headEnd type="none" w="med" len="med"/>
                      <a:tailEnd type="none" w="med" len="med"/>
                    </a:lnL>
                    <a:lnR w="6350" cap="flat" cmpd="sng" algn="ctr">
                      <a:solidFill>
                        <a:srgbClr val="DDE3D9"/>
                      </a:solidFill>
                      <a:prstDash val="solid"/>
                      <a:round/>
                      <a:headEnd type="none" w="med" len="med"/>
                      <a:tailEnd type="none" w="med" len="med"/>
                    </a:lnR>
                    <a:lnT w="6350" cap="flat" cmpd="sng" algn="ctr">
                      <a:solidFill>
                        <a:srgbClr val="DDE3D9"/>
                      </a:solidFill>
                      <a:prstDash val="solid"/>
                      <a:round/>
                      <a:headEnd type="none" w="med" len="med"/>
                      <a:tailEnd type="none" w="med" len="med"/>
                    </a:lnT>
                    <a:lnB w="6350" cap="flat" cmpd="sng" algn="ctr">
                      <a:solidFill>
                        <a:srgbClr val="DDE3D9"/>
                      </a:solidFill>
                      <a:prstDash val="solid"/>
                      <a:round/>
                      <a:headEnd type="none" w="med" len="med"/>
                      <a:tailEnd type="none" w="med" len="med"/>
                    </a:lnB>
                    <a:solidFill>
                      <a:srgbClr val="FFFFFF"/>
                    </a:solidFill>
                  </a:tcPr>
                </a:tc>
                <a:tc>
                  <a:txBody>
                    <a:bodyPr/>
                    <a:lstStyle/>
                    <a:p>
                      <a:pPr marL="0" indent="0">
                        <a:buNone/>
                      </a:pPr>
                      <a:r>
                        <a:rPr lang="en-US" sz="1050" dirty="0">
                          <a:solidFill>
                            <a:srgbClr val="22301F"/>
                          </a:solidFill>
                          <a:latin typeface="Calibri" pitchFamily="34" charset="0"/>
                          <a:ea typeface="Calibri" pitchFamily="34" charset="-122"/>
                          <a:cs typeface="Calibri" pitchFamily="34" charset="-120"/>
                        </a:rPr>
                        <a:t>Drop near-empty columns; label missing matchtype as “unknown” rather than guessing</a:t>
                      </a:r>
                      <a:endParaRPr lang="en-US" sz="1050" dirty="0">
                        <a:latin typeface="Calibri" charset="0"/>
                        <a:ea typeface="Calibri" charset="0"/>
                        <a:cs typeface="Calibri" charset="0"/>
                      </a:endParaRPr>
                    </a:p>
                  </a:txBody>
                  <a:tcPr marL="88900" marR="88900" marT="50800" marB="50800" anchor="ctr">
                    <a:lnL w="6350" cap="flat" cmpd="sng" algn="ctr">
                      <a:solidFill>
                        <a:srgbClr val="DDE3D9"/>
                      </a:solidFill>
                      <a:prstDash val="solid"/>
                      <a:round/>
                      <a:headEnd type="none" w="med" len="med"/>
                      <a:tailEnd type="none" w="med" len="med"/>
                    </a:lnL>
                    <a:lnR w="6350" cap="flat" cmpd="sng" algn="ctr">
                      <a:solidFill>
                        <a:srgbClr val="DDE3D9"/>
                      </a:solidFill>
                      <a:prstDash val="solid"/>
                      <a:round/>
                      <a:headEnd type="none" w="med" len="med"/>
                      <a:tailEnd type="none" w="med" len="med"/>
                    </a:lnR>
                    <a:lnT w="6350" cap="flat" cmpd="sng" algn="ctr">
                      <a:solidFill>
                        <a:srgbClr val="DDE3D9"/>
                      </a:solidFill>
                      <a:prstDash val="solid"/>
                      <a:round/>
                      <a:headEnd type="none" w="med" len="med"/>
                      <a:tailEnd type="none" w="med" len="med"/>
                    </a:lnT>
                    <a:lnB w="6350" cap="flat" cmpd="sng" algn="ctr">
                      <a:solidFill>
                        <a:srgbClr val="DDE3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0082">
                <a:tc>
                  <a:txBody>
                    <a:bodyPr/>
                    <a:lstStyle/>
                    <a:p>
                      <a:pPr marL="0" indent="0">
                        <a:buNone/>
                      </a:pPr>
                      <a:r>
                        <a:rPr lang="en-US" sz="1050" dirty="0">
                          <a:solidFill>
                            <a:srgbClr val="22301F"/>
                          </a:solidFill>
                          <a:latin typeface="Calibri" pitchFamily="34" charset="0"/>
                          <a:ea typeface="Calibri" pitchFamily="34" charset="-122"/>
                          <a:cs typeface="Calibri" pitchFamily="34" charset="-120"/>
                        </a:rPr>
                        <a:t>Duplicate records</a:t>
                      </a:r>
                      <a:endParaRPr lang="en-US" sz="1050" dirty="0">
                        <a:latin typeface="Calibri" charset="0"/>
                        <a:ea typeface="Calibri" charset="0"/>
                        <a:cs typeface="Calibri" charset="0"/>
                      </a:endParaRPr>
                    </a:p>
                  </a:txBody>
                  <a:tcPr marL="88900" marR="88900" marT="50800" marB="50800" anchor="ctr">
                    <a:lnL w="6350" cap="flat" cmpd="sng" algn="ctr">
                      <a:solidFill>
                        <a:srgbClr val="DDE3D9"/>
                      </a:solidFill>
                      <a:prstDash val="solid"/>
                      <a:round/>
                      <a:headEnd type="none" w="med" len="med"/>
                      <a:tailEnd type="none" w="med" len="med"/>
                    </a:lnL>
                    <a:lnR w="6350" cap="flat" cmpd="sng" algn="ctr">
                      <a:solidFill>
                        <a:srgbClr val="DDE3D9"/>
                      </a:solidFill>
                      <a:prstDash val="solid"/>
                      <a:round/>
                      <a:headEnd type="none" w="med" len="med"/>
                      <a:tailEnd type="none" w="med" len="med"/>
                    </a:lnR>
                    <a:lnT w="6350" cap="flat" cmpd="sng" algn="ctr">
                      <a:solidFill>
                        <a:srgbClr val="DDE3D9"/>
                      </a:solidFill>
                      <a:prstDash val="solid"/>
                      <a:round/>
                      <a:headEnd type="none" w="med" len="med"/>
                      <a:tailEnd type="none" w="med" len="med"/>
                    </a:lnT>
                    <a:lnB w="6350" cap="flat" cmpd="sng" algn="ctr">
                      <a:solidFill>
                        <a:srgbClr val="DDE3D9"/>
                      </a:solidFill>
                      <a:prstDash val="solid"/>
                      <a:round/>
                      <a:headEnd type="none" w="med" len="med"/>
                      <a:tailEnd type="none" w="med" len="med"/>
                    </a:lnB>
                    <a:solidFill>
                      <a:srgbClr val="F1F5EE"/>
                    </a:solidFill>
                  </a:tcPr>
                </a:tc>
                <a:tc>
                  <a:txBody>
                    <a:bodyPr/>
                    <a:lstStyle/>
                    <a:p>
                      <a:pPr marL="0" indent="0">
                        <a:buNone/>
                      </a:pPr>
                      <a:r>
                        <a:rPr lang="en-US" sz="1050" dirty="0">
                          <a:solidFill>
                            <a:srgbClr val="22301F"/>
                          </a:solidFill>
                          <a:latin typeface="Calibri" pitchFamily="34" charset="0"/>
                          <a:ea typeface="Calibri" pitchFamily="34" charset="-122"/>
                          <a:cs typeface="Calibri" pitchFamily="34" charset="-120"/>
                        </a:rPr>
                        <a:t>0 fully duplicated rows in all three files. 0 duplicates on (player_id, scorecard_id) — each player appears once per innings</a:t>
                      </a:r>
                      <a:endParaRPr lang="en-US" sz="1050" dirty="0">
                        <a:latin typeface="Calibri" charset="0"/>
                        <a:ea typeface="Calibri" charset="0"/>
                        <a:cs typeface="Calibri" charset="0"/>
                      </a:endParaRPr>
                    </a:p>
                  </a:txBody>
                  <a:tcPr marL="88900" marR="88900" marT="50800" marB="50800" anchor="ctr">
                    <a:lnL w="6350" cap="flat" cmpd="sng" algn="ctr">
                      <a:solidFill>
                        <a:srgbClr val="DDE3D9"/>
                      </a:solidFill>
                      <a:prstDash val="solid"/>
                      <a:round/>
                      <a:headEnd type="none" w="med" len="med"/>
                      <a:tailEnd type="none" w="med" len="med"/>
                    </a:lnL>
                    <a:lnR w="6350" cap="flat" cmpd="sng" algn="ctr">
                      <a:solidFill>
                        <a:srgbClr val="DDE3D9"/>
                      </a:solidFill>
                      <a:prstDash val="solid"/>
                      <a:round/>
                      <a:headEnd type="none" w="med" len="med"/>
                      <a:tailEnd type="none" w="med" len="med"/>
                    </a:lnR>
                    <a:lnT w="6350" cap="flat" cmpd="sng" algn="ctr">
                      <a:solidFill>
                        <a:srgbClr val="DDE3D9"/>
                      </a:solidFill>
                      <a:prstDash val="solid"/>
                      <a:round/>
                      <a:headEnd type="none" w="med" len="med"/>
                      <a:tailEnd type="none" w="med" len="med"/>
                    </a:lnT>
                    <a:lnB w="6350" cap="flat" cmpd="sng" algn="ctr">
                      <a:solidFill>
                        <a:srgbClr val="DDE3D9"/>
                      </a:solidFill>
                      <a:prstDash val="solid"/>
                      <a:round/>
                      <a:headEnd type="none" w="med" len="med"/>
                      <a:tailEnd type="none" w="med" len="med"/>
                    </a:lnB>
                    <a:solidFill>
                      <a:srgbClr val="F1F5EE"/>
                    </a:solidFill>
                  </a:tcPr>
                </a:tc>
                <a:tc>
                  <a:txBody>
                    <a:bodyPr/>
                    <a:lstStyle/>
                    <a:p>
                      <a:pPr marL="0" indent="0">
                        <a:buNone/>
                      </a:pPr>
                      <a:r>
                        <a:rPr lang="en-US" sz="1050" dirty="0">
                          <a:solidFill>
                            <a:srgbClr val="22301F"/>
                          </a:solidFill>
                          <a:latin typeface="Calibri" pitchFamily="34" charset="0"/>
                          <a:ea typeface="Calibri" pitchFamily="34" charset="-122"/>
                          <a:cs typeface="Calibri" pitchFamily="34" charset="-120"/>
                        </a:rPr>
                        <a:t>Nothing to remove; uniqueness confirms one row = one innings</a:t>
                      </a:r>
                      <a:endParaRPr lang="en-US" sz="1050" dirty="0">
                        <a:latin typeface="Calibri" charset="0"/>
                        <a:ea typeface="Calibri" charset="0"/>
                        <a:cs typeface="Calibri" charset="0"/>
                      </a:endParaRPr>
                    </a:p>
                  </a:txBody>
                  <a:tcPr marL="88900" marR="88900" marT="50800" marB="50800" anchor="ctr">
                    <a:lnL w="6350" cap="flat" cmpd="sng" algn="ctr">
                      <a:solidFill>
                        <a:srgbClr val="DDE3D9"/>
                      </a:solidFill>
                      <a:prstDash val="solid"/>
                      <a:round/>
                      <a:headEnd type="none" w="med" len="med"/>
                      <a:tailEnd type="none" w="med" len="med"/>
                    </a:lnL>
                    <a:lnR w="6350" cap="flat" cmpd="sng" algn="ctr">
                      <a:solidFill>
                        <a:srgbClr val="DDE3D9"/>
                      </a:solidFill>
                      <a:prstDash val="solid"/>
                      <a:round/>
                      <a:headEnd type="none" w="med" len="med"/>
                      <a:tailEnd type="none" w="med" len="med"/>
                    </a:lnR>
                    <a:lnT w="6350" cap="flat" cmpd="sng" algn="ctr">
                      <a:solidFill>
                        <a:srgbClr val="DDE3D9"/>
                      </a:solidFill>
                      <a:prstDash val="solid"/>
                      <a:round/>
                      <a:headEnd type="none" w="med" len="med"/>
                      <a:tailEnd type="none" w="med" len="med"/>
                    </a:lnT>
                    <a:lnB w="6350" cap="flat" cmpd="sng" algn="ctr">
                      <a:solidFill>
                        <a:srgbClr val="DDE3D9"/>
                      </a:solidFill>
                      <a:prstDash val="solid"/>
                      <a:round/>
                      <a:headEnd type="none" w="med" len="med"/>
                      <a:tailEnd type="none" w="med" len="med"/>
                    </a:lnB>
                    <a:solidFill>
                      <a:srgbClr val="F1F5EE"/>
                    </a:solidFill>
                  </a:tcPr>
                </a:tc>
                <a:extLst>
                  <a:ext uri="{0D108BD9-81ED-4DB2-BD59-A6C34878D82A}">
                    <a16:rowId xmlns:a16="http://schemas.microsoft.com/office/drawing/2014/main" val="10002"/>
                  </a:ext>
                </a:extLst>
              </a:tr>
              <a:tr h="620082">
                <a:tc>
                  <a:txBody>
                    <a:bodyPr/>
                    <a:lstStyle/>
                    <a:p>
                      <a:pPr marL="0" indent="0">
                        <a:buNone/>
                      </a:pPr>
                      <a:r>
                        <a:rPr lang="en-US" sz="1050" dirty="0">
                          <a:solidFill>
                            <a:srgbClr val="22301F"/>
                          </a:solidFill>
                          <a:latin typeface="Calibri" pitchFamily="34" charset="0"/>
                          <a:ea typeface="Calibri" pitchFamily="34" charset="-122"/>
                          <a:cs typeface="Calibri" pitchFamily="34" charset="-120"/>
                        </a:rPr>
                        <a:t>Data types</a:t>
                      </a:r>
                      <a:endParaRPr lang="en-US" sz="1050" dirty="0">
                        <a:latin typeface="Calibri" charset="0"/>
                        <a:ea typeface="Calibri" charset="0"/>
                        <a:cs typeface="Calibri" charset="0"/>
                      </a:endParaRPr>
                    </a:p>
                  </a:txBody>
                  <a:tcPr marL="88900" marR="88900" marT="50800" marB="50800" anchor="ctr">
                    <a:lnL w="6350" cap="flat" cmpd="sng" algn="ctr">
                      <a:solidFill>
                        <a:srgbClr val="DDE3D9"/>
                      </a:solidFill>
                      <a:prstDash val="solid"/>
                      <a:round/>
                      <a:headEnd type="none" w="med" len="med"/>
                      <a:tailEnd type="none" w="med" len="med"/>
                    </a:lnL>
                    <a:lnR w="6350" cap="flat" cmpd="sng" algn="ctr">
                      <a:solidFill>
                        <a:srgbClr val="DDE3D9"/>
                      </a:solidFill>
                      <a:prstDash val="solid"/>
                      <a:round/>
                      <a:headEnd type="none" w="med" len="med"/>
                      <a:tailEnd type="none" w="med" len="med"/>
                    </a:lnR>
                    <a:lnT w="6350" cap="flat" cmpd="sng" algn="ctr">
                      <a:solidFill>
                        <a:srgbClr val="DDE3D9"/>
                      </a:solidFill>
                      <a:prstDash val="solid"/>
                      <a:round/>
                      <a:headEnd type="none" w="med" len="med"/>
                      <a:tailEnd type="none" w="med" len="med"/>
                    </a:lnT>
                    <a:lnB w="6350" cap="flat" cmpd="sng" algn="ctr">
                      <a:solidFill>
                        <a:srgbClr val="DDE3D9"/>
                      </a:solidFill>
                      <a:prstDash val="solid"/>
                      <a:round/>
                      <a:headEnd type="none" w="med" len="med"/>
                      <a:tailEnd type="none" w="med" len="med"/>
                    </a:lnB>
                    <a:solidFill>
                      <a:srgbClr val="FFFFFF"/>
                    </a:solidFill>
                  </a:tcPr>
                </a:tc>
                <a:tc>
                  <a:txBody>
                    <a:bodyPr/>
                    <a:lstStyle/>
                    <a:p>
                      <a:pPr marL="0" indent="0">
                        <a:buNone/>
                      </a:pPr>
                      <a:r>
                        <a:rPr lang="en-US" sz="1050" dirty="0">
                          <a:solidFill>
                            <a:srgbClr val="22301F"/>
                          </a:solidFill>
                          <a:latin typeface="Calibri" pitchFamily="34" charset="0"/>
                          <a:ea typeface="Calibri" pitchFamily="34" charset="-122"/>
                          <a:cs typeface="Calibri" pitchFamily="34" charset="-120"/>
                        </a:rPr>
                        <a:t>start_date read as text; match_number stored as float; index column imported as “Unnamed: 0”</a:t>
                      </a:r>
                      <a:endParaRPr lang="en-US" sz="1050" dirty="0">
                        <a:latin typeface="Calibri" charset="0"/>
                        <a:ea typeface="Calibri" charset="0"/>
                        <a:cs typeface="Calibri" charset="0"/>
                      </a:endParaRPr>
                    </a:p>
                  </a:txBody>
                  <a:tcPr marL="88900" marR="88900" marT="50800" marB="50800" anchor="ctr">
                    <a:lnL w="6350" cap="flat" cmpd="sng" algn="ctr">
                      <a:solidFill>
                        <a:srgbClr val="DDE3D9"/>
                      </a:solidFill>
                      <a:prstDash val="solid"/>
                      <a:round/>
                      <a:headEnd type="none" w="med" len="med"/>
                      <a:tailEnd type="none" w="med" len="med"/>
                    </a:lnL>
                    <a:lnR w="6350" cap="flat" cmpd="sng" algn="ctr">
                      <a:solidFill>
                        <a:srgbClr val="DDE3D9"/>
                      </a:solidFill>
                      <a:prstDash val="solid"/>
                      <a:round/>
                      <a:headEnd type="none" w="med" len="med"/>
                      <a:tailEnd type="none" w="med" len="med"/>
                    </a:lnR>
                    <a:lnT w="6350" cap="flat" cmpd="sng" algn="ctr">
                      <a:solidFill>
                        <a:srgbClr val="DDE3D9"/>
                      </a:solidFill>
                      <a:prstDash val="solid"/>
                      <a:round/>
                      <a:headEnd type="none" w="med" len="med"/>
                      <a:tailEnd type="none" w="med" len="med"/>
                    </a:lnT>
                    <a:lnB w="6350" cap="flat" cmpd="sng" algn="ctr">
                      <a:solidFill>
                        <a:srgbClr val="DDE3D9"/>
                      </a:solidFill>
                      <a:prstDash val="solid"/>
                      <a:round/>
                      <a:headEnd type="none" w="med" len="med"/>
                      <a:tailEnd type="none" w="med" len="med"/>
                    </a:lnB>
                    <a:solidFill>
                      <a:srgbClr val="FFFFFF"/>
                    </a:solidFill>
                  </a:tcPr>
                </a:tc>
                <a:tc>
                  <a:txBody>
                    <a:bodyPr/>
                    <a:lstStyle/>
                    <a:p>
                      <a:pPr marL="0" indent="0">
                        <a:buNone/>
                      </a:pPr>
                      <a:r>
                        <a:rPr lang="en-US" sz="1050" dirty="0">
                          <a:solidFill>
                            <a:srgbClr val="22301F"/>
                          </a:solidFill>
                          <a:latin typeface="Calibri" pitchFamily="34" charset="0"/>
                          <a:ea typeface="Calibri" pitchFamily="34" charset="-122"/>
                          <a:cs typeface="Calibri" pitchFamily="34" charset="-120"/>
                        </a:rPr>
                        <a:t>Convert start_date to datetime (essential for chronological ordering); drop the stray index column</a:t>
                      </a:r>
                      <a:endParaRPr lang="en-US" sz="1050" dirty="0">
                        <a:latin typeface="Calibri" charset="0"/>
                        <a:ea typeface="Calibri" charset="0"/>
                        <a:cs typeface="Calibri" charset="0"/>
                      </a:endParaRPr>
                    </a:p>
                  </a:txBody>
                  <a:tcPr marL="88900" marR="88900" marT="50800" marB="50800" anchor="ctr">
                    <a:lnL w="6350" cap="flat" cmpd="sng" algn="ctr">
                      <a:solidFill>
                        <a:srgbClr val="DDE3D9"/>
                      </a:solidFill>
                      <a:prstDash val="solid"/>
                      <a:round/>
                      <a:headEnd type="none" w="med" len="med"/>
                      <a:tailEnd type="none" w="med" len="med"/>
                    </a:lnL>
                    <a:lnR w="6350" cap="flat" cmpd="sng" algn="ctr">
                      <a:solidFill>
                        <a:srgbClr val="DDE3D9"/>
                      </a:solidFill>
                      <a:prstDash val="solid"/>
                      <a:round/>
                      <a:headEnd type="none" w="med" len="med"/>
                      <a:tailEnd type="none" w="med" len="med"/>
                    </a:lnR>
                    <a:lnT w="6350" cap="flat" cmpd="sng" algn="ctr">
                      <a:solidFill>
                        <a:srgbClr val="DDE3D9"/>
                      </a:solidFill>
                      <a:prstDash val="solid"/>
                      <a:round/>
                      <a:headEnd type="none" w="med" len="med"/>
                      <a:tailEnd type="none" w="med" len="med"/>
                    </a:lnT>
                    <a:lnB w="6350" cap="flat" cmpd="sng" algn="ctr">
                      <a:solidFill>
                        <a:srgbClr val="DDE3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20082">
                <a:tc>
                  <a:txBody>
                    <a:bodyPr/>
                    <a:lstStyle/>
                    <a:p>
                      <a:pPr marL="0" indent="0">
                        <a:buNone/>
                      </a:pPr>
                      <a:r>
                        <a:rPr lang="en-US" sz="1050" dirty="0">
                          <a:solidFill>
                            <a:srgbClr val="22301F"/>
                          </a:solidFill>
                          <a:latin typeface="Calibri" pitchFamily="34" charset="0"/>
                          <a:ea typeface="Calibri" pitchFamily="34" charset="-122"/>
                          <a:cs typeface="Calibri" pitchFamily="34" charset="-120"/>
                        </a:rPr>
                        <a:t>Identifier columns</a:t>
                      </a:r>
                      <a:endParaRPr lang="en-US" sz="1050" dirty="0">
                        <a:latin typeface="Calibri" charset="0"/>
                        <a:ea typeface="Calibri" charset="0"/>
                        <a:cs typeface="Calibri" charset="0"/>
                      </a:endParaRPr>
                    </a:p>
                  </a:txBody>
                  <a:tcPr marL="88900" marR="88900" marT="50800" marB="50800" anchor="ctr">
                    <a:lnL w="6350" cap="flat" cmpd="sng" algn="ctr">
                      <a:solidFill>
                        <a:srgbClr val="DDE3D9"/>
                      </a:solidFill>
                      <a:prstDash val="solid"/>
                      <a:round/>
                      <a:headEnd type="none" w="med" len="med"/>
                      <a:tailEnd type="none" w="med" len="med"/>
                    </a:lnL>
                    <a:lnR w="6350" cap="flat" cmpd="sng" algn="ctr">
                      <a:solidFill>
                        <a:srgbClr val="DDE3D9"/>
                      </a:solidFill>
                      <a:prstDash val="solid"/>
                      <a:round/>
                      <a:headEnd type="none" w="med" len="med"/>
                      <a:tailEnd type="none" w="med" len="med"/>
                    </a:lnR>
                    <a:lnT w="6350" cap="flat" cmpd="sng" algn="ctr">
                      <a:solidFill>
                        <a:srgbClr val="DDE3D9"/>
                      </a:solidFill>
                      <a:prstDash val="solid"/>
                      <a:round/>
                      <a:headEnd type="none" w="med" len="med"/>
                      <a:tailEnd type="none" w="med" len="med"/>
                    </a:lnT>
                    <a:lnB w="6350" cap="flat" cmpd="sng" algn="ctr">
                      <a:solidFill>
                        <a:srgbClr val="DDE3D9"/>
                      </a:solidFill>
                      <a:prstDash val="solid"/>
                      <a:round/>
                      <a:headEnd type="none" w="med" len="med"/>
                      <a:tailEnd type="none" w="med" len="med"/>
                    </a:lnB>
                    <a:solidFill>
                      <a:srgbClr val="F1F5EE"/>
                    </a:solidFill>
                  </a:tcPr>
                </a:tc>
                <a:tc>
                  <a:txBody>
                    <a:bodyPr/>
                    <a:lstStyle/>
                    <a:p>
                      <a:pPr marL="0" indent="0">
                        <a:buNone/>
                      </a:pPr>
                      <a:r>
                        <a:rPr lang="en-US" sz="1050" dirty="0">
                          <a:solidFill>
                            <a:srgbClr val="22301F"/>
                          </a:solidFill>
                          <a:latin typeface="Calibri" pitchFamily="34" charset="0"/>
                          <a:ea typeface="Calibri" pitchFamily="34" charset="-122"/>
                          <a:cs typeface="Calibri" pitchFamily="34" charset="-120"/>
                        </a:rPr>
                        <a:t>player_id, match_id, scorecard_id, series_id, team_id, opp_team_id, match_detail_id are arbitrary numbers</a:t>
                      </a:r>
                      <a:endParaRPr lang="en-US" sz="1050" dirty="0">
                        <a:latin typeface="Calibri" charset="0"/>
                        <a:ea typeface="Calibri" charset="0"/>
                        <a:cs typeface="Calibri" charset="0"/>
                      </a:endParaRPr>
                    </a:p>
                  </a:txBody>
                  <a:tcPr marL="88900" marR="88900" marT="50800" marB="50800" anchor="ctr">
                    <a:lnL w="6350" cap="flat" cmpd="sng" algn="ctr">
                      <a:solidFill>
                        <a:srgbClr val="DDE3D9"/>
                      </a:solidFill>
                      <a:prstDash val="solid"/>
                      <a:round/>
                      <a:headEnd type="none" w="med" len="med"/>
                      <a:tailEnd type="none" w="med" len="med"/>
                    </a:lnL>
                    <a:lnR w="6350" cap="flat" cmpd="sng" algn="ctr">
                      <a:solidFill>
                        <a:srgbClr val="DDE3D9"/>
                      </a:solidFill>
                      <a:prstDash val="solid"/>
                      <a:round/>
                      <a:headEnd type="none" w="med" len="med"/>
                      <a:tailEnd type="none" w="med" len="med"/>
                    </a:lnR>
                    <a:lnT w="6350" cap="flat" cmpd="sng" algn="ctr">
                      <a:solidFill>
                        <a:srgbClr val="DDE3D9"/>
                      </a:solidFill>
                      <a:prstDash val="solid"/>
                      <a:round/>
                      <a:headEnd type="none" w="med" len="med"/>
                      <a:tailEnd type="none" w="med" len="med"/>
                    </a:lnT>
                    <a:lnB w="6350" cap="flat" cmpd="sng" algn="ctr">
                      <a:solidFill>
                        <a:srgbClr val="DDE3D9"/>
                      </a:solidFill>
                      <a:prstDash val="solid"/>
                      <a:round/>
                      <a:headEnd type="none" w="med" len="med"/>
                      <a:tailEnd type="none" w="med" len="med"/>
                    </a:lnB>
                    <a:solidFill>
                      <a:srgbClr val="F1F5EE"/>
                    </a:solidFill>
                  </a:tcPr>
                </a:tc>
                <a:tc>
                  <a:txBody>
                    <a:bodyPr/>
                    <a:lstStyle/>
                    <a:p>
                      <a:pPr marL="0" indent="0">
                        <a:buNone/>
                      </a:pPr>
                      <a:r>
                        <a:rPr lang="en-US" sz="1050" dirty="0">
                          <a:solidFill>
                            <a:srgbClr val="22301F"/>
                          </a:solidFill>
                          <a:latin typeface="Calibri" pitchFamily="34" charset="0"/>
                          <a:ea typeface="Calibri" pitchFamily="34" charset="-122"/>
                          <a:cs typeface="Calibri" pitchFamily="34" charset="-120"/>
                        </a:rPr>
                        <a:t>Used only for grouping and joining — never as numeric predictors</a:t>
                      </a:r>
                      <a:endParaRPr lang="en-US" sz="1050" dirty="0">
                        <a:latin typeface="Calibri" charset="0"/>
                        <a:ea typeface="Calibri" charset="0"/>
                        <a:cs typeface="Calibri" charset="0"/>
                      </a:endParaRPr>
                    </a:p>
                  </a:txBody>
                  <a:tcPr marL="88900" marR="88900" marT="50800" marB="50800" anchor="ctr">
                    <a:lnL w="6350" cap="flat" cmpd="sng" algn="ctr">
                      <a:solidFill>
                        <a:srgbClr val="DDE3D9"/>
                      </a:solidFill>
                      <a:prstDash val="solid"/>
                      <a:round/>
                      <a:headEnd type="none" w="med" len="med"/>
                      <a:tailEnd type="none" w="med" len="med"/>
                    </a:lnL>
                    <a:lnR w="6350" cap="flat" cmpd="sng" algn="ctr">
                      <a:solidFill>
                        <a:srgbClr val="DDE3D9"/>
                      </a:solidFill>
                      <a:prstDash val="solid"/>
                      <a:round/>
                      <a:headEnd type="none" w="med" len="med"/>
                      <a:tailEnd type="none" w="med" len="med"/>
                    </a:lnR>
                    <a:lnT w="6350" cap="flat" cmpd="sng" algn="ctr">
                      <a:solidFill>
                        <a:srgbClr val="DDE3D9"/>
                      </a:solidFill>
                      <a:prstDash val="solid"/>
                      <a:round/>
                      <a:headEnd type="none" w="med" len="med"/>
                      <a:tailEnd type="none" w="med" len="med"/>
                    </a:lnT>
                    <a:lnB w="6350" cap="flat" cmpd="sng" algn="ctr">
                      <a:solidFill>
                        <a:srgbClr val="DDE3D9"/>
                      </a:solidFill>
                      <a:prstDash val="solid"/>
                      <a:round/>
                      <a:headEnd type="none" w="med" len="med"/>
                      <a:tailEnd type="none" w="med" len="med"/>
                    </a:lnB>
                    <a:solidFill>
                      <a:srgbClr val="F1F5EE"/>
                    </a:solidFill>
                  </a:tcPr>
                </a:tc>
                <a:extLst>
                  <a:ext uri="{0D108BD9-81ED-4DB2-BD59-A6C34878D82A}">
                    <a16:rowId xmlns:a16="http://schemas.microsoft.com/office/drawing/2014/main" val="10004"/>
                  </a:ext>
                </a:extLst>
              </a:tr>
              <a:tr h="788881">
                <a:tc>
                  <a:txBody>
                    <a:bodyPr/>
                    <a:lstStyle/>
                    <a:p>
                      <a:pPr marL="0" indent="0">
                        <a:buNone/>
                      </a:pPr>
                      <a:r>
                        <a:rPr lang="en-US" sz="1050" dirty="0">
                          <a:solidFill>
                            <a:srgbClr val="22301F"/>
                          </a:solidFill>
                          <a:latin typeface="Calibri" pitchFamily="34" charset="0"/>
                          <a:ea typeface="Calibri" pitchFamily="34" charset="-122"/>
                          <a:cs typeface="Calibri" pitchFamily="34" charset="-120"/>
                        </a:rPr>
                        <a:t>Invalid values</a:t>
                      </a:r>
                      <a:endParaRPr lang="en-US" sz="1050" dirty="0">
                        <a:latin typeface="Calibri" charset="0"/>
                        <a:ea typeface="Calibri" charset="0"/>
                        <a:cs typeface="Calibri" charset="0"/>
                      </a:endParaRPr>
                    </a:p>
                  </a:txBody>
                  <a:tcPr marL="88900" marR="88900" marT="50800" marB="50800" anchor="ctr">
                    <a:lnL w="6350" cap="flat" cmpd="sng" algn="ctr">
                      <a:solidFill>
                        <a:srgbClr val="DDE3D9"/>
                      </a:solidFill>
                      <a:prstDash val="solid"/>
                      <a:round/>
                      <a:headEnd type="none" w="med" len="med"/>
                      <a:tailEnd type="none" w="med" len="med"/>
                    </a:lnL>
                    <a:lnR w="6350" cap="flat" cmpd="sng" algn="ctr">
                      <a:solidFill>
                        <a:srgbClr val="DDE3D9"/>
                      </a:solidFill>
                      <a:prstDash val="solid"/>
                      <a:round/>
                      <a:headEnd type="none" w="med" len="med"/>
                      <a:tailEnd type="none" w="med" len="med"/>
                    </a:lnR>
                    <a:lnT w="6350" cap="flat" cmpd="sng" algn="ctr">
                      <a:solidFill>
                        <a:srgbClr val="DDE3D9"/>
                      </a:solidFill>
                      <a:prstDash val="solid"/>
                      <a:round/>
                      <a:headEnd type="none" w="med" len="med"/>
                      <a:tailEnd type="none" w="med" len="med"/>
                    </a:lnT>
                    <a:lnB w="6350" cap="flat" cmpd="sng" algn="ctr">
                      <a:solidFill>
                        <a:srgbClr val="DDE3D9"/>
                      </a:solidFill>
                      <a:prstDash val="solid"/>
                      <a:round/>
                      <a:headEnd type="none" w="med" len="med"/>
                      <a:tailEnd type="none" w="med" len="med"/>
                    </a:lnB>
                    <a:solidFill>
                      <a:srgbClr val="FFFFFF"/>
                    </a:solidFill>
                  </a:tcPr>
                </a:tc>
                <a:tc>
                  <a:txBody>
                    <a:bodyPr/>
                    <a:lstStyle/>
                    <a:p>
                      <a:pPr marL="0" indent="0">
                        <a:buNone/>
                      </a:pPr>
                      <a:r>
                        <a:rPr lang="en-US" sz="1050" dirty="0">
                          <a:solidFill>
                            <a:srgbClr val="22301F"/>
                          </a:solidFill>
                          <a:latin typeface="Calibri" pitchFamily="34" charset="0"/>
                          <a:ea typeface="Calibri" pitchFamily="34" charset="-122"/>
                          <a:cs typeface="Calibri" pitchFamily="34" charset="-120"/>
                        </a:rPr>
                        <a:t>828 innings with balls = 0 (all have 0 runs and SR 0 — valid “out without facing”). strike_rate reproduces runs/balls×100 exactly in every checkable row; boundary runs never exceed total runs. how_out contains HTML fragments (&amp;dagger;, &amp;amp;)</a:t>
                      </a:r>
                      <a:endParaRPr lang="en-US" sz="1050" dirty="0">
                        <a:latin typeface="Calibri" charset="0"/>
                        <a:ea typeface="Calibri" charset="0"/>
                        <a:cs typeface="Calibri" charset="0"/>
                      </a:endParaRPr>
                    </a:p>
                  </a:txBody>
                  <a:tcPr marL="88900" marR="88900" marT="50800" marB="50800" anchor="ctr">
                    <a:lnL w="6350" cap="flat" cmpd="sng" algn="ctr">
                      <a:solidFill>
                        <a:srgbClr val="DDE3D9"/>
                      </a:solidFill>
                      <a:prstDash val="solid"/>
                      <a:round/>
                      <a:headEnd type="none" w="med" len="med"/>
                      <a:tailEnd type="none" w="med" len="med"/>
                    </a:lnL>
                    <a:lnR w="6350" cap="flat" cmpd="sng" algn="ctr">
                      <a:solidFill>
                        <a:srgbClr val="DDE3D9"/>
                      </a:solidFill>
                      <a:prstDash val="solid"/>
                      <a:round/>
                      <a:headEnd type="none" w="med" len="med"/>
                      <a:tailEnd type="none" w="med" len="med"/>
                    </a:lnR>
                    <a:lnT w="6350" cap="flat" cmpd="sng" algn="ctr">
                      <a:solidFill>
                        <a:srgbClr val="DDE3D9"/>
                      </a:solidFill>
                      <a:prstDash val="solid"/>
                      <a:round/>
                      <a:headEnd type="none" w="med" len="med"/>
                      <a:tailEnd type="none" w="med" len="med"/>
                    </a:lnT>
                    <a:lnB w="6350" cap="flat" cmpd="sng" algn="ctr">
                      <a:solidFill>
                        <a:srgbClr val="DDE3D9"/>
                      </a:solidFill>
                      <a:prstDash val="solid"/>
                      <a:round/>
                      <a:headEnd type="none" w="med" len="med"/>
                      <a:tailEnd type="none" w="med" len="med"/>
                    </a:lnB>
                    <a:solidFill>
                      <a:srgbClr val="FFFFFF"/>
                    </a:solidFill>
                  </a:tcPr>
                </a:tc>
                <a:tc>
                  <a:txBody>
                    <a:bodyPr/>
                    <a:lstStyle/>
                    <a:p>
                      <a:pPr marL="0" indent="0">
                        <a:buNone/>
                      </a:pPr>
                      <a:r>
                        <a:rPr lang="en-US" sz="1050" dirty="0">
                          <a:solidFill>
                            <a:srgbClr val="22301F"/>
                          </a:solidFill>
                          <a:latin typeface="Calibri" pitchFamily="34" charset="0"/>
                          <a:ea typeface="Calibri" pitchFamily="34" charset="-122"/>
                          <a:cs typeface="Calibri" pitchFamily="34" charset="-120"/>
                        </a:rPr>
                        <a:t>No impossible statistics found. Keep 0-ball innings; decode HTML entities in how_out</a:t>
                      </a:r>
                      <a:endParaRPr lang="en-US" sz="1050" dirty="0">
                        <a:latin typeface="Calibri" charset="0"/>
                        <a:ea typeface="Calibri" charset="0"/>
                        <a:cs typeface="Calibri" charset="0"/>
                      </a:endParaRPr>
                    </a:p>
                  </a:txBody>
                  <a:tcPr marL="88900" marR="88900" marT="50800" marB="50800" anchor="ctr">
                    <a:lnL w="6350" cap="flat" cmpd="sng" algn="ctr">
                      <a:solidFill>
                        <a:srgbClr val="DDE3D9"/>
                      </a:solidFill>
                      <a:prstDash val="solid"/>
                      <a:round/>
                      <a:headEnd type="none" w="med" len="med"/>
                      <a:tailEnd type="none" w="med" len="med"/>
                    </a:lnL>
                    <a:lnR w="6350" cap="flat" cmpd="sng" algn="ctr">
                      <a:solidFill>
                        <a:srgbClr val="DDE3D9"/>
                      </a:solidFill>
                      <a:prstDash val="solid"/>
                      <a:round/>
                      <a:headEnd type="none" w="med" len="med"/>
                      <a:tailEnd type="none" w="med" len="med"/>
                    </a:lnR>
                    <a:lnT w="6350" cap="flat" cmpd="sng" algn="ctr">
                      <a:solidFill>
                        <a:srgbClr val="DDE3D9"/>
                      </a:solidFill>
                      <a:prstDash val="solid"/>
                      <a:round/>
                      <a:headEnd type="none" w="med" len="med"/>
                      <a:tailEnd type="none" w="med" len="med"/>
                    </a:lnT>
                    <a:lnB w="6350" cap="flat" cmpd="sng" algn="ctr">
                      <a:solidFill>
                        <a:srgbClr val="DDE3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3035888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EFE7"/>
        </a:solidFill>
        <a:effectLst/>
      </p:bgPr>
    </p:bg>
    <p:spTree>
      <p:nvGrpSpPr>
        <p:cNvPr id="1" name="">
          <a:extLst>
            <a:ext uri="{FF2B5EF4-FFF2-40B4-BE49-F238E27FC236}">
              <a16:creationId xmlns:a16="http://schemas.microsoft.com/office/drawing/2014/main" id="{A7E6D29C-36F0-9C3A-51F1-875918DB2F1A}"/>
            </a:ext>
          </a:extLst>
        </p:cNvPr>
        <p:cNvGrpSpPr/>
        <p:nvPr/>
      </p:nvGrpSpPr>
      <p:grpSpPr>
        <a:xfrm>
          <a:off x="0" y="0"/>
          <a:ext cx="0" cy="0"/>
          <a:chOff x="0" y="0"/>
          <a:chExt cx="0" cy="0"/>
        </a:xfrm>
      </p:grpSpPr>
      <p:sp>
        <p:nvSpPr>
          <p:cNvPr id="20" name="Shape 7">
            <a:extLst>
              <a:ext uri="{FF2B5EF4-FFF2-40B4-BE49-F238E27FC236}">
                <a16:creationId xmlns:a16="http://schemas.microsoft.com/office/drawing/2014/main" id="{62E53C6E-C3BA-AD31-2A84-D16FD9249020}"/>
              </a:ext>
            </a:extLst>
          </p:cNvPr>
          <p:cNvSpPr/>
          <p:nvPr/>
        </p:nvSpPr>
        <p:spPr>
          <a:xfrm>
            <a:off x="502920" y="5120640"/>
            <a:ext cx="11155680" cy="566928"/>
          </a:xfrm>
          <a:prstGeom prst="roundRect">
            <a:avLst>
              <a:gd name="adj" fmla="val 6452"/>
            </a:avLst>
          </a:prstGeom>
          <a:solidFill>
            <a:srgbClr val="E8F0E4"/>
          </a:solidFill>
          <a:ln/>
        </p:spPr>
      </p:sp>
      <p:sp>
        <p:nvSpPr>
          <p:cNvPr id="2" name="Text 0">
            <a:extLst>
              <a:ext uri="{FF2B5EF4-FFF2-40B4-BE49-F238E27FC236}">
                <a16:creationId xmlns:a16="http://schemas.microsoft.com/office/drawing/2014/main" id="{356A1D59-99D8-E1C9-6450-7E3A60301ECC}"/>
              </a:ext>
            </a:extLst>
          </p:cNvPr>
          <p:cNvSpPr txBox="1"/>
          <p:nvPr/>
        </p:nvSpPr>
        <p:spPr>
          <a:xfrm>
            <a:off x="11183112" y="6382512"/>
            <a:ext cx="548640" cy="274320"/>
          </a:xfrm>
          <a:prstGeom prst="rect">
            <a:avLst/>
          </a:prstGeom>
          <a:noFill/>
          <a:ln/>
        </p:spPr>
        <p:txBody>
          <a:bodyPr wrap="square" lIns="0" tIns="0" rIns="0" bIns="0" rtlCol="0" anchor="ctr"/>
          <a:lstStyle/>
          <a:p>
            <a:pPr marL="0" indent="0" algn="r">
              <a:buNone/>
            </a:pPr>
            <a:r>
              <a:rPr lang="en-US" sz="1100" b="1" dirty="0">
                <a:solidFill>
                  <a:srgbClr val="C08A2E"/>
                </a:solidFill>
                <a:latin typeface="Cambria" pitchFamily="34" charset="0"/>
                <a:ea typeface="Cambria" pitchFamily="34" charset="-122"/>
                <a:cs typeface="Cambria" pitchFamily="34" charset="-120"/>
              </a:rPr>
              <a:t>06</a:t>
            </a:r>
            <a:endParaRPr lang="en-US" sz="1100" dirty="0"/>
          </a:p>
        </p:txBody>
      </p:sp>
      <p:sp>
        <p:nvSpPr>
          <p:cNvPr id="3" name="Text 1">
            <a:extLst>
              <a:ext uri="{FF2B5EF4-FFF2-40B4-BE49-F238E27FC236}">
                <a16:creationId xmlns:a16="http://schemas.microsoft.com/office/drawing/2014/main" id="{A1E983D0-DCF5-DF7C-75C4-66858E75A865}"/>
              </a:ext>
            </a:extLst>
          </p:cNvPr>
          <p:cNvSpPr txBox="1"/>
          <p:nvPr/>
        </p:nvSpPr>
        <p:spPr>
          <a:xfrm>
            <a:off x="566928" y="411480"/>
            <a:ext cx="8229600" cy="219456"/>
          </a:xfrm>
          <a:prstGeom prst="rect">
            <a:avLst/>
          </a:prstGeom>
          <a:noFill/>
          <a:ln/>
        </p:spPr>
        <p:txBody>
          <a:bodyPr wrap="square" lIns="0" tIns="0" rIns="0" bIns="0" rtlCol="0" anchor="ctr"/>
          <a:lstStyle/>
          <a:p>
            <a:pPr marL="0" indent="0">
              <a:buNone/>
            </a:pPr>
            <a:r>
              <a:rPr lang="en-US" sz="950" b="1" kern="0" spc="200" dirty="0">
                <a:solidFill>
                  <a:srgbClr val="C08A2E"/>
                </a:solidFill>
                <a:latin typeface="Calibri" pitchFamily="34" charset="0"/>
                <a:ea typeface="Calibri" pitchFamily="34" charset="-122"/>
                <a:cs typeface="Calibri" pitchFamily="34" charset="-120"/>
              </a:rPr>
              <a:t>PREPARATION</a:t>
            </a:r>
            <a:endParaRPr lang="en-US" sz="950" dirty="0"/>
          </a:p>
        </p:txBody>
      </p:sp>
      <p:sp>
        <p:nvSpPr>
          <p:cNvPr id="4" name="Text 2">
            <a:extLst>
              <a:ext uri="{FF2B5EF4-FFF2-40B4-BE49-F238E27FC236}">
                <a16:creationId xmlns:a16="http://schemas.microsoft.com/office/drawing/2014/main" id="{291F303E-12B0-8A3A-2204-6CC6DAD343AA}"/>
              </a:ext>
            </a:extLst>
          </p:cNvPr>
          <p:cNvSpPr txBox="1"/>
          <p:nvPr/>
        </p:nvSpPr>
        <p:spPr>
          <a:xfrm>
            <a:off x="566928" y="667512"/>
            <a:ext cx="11055096" cy="502920"/>
          </a:xfrm>
          <a:prstGeom prst="rect">
            <a:avLst/>
          </a:prstGeom>
          <a:noFill/>
          <a:ln/>
        </p:spPr>
        <p:txBody>
          <a:bodyPr wrap="square" lIns="0" tIns="0" rIns="0" bIns="0" rtlCol="0" anchor="ctr"/>
          <a:lstStyle/>
          <a:p>
            <a:r>
              <a:rPr lang="en-US" sz="2700" b="1" dirty="0">
                <a:solidFill>
                  <a:srgbClr val="1B4332"/>
                </a:solidFill>
                <a:latin typeface="Cambria" pitchFamily="34" charset="0"/>
                <a:ea typeface="Cambria" pitchFamily="34" charset="-122"/>
                <a:cs typeface="Cambria" pitchFamily="34" charset="-120"/>
              </a:rPr>
              <a:t>EDA — Feature Distributions</a:t>
            </a:r>
            <a:endParaRPr lang="en-US" sz="2700" dirty="0"/>
          </a:p>
        </p:txBody>
      </p:sp>
      <p:pic>
        <p:nvPicPr>
          <p:cNvPr id="6" name="Image 0" descr="/home/claude/img/feature_dist.png">
            <a:extLst>
              <a:ext uri="{FF2B5EF4-FFF2-40B4-BE49-F238E27FC236}">
                <a16:creationId xmlns:a16="http://schemas.microsoft.com/office/drawing/2014/main" id="{47A6DAF5-AD37-6EDB-BC8A-42E5874F28A9}"/>
              </a:ext>
            </a:extLst>
          </p:cNvPr>
          <p:cNvPicPr>
            <a:picLocks noChangeAspect="1"/>
          </p:cNvPicPr>
          <p:nvPr/>
        </p:nvPicPr>
        <p:blipFill>
          <a:blip r:embed="rId3"/>
          <a:stretch>
            <a:fillRect/>
          </a:stretch>
        </p:blipFill>
        <p:spPr>
          <a:xfrm>
            <a:off x="167255" y="1275588"/>
            <a:ext cx="6435332" cy="3657600"/>
          </a:xfrm>
          <a:prstGeom prst="rect">
            <a:avLst/>
          </a:prstGeom>
        </p:spPr>
      </p:pic>
      <p:sp>
        <p:nvSpPr>
          <p:cNvPr id="8" name="Shape 4">
            <a:extLst>
              <a:ext uri="{FF2B5EF4-FFF2-40B4-BE49-F238E27FC236}">
                <a16:creationId xmlns:a16="http://schemas.microsoft.com/office/drawing/2014/main" id="{2F49537A-4A18-6F98-E9B3-6A5DBDEBF5C8}"/>
              </a:ext>
            </a:extLst>
          </p:cNvPr>
          <p:cNvSpPr/>
          <p:nvPr/>
        </p:nvSpPr>
        <p:spPr>
          <a:xfrm>
            <a:off x="8321040" y="1234440"/>
            <a:ext cx="3337560" cy="3739896"/>
          </a:xfrm>
          <a:prstGeom prst="roundRect">
            <a:avLst>
              <a:gd name="adj" fmla="val 1096"/>
            </a:avLst>
          </a:prstGeom>
          <a:solidFill>
            <a:srgbClr val="F1F5EE"/>
          </a:solidFill>
          <a:ln/>
        </p:spPr>
      </p:sp>
      <p:sp>
        <p:nvSpPr>
          <p:cNvPr id="18" name="Text 8">
            <a:extLst>
              <a:ext uri="{FF2B5EF4-FFF2-40B4-BE49-F238E27FC236}">
                <a16:creationId xmlns:a16="http://schemas.microsoft.com/office/drawing/2014/main" id="{6691BAC5-D8FA-5050-D373-BA6BABB58BEE}"/>
              </a:ext>
            </a:extLst>
          </p:cNvPr>
          <p:cNvSpPr txBox="1"/>
          <p:nvPr/>
        </p:nvSpPr>
        <p:spPr>
          <a:xfrm>
            <a:off x="731520" y="5120640"/>
            <a:ext cx="10744200" cy="566928"/>
          </a:xfrm>
          <a:prstGeom prst="rect">
            <a:avLst/>
          </a:prstGeom>
          <a:noFill/>
          <a:ln/>
        </p:spPr>
        <p:txBody>
          <a:bodyPr wrap="square" lIns="0" tIns="0" rIns="0" bIns="0" rtlCol="0" anchor="ctr"/>
          <a:lstStyle/>
          <a:p>
            <a:pPr marL="0" indent="0">
              <a:buNone/>
            </a:pPr>
            <a:r>
              <a:rPr lang="en-US" sz="1100" b="1" dirty="0">
                <a:solidFill>
                  <a:srgbClr val="2C5F2D"/>
                </a:solidFill>
                <a:latin typeface="Calibri" pitchFamily="34" charset="0"/>
                <a:ea typeface="Calibri" pitchFamily="34" charset="-122"/>
                <a:cs typeface="Calibri" pitchFamily="34" charset="-120"/>
              </a:rPr>
              <a:t>Why this matters before modelling:  </a:t>
            </a:r>
            <a:r>
              <a:rPr lang="en-US" sz="1100" dirty="0">
                <a:solidFill>
                  <a:srgbClr val="22301F"/>
                </a:solidFill>
                <a:latin typeface="Calibri" pitchFamily="34" charset="0"/>
                <a:ea typeface="Calibri" pitchFamily="34" charset="-122"/>
                <a:cs typeface="Calibri" pitchFamily="34" charset="-120"/>
              </a:rPr>
              <a:t>Ridge and Lasso penalise the size of the coefficients. A feature measured in the hundreds needs a small coefficient and a feature measured in units needs a large one, so an unscaled penalty punishes the small-scale features unfairly. → StandardScaler first, then Ridge / Lasso.</a:t>
            </a:r>
            <a:endParaRPr lang="en-US" sz="1100" dirty="0"/>
          </a:p>
        </p:txBody>
      </p:sp>
      <p:pic>
        <p:nvPicPr>
          <p:cNvPr id="22" name="Picture 21">
            <a:extLst>
              <a:ext uri="{FF2B5EF4-FFF2-40B4-BE49-F238E27FC236}">
                <a16:creationId xmlns:a16="http://schemas.microsoft.com/office/drawing/2014/main" id="{DEA4BB8C-37F1-959C-698A-0CC2439D7F81}"/>
              </a:ext>
            </a:extLst>
          </p:cNvPr>
          <p:cNvPicPr>
            <a:picLocks noChangeAspect="1"/>
          </p:cNvPicPr>
          <p:nvPr/>
        </p:nvPicPr>
        <p:blipFill>
          <a:blip r:embed="rId4"/>
          <a:stretch>
            <a:fillRect/>
          </a:stretch>
        </p:blipFill>
        <p:spPr>
          <a:xfrm>
            <a:off x="6627704" y="1266444"/>
            <a:ext cx="5593951" cy="3506724"/>
          </a:xfrm>
          <a:prstGeom prst="rect">
            <a:avLst/>
          </a:prstGeom>
        </p:spPr>
      </p:pic>
    </p:spTree>
    <p:extLst>
      <p:ext uri="{BB962C8B-B14F-4D97-AF65-F5344CB8AC3E}">
        <p14:creationId xmlns:p14="http://schemas.microsoft.com/office/powerpoint/2010/main" val="34125982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EFE7"/>
        </a:solidFill>
        <a:effectLst/>
      </p:bgPr>
    </p:bg>
    <p:spTree>
      <p:nvGrpSpPr>
        <p:cNvPr id="1" name="">
          <a:extLst>
            <a:ext uri="{FF2B5EF4-FFF2-40B4-BE49-F238E27FC236}">
              <a16:creationId xmlns:a16="http://schemas.microsoft.com/office/drawing/2014/main" id="{A4B3DE75-3DCD-ACF6-24C5-E8BB7F2FB559}"/>
            </a:ext>
          </a:extLst>
        </p:cNvPr>
        <p:cNvGrpSpPr/>
        <p:nvPr/>
      </p:nvGrpSpPr>
      <p:grpSpPr>
        <a:xfrm>
          <a:off x="0" y="0"/>
          <a:ext cx="0" cy="0"/>
          <a:chOff x="0" y="0"/>
          <a:chExt cx="0" cy="0"/>
        </a:xfrm>
      </p:grpSpPr>
      <p:sp>
        <p:nvSpPr>
          <p:cNvPr id="30" name="Shape 12">
            <a:extLst>
              <a:ext uri="{FF2B5EF4-FFF2-40B4-BE49-F238E27FC236}">
                <a16:creationId xmlns:a16="http://schemas.microsoft.com/office/drawing/2014/main" id="{83FAB958-1CD6-7C27-2C48-EA23623DE208}"/>
              </a:ext>
            </a:extLst>
          </p:cNvPr>
          <p:cNvSpPr/>
          <p:nvPr/>
        </p:nvSpPr>
        <p:spPr>
          <a:xfrm>
            <a:off x="6720840" y="5632704"/>
            <a:ext cx="4937760" cy="365760"/>
          </a:xfrm>
          <a:prstGeom prst="roundRect">
            <a:avLst>
              <a:gd name="adj" fmla="val 12500"/>
            </a:avLst>
          </a:prstGeom>
          <a:solidFill>
            <a:srgbClr val="F1F5EE"/>
          </a:solidFill>
          <a:ln/>
        </p:spPr>
      </p:sp>
      <p:sp>
        <p:nvSpPr>
          <p:cNvPr id="26" name="Shape 10">
            <a:extLst>
              <a:ext uri="{FF2B5EF4-FFF2-40B4-BE49-F238E27FC236}">
                <a16:creationId xmlns:a16="http://schemas.microsoft.com/office/drawing/2014/main" id="{0F3DF52C-4EDA-1DF7-BD51-61A517A34A87}"/>
              </a:ext>
            </a:extLst>
          </p:cNvPr>
          <p:cNvSpPr/>
          <p:nvPr/>
        </p:nvSpPr>
        <p:spPr>
          <a:xfrm>
            <a:off x="6720840" y="5193792"/>
            <a:ext cx="4937760" cy="365760"/>
          </a:xfrm>
          <a:prstGeom prst="roundRect">
            <a:avLst>
              <a:gd name="adj" fmla="val 12500"/>
            </a:avLst>
          </a:prstGeom>
          <a:solidFill>
            <a:srgbClr val="F1F5EE"/>
          </a:solidFill>
          <a:ln/>
        </p:spPr>
      </p:sp>
      <p:sp>
        <p:nvSpPr>
          <p:cNvPr id="22" name="Shape 8">
            <a:extLst>
              <a:ext uri="{FF2B5EF4-FFF2-40B4-BE49-F238E27FC236}">
                <a16:creationId xmlns:a16="http://schemas.microsoft.com/office/drawing/2014/main" id="{A44C6287-88AC-D1E9-CDBE-9A68AEBA85EA}"/>
              </a:ext>
            </a:extLst>
          </p:cNvPr>
          <p:cNvSpPr/>
          <p:nvPr/>
        </p:nvSpPr>
        <p:spPr>
          <a:xfrm>
            <a:off x="6720840" y="4754880"/>
            <a:ext cx="4937760" cy="365760"/>
          </a:xfrm>
          <a:prstGeom prst="roundRect">
            <a:avLst>
              <a:gd name="adj" fmla="val 12500"/>
            </a:avLst>
          </a:prstGeom>
          <a:solidFill>
            <a:srgbClr val="F1F5EE"/>
          </a:solidFill>
          <a:ln/>
        </p:spPr>
      </p:sp>
      <p:sp>
        <p:nvSpPr>
          <p:cNvPr id="2" name="Text 0">
            <a:extLst>
              <a:ext uri="{FF2B5EF4-FFF2-40B4-BE49-F238E27FC236}">
                <a16:creationId xmlns:a16="http://schemas.microsoft.com/office/drawing/2014/main" id="{8DBF6BB3-8A5C-BF0B-4F98-385DD9C70902}"/>
              </a:ext>
            </a:extLst>
          </p:cNvPr>
          <p:cNvSpPr txBox="1"/>
          <p:nvPr/>
        </p:nvSpPr>
        <p:spPr>
          <a:xfrm>
            <a:off x="11183112" y="6382512"/>
            <a:ext cx="548640" cy="274320"/>
          </a:xfrm>
          <a:prstGeom prst="rect">
            <a:avLst/>
          </a:prstGeom>
          <a:noFill/>
          <a:ln/>
        </p:spPr>
        <p:txBody>
          <a:bodyPr wrap="square" lIns="0" tIns="0" rIns="0" bIns="0" rtlCol="0" anchor="ctr"/>
          <a:lstStyle/>
          <a:p>
            <a:pPr marL="0" indent="0" algn="r">
              <a:buNone/>
            </a:pPr>
            <a:r>
              <a:rPr lang="en-US" sz="1100" b="1" dirty="0">
                <a:solidFill>
                  <a:srgbClr val="C08A2E"/>
                </a:solidFill>
                <a:latin typeface="Cambria" pitchFamily="34" charset="0"/>
                <a:ea typeface="Cambria" pitchFamily="34" charset="-122"/>
                <a:cs typeface="Cambria" pitchFamily="34" charset="-120"/>
              </a:rPr>
              <a:t>06</a:t>
            </a:r>
            <a:endParaRPr lang="en-US" sz="1100" dirty="0"/>
          </a:p>
        </p:txBody>
      </p:sp>
      <p:sp>
        <p:nvSpPr>
          <p:cNvPr id="4" name="Text 2">
            <a:extLst>
              <a:ext uri="{FF2B5EF4-FFF2-40B4-BE49-F238E27FC236}">
                <a16:creationId xmlns:a16="http://schemas.microsoft.com/office/drawing/2014/main" id="{3949FE33-6E43-EA70-F918-09582496A406}"/>
              </a:ext>
            </a:extLst>
          </p:cNvPr>
          <p:cNvSpPr txBox="1"/>
          <p:nvPr/>
        </p:nvSpPr>
        <p:spPr>
          <a:xfrm>
            <a:off x="568452" y="525780"/>
            <a:ext cx="11055096" cy="502920"/>
          </a:xfrm>
          <a:prstGeom prst="rect">
            <a:avLst/>
          </a:prstGeom>
          <a:noFill/>
          <a:ln/>
        </p:spPr>
        <p:txBody>
          <a:bodyPr wrap="square" lIns="0" tIns="0" rIns="0" bIns="0" rtlCol="0" anchor="ctr"/>
          <a:lstStyle/>
          <a:p>
            <a:r>
              <a:rPr lang="en-US" sz="2700" b="1" dirty="0">
                <a:solidFill>
                  <a:srgbClr val="1B4332"/>
                </a:solidFill>
                <a:latin typeface="Cambria" pitchFamily="34" charset="0"/>
                <a:ea typeface="Cambria" pitchFamily="34" charset="-122"/>
                <a:cs typeface="Cambria" pitchFamily="34" charset="-120"/>
              </a:rPr>
              <a:t>Correlation Analysis &amp; Multicollinearity</a:t>
            </a:r>
            <a:endParaRPr lang="en-US" sz="2700" dirty="0"/>
          </a:p>
        </p:txBody>
      </p:sp>
      <p:pic>
        <p:nvPicPr>
          <p:cNvPr id="6" name="Image 0" descr="/home/claude/img/corr_heatmap.png">
            <a:extLst>
              <a:ext uri="{FF2B5EF4-FFF2-40B4-BE49-F238E27FC236}">
                <a16:creationId xmlns:a16="http://schemas.microsoft.com/office/drawing/2014/main" id="{92F8EA84-FF12-115A-1FFB-1212785BEC6E}"/>
              </a:ext>
            </a:extLst>
          </p:cNvPr>
          <p:cNvPicPr>
            <a:picLocks noChangeAspect="1"/>
          </p:cNvPicPr>
          <p:nvPr/>
        </p:nvPicPr>
        <p:blipFill>
          <a:blip r:embed="rId3"/>
          <a:stretch>
            <a:fillRect/>
          </a:stretch>
        </p:blipFill>
        <p:spPr>
          <a:xfrm>
            <a:off x="457200" y="1188720"/>
            <a:ext cx="6035040" cy="5029200"/>
          </a:xfrm>
          <a:prstGeom prst="rect">
            <a:avLst/>
          </a:prstGeom>
        </p:spPr>
      </p:pic>
      <p:sp>
        <p:nvSpPr>
          <p:cNvPr id="10" name="Text 5">
            <a:extLst>
              <a:ext uri="{FF2B5EF4-FFF2-40B4-BE49-F238E27FC236}">
                <a16:creationId xmlns:a16="http://schemas.microsoft.com/office/drawing/2014/main" id="{6FCE8DC9-86D9-2EE8-D71F-4B5C389D47F7}"/>
              </a:ext>
            </a:extLst>
          </p:cNvPr>
          <p:cNvSpPr txBox="1"/>
          <p:nvPr/>
        </p:nvSpPr>
        <p:spPr>
          <a:xfrm>
            <a:off x="6720840" y="3977640"/>
            <a:ext cx="4937760" cy="274320"/>
          </a:xfrm>
          <a:prstGeom prst="rect">
            <a:avLst/>
          </a:prstGeom>
          <a:noFill/>
          <a:ln/>
        </p:spPr>
        <p:txBody>
          <a:bodyPr wrap="square" lIns="0" tIns="0" rIns="0" bIns="0"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Why this decides the algorithm</a:t>
            </a:r>
            <a:endParaRPr lang="en-US" sz="1300" dirty="0"/>
          </a:p>
        </p:txBody>
      </p:sp>
      <p:sp>
        <p:nvSpPr>
          <p:cNvPr id="12" name="Shape 6">
            <a:extLst>
              <a:ext uri="{FF2B5EF4-FFF2-40B4-BE49-F238E27FC236}">
                <a16:creationId xmlns:a16="http://schemas.microsoft.com/office/drawing/2014/main" id="{22980631-DBBA-209A-E1F5-442375ED1ED4}"/>
              </a:ext>
            </a:extLst>
          </p:cNvPr>
          <p:cNvSpPr/>
          <p:nvPr/>
        </p:nvSpPr>
        <p:spPr>
          <a:xfrm>
            <a:off x="6720840" y="4315968"/>
            <a:ext cx="4937760" cy="365760"/>
          </a:xfrm>
          <a:prstGeom prst="roundRect">
            <a:avLst>
              <a:gd name="adj" fmla="val 12500"/>
            </a:avLst>
          </a:prstGeom>
          <a:solidFill>
            <a:srgbClr val="E8F0E4"/>
          </a:solidFill>
          <a:ln/>
        </p:spPr>
      </p:sp>
      <p:sp>
        <p:nvSpPr>
          <p:cNvPr id="14" name="Text 7">
            <a:extLst>
              <a:ext uri="{FF2B5EF4-FFF2-40B4-BE49-F238E27FC236}">
                <a16:creationId xmlns:a16="http://schemas.microsoft.com/office/drawing/2014/main" id="{C439F42E-A4C6-6DDD-2E25-AA52C01AE230}"/>
              </a:ext>
            </a:extLst>
          </p:cNvPr>
          <p:cNvSpPr txBox="1"/>
          <p:nvPr/>
        </p:nvSpPr>
        <p:spPr>
          <a:xfrm>
            <a:off x="6903720" y="4315968"/>
            <a:ext cx="4617720" cy="365760"/>
          </a:xfrm>
          <a:prstGeom prst="rect">
            <a:avLst/>
          </a:prstGeom>
          <a:noFill/>
          <a:ln/>
        </p:spPr>
        <p:txBody>
          <a:bodyPr wrap="square" lIns="0" tIns="0" rIns="0" bIns="0" rtlCol="0" anchor="ctr"/>
          <a:lstStyle/>
          <a:p>
            <a:pPr marL="0" indent="0">
              <a:buNone/>
            </a:pPr>
            <a:r>
              <a:rPr lang="en-US" sz="1100" dirty="0">
                <a:solidFill>
                  <a:srgbClr val="22301F"/>
                </a:solidFill>
                <a:latin typeface="Calibri" pitchFamily="34" charset="0"/>
                <a:ea typeface="Calibri" pitchFamily="34" charset="-122"/>
                <a:cs typeface="Calibri" pitchFamily="34" charset="-120"/>
              </a:rPr>
              <a:t>Correlated predictors (r up to 0.94)</a:t>
            </a:r>
            <a:endParaRPr lang="en-US" sz="1100" dirty="0"/>
          </a:p>
        </p:txBody>
      </p:sp>
      <p:sp>
        <p:nvSpPr>
          <p:cNvPr id="20" name="Text 9">
            <a:extLst>
              <a:ext uri="{FF2B5EF4-FFF2-40B4-BE49-F238E27FC236}">
                <a16:creationId xmlns:a16="http://schemas.microsoft.com/office/drawing/2014/main" id="{FAC036B2-5217-C3C5-A6D8-C65F04658363}"/>
              </a:ext>
            </a:extLst>
          </p:cNvPr>
          <p:cNvSpPr txBox="1"/>
          <p:nvPr/>
        </p:nvSpPr>
        <p:spPr>
          <a:xfrm>
            <a:off x="6903720" y="4754880"/>
            <a:ext cx="4617720" cy="365760"/>
          </a:xfrm>
          <a:prstGeom prst="rect">
            <a:avLst/>
          </a:prstGeom>
          <a:noFill/>
          <a:ln/>
        </p:spPr>
        <p:txBody>
          <a:bodyPr wrap="square" lIns="0" tIns="0" rIns="0" bIns="0" rtlCol="0" anchor="ctr"/>
          <a:lstStyle/>
          <a:p>
            <a:pPr marL="0" indent="0">
              <a:buNone/>
            </a:pPr>
            <a:r>
              <a:rPr lang="en-US" sz="1100" dirty="0">
                <a:solidFill>
                  <a:srgbClr val="22301F"/>
                </a:solidFill>
                <a:latin typeface="Calibri" pitchFamily="34" charset="0"/>
                <a:ea typeface="Calibri" pitchFamily="34" charset="-122"/>
                <a:cs typeface="Calibri" pitchFamily="34" charset="-120"/>
              </a:rPr>
              <a:t>Ordinary least squares cannot tell them apart</a:t>
            </a:r>
            <a:endParaRPr lang="en-US" sz="1100" dirty="0"/>
          </a:p>
        </p:txBody>
      </p:sp>
      <p:sp>
        <p:nvSpPr>
          <p:cNvPr id="24" name="Text 11">
            <a:extLst>
              <a:ext uri="{FF2B5EF4-FFF2-40B4-BE49-F238E27FC236}">
                <a16:creationId xmlns:a16="http://schemas.microsoft.com/office/drawing/2014/main" id="{96E13CAF-2D14-41BE-D2AA-C3608E617533}"/>
              </a:ext>
            </a:extLst>
          </p:cNvPr>
          <p:cNvSpPr txBox="1"/>
          <p:nvPr/>
        </p:nvSpPr>
        <p:spPr>
          <a:xfrm>
            <a:off x="6903720" y="5193792"/>
            <a:ext cx="4617720" cy="365760"/>
          </a:xfrm>
          <a:prstGeom prst="rect">
            <a:avLst/>
          </a:prstGeom>
          <a:noFill/>
          <a:ln/>
        </p:spPr>
        <p:txBody>
          <a:bodyPr wrap="square" lIns="0" tIns="0" rIns="0" bIns="0" rtlCol="0" anchor="ctr"/>
          <a:lstStyle/>
          <a:p>
            <a:pPr marL="0" indent="0">
              <a:buNone/>
            </a:pPr>
            <a:r>
              <a:rPr lang="en-US" sz="1100" dirty="0">
                <a:solidFill>
                  <a:srgbClr val="22301F"/>
                </a:solidFill>
                <a:latin typeface="Calibri" pitchFamily="34" charset="0"/>
                <a:ea typeface="Calibri" pitchFamily="34" charset="-122"/>
                <a:cs typeface="Calibri" pitchFamily="34" charset="-120"/>
              </a:rPr>
              <a:t>Coefficients become large, unstable, sign-flipping</a:t>
            </a:r>
            <a:endParaRPr lang="en-US" sz="1100" dirty="0"/>
          </a:p>
        </p:txBody>
      </p:sp>
      <p:sp>
        <p:nvSpPr>
          <p:cNvPr id="28" name="Text 13">
            <a:extLst>
              <a:ext uri="{FF2B5EF4-FFF2-40B4-BE49-F238E27FC236}">
                <a16:creationId xmlns:a16="http://schemas.microsoft.com/office/drawing/2014/main" id="{AD9AFF10-F470-424A-F253-43223B0DAC4B}"/>
              </a:ext>
            </a:extLst>
          </p:cNvPr>
          <p:cNvSpPr txBox="1"/>
          <p:nvPr/>
        </p:nvSpPr>
        <p:spPr>
          <a:xfrm>
            <a:off x="6903720" y="5632704"/>
            <a:ext cx="4617720" cy="365760"/>
          </a:xfrm>
          <a:prstGeom prst="rect">
            <a:avLst/>
          </a:prstGeom>
          <a:noFill/>
          <a:ln/>
        </p:spPr>
        <p:txBody>
          <a:bodyPr wrap="square" lIns="0" tIns="0" rIns="0" bIns="0" rtlCol="0" anchor="ctr"/>
          <a:lstStyle/>
          <a:p>
            <a:pPr marL="0" indent="0">
              <a:buNone/>
            </a:pPr>
            <a:r>
              <a:rPr lang="en-US" sz="1100" dirty="0">
                <a:solidFill>
                  <a:srgbClr val="22301F"/>
                </a:solidFill>
                <a:latin typeface="Calibri" pitchFamily="34" charset="0"/>
                <a:ea typeface="Calibri" pitchFamily="34" charset="-122"/>
                <a:cs typeface="Calibri" pitchFamily="34" charset="-120"/>
              </a:rPr>
              <a:t>Add a penalty on coefficient size</a:t>
            </a:r>
            <a:endParaRPr lang="en-US" sz="1100" dirty="0"/>
          </a:p>
        </p:txBody>
      </p:sp>
      <p:graphicFrame>
        <p:nvGraphicFramePr>
          <p:cNvPr id="32" name="Table 0">
            <a:extLst>
              <a:ext uri="{FF2B5EF4-FFF2-40B4-BE49-F238E27FC236}">
                <a16:creationId xmlns:a16="http://schemas.microsoft.com/office/drawing/2014/main" id="{386FCDCF-8BF1-4353-F53C-707AD6F89C0D}"/>
              </a:ext>
            </a:extLst>
          </p:cNvPr>
          <p:cNvGraphicFramePr>
            <a:graphicFrameLocks noGrp="1"/>
          </p:cNvGraphicFramePr>
          <p:nvPr>
            <p:extLst>
              <p:ext uri="{D42A27DB-BD31-4B8C-83A1-F6EECF244321}">
                <p14:modId xmlns:p14="http://schemas.microsoft.com/office/powerpoint/2010/main" val="246768039"/>
              </p:ext>
            </p:extLst>
          </p:nvPr>
        </p:nvGraphicFramePr>
        <p:xfrm>
          <a:off x="6684264" y="1520258"/>
          <a:ext cx="4937760" cy="2377440"/>
        </p:xfrm>
        <a:graphic>
          <a:graphicData uri="http://schemas.openxmlformats.org/drawingml/2006/table">
            <a:tbl>
              <a:tblPr/>
              <a:tblGrid>
                <a:gridCol w="38404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tblGrid>
              <a:tr h="29718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Pair</a:t>
                      </a:r>
                      <a:endParaRPr lang="en-US" sz="1000" dirty="0">
                        <a:latin typeface="Calibri" charset="0"/>
                        <a:ea typeface="Calibri" charset="0"/>
                        <a:cs typeface="Calibri" charset="0"/>
                      </a:endParaRPr>
                    </a:p>
                  </a:txBody>
                  <a:tcPr marL="88900" marR="88900" marT="50800" marB="50800" anchor="ctr">
                    <a:lnL w="6350" cap="flat" cmpd="sng" algn="ctr">
                      <a:solidFill>
                        <a:srgbClr val="DDE3D9"/>
                      </a:solidFill>
                      <a:prstDash val="solid"/>
                      <a:round/>
                      <a:headEnd type="none" w="med" len="med"/>
                      <a:tailEnd type="none" w="med" len="med"/>
                    </a:lnL>
                    <a:lnR w="6350" cap="flat" cmpd="sng" algn="ctr">
                      <a:solidFill>
                        <a:srgbClr val="DDE3D9"/>
                      </a:solidFill>
                      <a:prstDash val="solid"/>
                      <a:round/>
                      <a:headEnd type="none" w="med" len="med"/>
                      <a:tailEnd type="none" w="med" len="med"/>
                    </a:lnR>
                    <a:lnT w="6350" cap="flat" cmpd="sng" algn="ctr">
                      <a:solidFill>
                        <a:srgbClr val="DDE3D9"/>
                      </a:solidFill>
                      <a:prstDash val="solid"/>
                      <a:round/>
                      <a:headEnd type="none" w="med" len="med"/>
                      <a:tailEnd type="none" w="med" len="med"/>
                    </a:lnT>
                    <a:lnB w="6350" cap="flat" cmpd="sng" algn="ctr">
                      <a:solidFill>
                        <a:srgbClr val="DDE3D9"/>
                      </a:solidFill>
                      <a:prstDash val="solid"/>
                      <a:round/>
                      <a:headEnd type="none" w="med" len="med"/>
                      <a:tailEnd type="none" w="med" len="med"/>
                    </a:lnB>
                    <a:solidFill>
                      <a:srgbClr val="1B4332"/>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a:t>
                      </a:r>
                      <a:endParaRPr lang="en-US" sz="1000" dirty="0">
                        <a:latin typeface="Calibri" charset="0"/>
                        <a:ea typeface="Calibri" charset="0"/>
                        <a:cs typeface="Calibri" charset="0"/>
                      </a:endParaRPr>
                    </a:p>
                  </a:txBody>
                  <a:tcPr marL="88900" marR="88900" marT="50800" marB="50800" anchor="ctr">
                    <a:lnL w="6350" cap="flat" cmpd="sng" algn="ctr">
                      <a:solidFill>
                        <a:srgbClr val="DDE3D9"/>
                      </a:solidFill>
                      <a:prstDash val="solid"/>
                      <a:round/>
                      <a:headEnd type="none" w="med" len="med"/>
                      <a:tailEnd type="none" w="med" len="med"/>
                    </a:lnL>
                    <a:lnR w="6350" cap="flat" cmpd="sng" algn="ctr">
                      <a:solidFill>
                        <a:srgbClr val="DDE3D9"/>
                      </a:solidFill>
                      <a:prstDash val="solid"/>
                      <a:round/>
                      <a:headEnd type="none" w="med" len="med"/>
                      <a:tailEnd type="none" w="med" len="med"/>
                    </a:lnR>
                    <a:lnT w="6350" cap="flat" cmpd="sng" algn="ctr">
                      <a:solidFill>
                        <a:srgbClr val="DDE3D9"/>
                      </a:solidFill>
                      <a:prstDash val="solid"/>
                      <a:round/>
                      <a:headEnd type="none" w="med" len="med"/>
                      <a:tailEnd type="none" w="med" len="med"/>
                    </a:lnT>
                    <a:lnB w="6350" cap="flat" cmpd="sng" algn="ctr">
                      <a:solidFill>
                        <a:srgbClr val="DDE3D9"/>
                      </a:solidFill>
                      <a:prstDash val="solid"/>
                      <a:round/>
                      <a:headEnd type="none" w="med" len="med"/>
                      <a:tailEnd type="none" w="med" len="med"/>
                    </a:lnB>
                    <a:solidFill>
                      <a:srgbClr val="1B4332"/>
                    </a:solidFill>
                  </a:tcPr>
                </a:tc>
                <a:extLst>
                  <a:ext uri="{0D108BD9-81ED-4DB2-BD59-A6C34878D82A}">
                    <a16:rowId xmlns:a16="http://schemas.microsoft.com/office/drawing/2014/main" val="10000"/>
                  </a:ext>
                </a:extLst>
              </a:tr>
              <a:tr h="297180">
                <a:tc>
                  <a:txBody>
                    <a:bodyPr/>
                    <a:lstStyle/>
                    <a:p>
                      <a:pPr marL="0" indent="0">
                        <a:buNone/>
                      </a:pPr>
                      <a:r>
                        <a:rPr lang="en-US" sz="1050" dirty="0">
                          <a:solidFill>
                            <a:srgbClr val="22301F"/>
                          </a:solidFill>
                          <a:latin typeface="Calibri" pitchFamily="34" charset="0"/>
                          <a:ea typeface="Calibri" pitchFamily="34" charset="-122"/>
                          <a:cs typeface="Calibri" pitchFamily="34" charset="-120"/>
                        </a:rPr>
                        <a:t>career_avg_runs  ↔  career_avg_fours</a:t>
                      </a:r>
                      <a:endParaRPr lang="en-US" sz="1050" dirty="0">
                        <a:latin typeface="Calibri" charset="0"/>
                        <a:ea typeface="Calibri" charset="0"/>
                        <a:cs typeface="Calibri" charset="0"/>
                      </a:endParaRPr>
                    </a:p>
                  </a:txBody>
                  <a:tcPr marL="88900" marR="88900" marT="50800" marB="50800" anchor="ctr">
                    <a:lnL w="6350" cap="flat" cmpd="sng" algn="ctr">
                      <a:solidFill>
                        <a:srgbClr val="DDE3D9"/>
                      </a:solidFill>
                      <a:prstDash val="solid"/>
                      <a:round/>
                      <a:headEnd type="none" w="med" len="med"/>
                      <a:tailEnd type="none" w="med" len="med"/>
                    </a:lnL>
                    <a:lnR w="6350" cap="flat" cmpd="sng" algn="ctr">
                      <a:solidFill>
                        <a:srgbClr val="DDE3D9"/>
                      </a:solidFill>
                      <a:prstDash val="solid"/>
                      <a:round/>
                      <a:headEnd type="none" w="med" len="med"/>
                      <a:tailEnd type="none" w="med" len="med"/>
                    </a:lnR>
                    <a:lnT w="6350" cap="flat" cmpd="sng" algn="ctr">
                      <a:solidFill>
                        <a:srgbClr val="DDE3D9"/>
                      </a:solidFill>
                      <a:prstDash val="solid"/>
                      <a:round/>
                      <a:headEnd type="none" w="med" len="med"/>
                      <a:tailEnd type="none" w="med" len="med"/>
                    </a:lnT>
                    <a:lnB w="6350" cap="flat" cmpd="sng" algn="ctr">
                      <a:solidFill>
                        <a:srgbClr val="DDE3D9"/>
                      </a:solidFill>
                      <a:prstDash val="solid"/>
                      <a:round/>
                      <a:headEnd type="none" w="med" len="med"/>
                      <a:tailEnd type="none" w="med" len="med"/>
                    </a:lnB>
                    <a:solidFill>
                      <a:srgbClr val="FFFFFF"/>
                    </a:solidFill>
                  </a:tcPr>
                </a:tc>
                <a:tc>
                  <a:txBody>
                    <a:bodyPr/>
                    <a:lstStyle/>
                    <a:p>
                      <a:pPr marL="0" indent="0">
                        <a:buNone/>
                      </a:pPr>
                      <a:r>
                        <a:rPr lang="en-US" sz="1050" dirty="0">
                          <a:solidFill>
                            <a:srgbClr val="22301F"/>
                          </a:solidFill>
                          <a:latin typeface="Calibri" pitchFamily="34" charset="0"/>
                          <a:ea typeface="Calibri" pitchFamily="34" charset="-122"/>
                          <a:cs typeface="Calibri" pitchFamily="34" charset="-120"/>
                        </a:rPr>
                        <a:t>+0.94</a:t>
                      </a:r>
                      <a:endParaRPr lang="en-US" sz="1050" dirty="0">
                        <a:latin typeface="Calibri" charset="0"/>
                        <a:ea typeface="Calibri" charset="0"/>
                        <a:cs typeface="Calibri" charset="0"/>
                      </a:endParaRPr>
                    </a:p>
                  </a:txBody>
                  <a:tcPr marL="88900" marR="88900" marT="50800" marB="50800" anchor="ctr">
                    <a:lnL w="6350" cap="flat" cmpd="sng" algn="ctr">
                      <a:solidFill>
                        <a:srgbClr val="DDE3D9"/>
                      </a:solidFill>
                      <a:prstDash val="solid"/>
                      <a:round/>
                      <a:headEnd type="none" w="med" len="med"/>
                      <a:tailEnd type="none" w="med" len="med"/>
                    </a:lnL>
                    <a:lnR w="6350" cap="flat" cmpd="sng" algn="ctr">
                      <a:solidFill>
                        <a:srgbClr val="DDE3D9"/>
                      </a:solidFill>
                      <a:prstDash val="solid"/>
                      <a:round/>
                      <a:headEnd type="none" w="med" len="med"/>
                      <a:tailEnd type="none" w="med" len="med"/>
                    </a:lnR>
                    <a:lnT w="6350" cap="flat" cmpd="sng" algn="ctr">
                      <a:solidFill>
                        <a:srgbClr val="DDE3D9"/>
                      </a:solidFill>
                      <a:prstDash val="solid"/>
                      <a:round/>
                      <a:headEnd type="none" w="med" len="med"/>
                      <a:tailEnd type="none" w="med" len="med"/>
                    </a:lnT>
                    <a:lnB w="6350" cap="flat" cmpd="sng" algn="ctr">
                      <a:solidFill>
                        <a:srgbClr val="DDE3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7180">
                <a:tc>
                  <a:txBody>
                    <a:bodyPr/>
                    <a:lstStyle/>
                    <a:p>
                      <a:pPr marL="0" indent="0">
                        <a:buNone/>
                      </a:pPr>
                      <a:r>
                        <a:rPr lang="en-US" sz="1050" dirty="0">
                          <a:solidFill>
                            <a:srgbClr val="22301F"/>
                          </a:solidFill>
                          <a:latin typeface="Calibri" pitchFamily="34" charset="0"/>
                          <a:ea typeface="Calibri" pitchFamily="34" charset="-122"/>
                          <a:cs typeface="Calibri" pitchFamily="34" charset="-120"/>
                        </a:rPr>
                        <a:t>last5_avg_runs  ↔  last5_avg_fours</a:t>
                      </a:r>
                      <a:endParaRPr lang="en-US" sz="1050" dirty="0">
                        <a:latin typeface="Calibri" charset="0"/>
                        <a:ea typeface="Calibri" charset="0"/>
                        <a:cs typeface="Calibri" charset="0"/>
                      </a:endParaRPr>
                    </a:p>
                  </a:txBody>
                  <a:tcPr marL="88900" marR="88900" marT="50800" marB="50800" anchor="ctr">
                    <a:lnL w="6350" cap="flat" cmpd="sng" algn="ctr">
                      <a:solidFill>
                        <a:srgbClr val="DDE3D9"/>
                      </a:solidFill>
                      <a:prstDash val="solid"/>
                      <a:round/>
                      <a:headEnd type="none" w="med" len="med"/>
                      <a:tailEnd type="none" w="med" len="med"/>
                    </a:lnL>
                    <a:lnR w="6350" cap="flat" cmpd="sng" algn="ctr">
                      <a:solidFill>
                        <a:srgbClr val="DDE3D9"/>
                      </a:solidFill>
                      <a:prstDash val="solid"/>
                      <a:round/>
                      <a:headEnd type="none" w="med" len="med"/>
                      <a:tailEnd type="none" w="med" len="med"/>
                    </a:lnR>
                    <a:lnT w="6350" cap="flat" cmpd="sng" algn="ctr">
                      <a:solidFill>
                        <a:srgbClr val="DDE3D9"/>
                      </a:solidFill>
                      <a:prstDash val="solid"/>
                      <a:round/>
                      <a:headEnd type="none" w="med" len="med"/>
                      <a:tailEnd type="none" w="med" len="med"/>
                    </a:lnT>
                    <a:lnB w="6350" cap="flat" cmpd="sng" algn="ctr">
                      <a:solidFill>
                        <a:srgbClr val="DDE3D9"/>
                      </a:solidFill>
                      <a:prstDash val="solid"/>
                      <a:round/>
                      <a:headEnd type="none" w="med" len="med"/>
                      <a:tailEnd type="none" w="med" len="med"/>
                    </a:lnB>
                    <a:solidFill>
                      <a:srgbClr val="F1F5EE"/>
                    </a:solidFill>
                  </a:tcPr>
                </a:tc>
                <a:tc>
                  <a:txBody>
                    <a:bodyPr/>
                    <a:lstStyle/>
                    <a:p>
                      <a:pPr marL="0" indent="0">
                        <a:buNone/>
                      </a:pPr>
                      <a:r>
                        <a:rPr lang="en-US" sz="1050" dirty="0">
                          <a:solidFill>
                            <a:srgbClr val="22301F"/>
                          </a:solidFill>
                          <a:latin typeface="Calibri" pitchFamily="34" charset="0"/>
                          <a:ea typeface="Calibri" pitchFamily="34" charset="-122"/>
                          <a:cs typeface="Calibri" pitchFamily="34" charset="-120"/>
                        </a:rPr>
                        <a:t>+0.91</a:t>
                      </a:r>
                      <a:endParaRPr lang="en-US" sz="1050" dirty="0">
                        <a:latin typeface="Calibri" charset="0"/>
                        <a:ea typeface="Calibri" charset="0"/>
                        <a:cs typeface="Calibri" charset="0"/>
                      </a:endParaRPr>
                    </a:p>
                  </a:txBody>
                  <a:tcPr marL="88900" marR="88900" marT="50800" marB="50800" anchor="ctr">
                    <a:lnL w="6350" cap="flat" cmpd="sng" algn="ctr">
                      <a:solidFill>
                        <a:srgbClr val="DDE3D9"/>
                      </a:solidFill>
                      <a:prstDash val="solid"/>
                      <a:round/>
                      <a:headEnd type="none" w="med" len="med"/>
                      <a:tailEnd type="none" w="med" len="med"/>
                    </a:lnL>
                    <a:lnR w="6350" cap="flat" cmpd="sng" algn="ctr">
                      <a:solidFill>
                        <a:srgbClr val="DDE3D9"/>
                      </a:solidFill>
                      <a:prstDash val="solid"/>
                      <a:round/>
                      <a:headEnd type="none" w="med" len="med"/>
                      <a:tailEnd type="none" w="med" len="med"/>
                    </a:lnR>
                    <a:lnT w="6350" cap="flat" cmpd="sng" algn="ctr">
                      <a:solidFill>
                        <a:srgbClr val="DDE3D9"/>
                      </a:solidFill>
                      <a:prstDash val="solid"/>
                      <a:round/>
                      <a:headEnd type="none" w="med" len="med"/>
                      <a:tailEnd type="none" w="med" len="med"/>
                    </a:lnT>
                    <a:lnB w="6350" cap="flat" cmpd="sng" algn="ctr">
                      <a:solidFill>
                        <a:srgbClr val="DDE3D9"/>
                      </a:solidFill>
                      <a:prstDash val="solid"/>
                      <a:round/>
                      <a:headEnd type="none" w="med" len="med"/>
                      <a:tailEnd type="none" w="med" len="med"/>
                    </a:lnB>
                    <a:solidFill>
                      <a:srgbClr val="F1F5EE"/>
                    </a:solidFill>
                  </a:tcPr>
                </a:tc>
                <a:extLst>
                  <a:ext uri="{0D108BD9-81ED-4DB2-BD59-A6C34878D82A}">
                    <a16:rowId xmlns:a16="http://schemas.microsoft.com/office/drawing/2014/main" val="10002"/>
                  </a:ext>
                </a:extLst>
              </a:tr>
              <a:tr h="297180">
                <a:tc>
                  <a:txBody>
                    <a:bodyPr/>
                    <a:lstStyle/>
                    <a:p>
                      <a:pPr marL="0" indent="0">
                        <a:buNone/>
                      </a:pPr>
                      <a:r>
                        <a:rPr lang="en-US" sz="1050" dirty="0">
                          <a:solidFill>
                            <a:srgbClr val="22301F"/>
                          </a:solidFill>
                          <a:latin typeface="Calibri" pitchFamily="34" charset="0"/>
                          <a:ea typeface="Calibri" pitchFamily="34" charset="-122"/>
                          <a:cs typeface="Calibri" pitchFamily="34" charset="-120"/>
                        </a:rPr>
                        <a:t>last3_avg_runs  ↔  last5_avg_runs</a:t>
                      </a:r>
                      <a:endParaRPr lang="en-US" sz="1050" dirty="0">
                        <a:latin typeface="Calibri" charset="0"/>
                        <a:ea typeface="Calibri" charset="0"/>
                        <a:cs typeface="Calibri" charset="0"/>
                      </a:endParaRPr>
                    </a:p>
                  </a:txBody>
                  <a:tcPr marL="88900" marR="88900" marT="50800" marB="50800" anchor="ctr">
                    <a:lnL w="6350" cap="flat" cmpd="sng" algn="ctr">
                      <a:solidFill>
                        <a:srgbClr val="DDE3D9"/>
                      </a:solidFill>
                      <a:prstDash val="solid"/>
                      <a:round/>
                      <a:headEnd type="none" w="med" len="med"/>
                      <a:tailEnd type="none" w="med" len="med"/>
                    </a:lnL>
                    <a:lnR w="6350" cap="flat" cmpd="sng" algn="ctr">
                      <a:solidFill>
                        <a:srgbClr val="DDE3D9"/>
                      </a:solidFill>
                      <a:prstDash val="solid"/>
                      <a:round/>
                      <a:headEnd type="none" w="med" len="med"/>
                      <a:tailEnd type="none" w="med" len="med"/>
                    </a:lnR>
                    <a:lnT w="6350" cap="flat" cmpd="sng" algn="ctr">
                      <a:solidFill>
                        <a:srgbClr val="DDE3D9"/>
                      </a:solidFill>
                      <a:prstDash val="solid"/>
                      <a:round/>
                      <a:headEnd type="none" w="med" len="med"/>
                      <a:tailEnd type="none" w="med" len="med"/>
                    </a:lnT>
                    <a:lnB w="6350" cap="flat" cmpd="sng" algn="ctr">
                      <a:solidFill>
                        <a:srgbClr val="DDE3D9"/>
                      </a:solidFill>
                      <a:prstDash val="solid"/>
                      <a:round/>
                      <a:headEnd type="none" w="med" len="med"/>
                      <a:tailEnd type="none" w="med" len="med"/>
                    </a:lnB>
                    <a:solidFill>
                      <a:srgbClr val="FFFFFF"/>
                    </a:solidFill>
                  </a:tcPr>
                </a:tc>
                <a:tc>
                  <a:txBody>
                    <a:bodyPr/>
                    <a:lstStyle/>
                    <a:p>
                      <a:pPr marL="0" indent="0">
                        <a:buNone/>
                      </a:pPr>
                      <a:r>
                        <a:rPr lang="en-US" sz="1050" dirty="0">
                          <a:solidFill>
                            <a:srgbClr val="22301F"/>
                          </a:solidFill>
                          <a:latin typeface="Calibri" pitchFamily="34" charset="0"/>
                          <a:ea typeface="Calibri" pitchFamily="34" charset="-122"/>
                          <a:cs typeface="Calibri" pitchFamily="34" charset="-120"/>
                        </a:rPr>
                        <a:t>+0.86</a:t>
                      </a:r>
                      <a:endParaRPr lang="en-US" sz="1050" dirty="0">
                        <a:latin typeface="Calibri" charset="0"/>
                        <a:ea typeface="Calibri" charset="0"/>
                        <a:cs typeface="Calibri" charset="0"/>
                      </a:endParaRPr>
                    </a:p>
                  </a:txBody>
                  <a:tcPr marL="88900" marR="88900" marT="50800" marB="50800" anchor="ctr">
                    <a:lnL w="6350" cap="flat" cmpd="sng" algn="ctr">
                      <a:solidFill>
                        <a:srgbClr val="DDE3D9"/>
                      </a:solidFill>
                      <a:prstDash val="solid"/>
                      <a:round/>
                      <a:headEnd type="none" w="med" len="med"/>
                      <a:tailEnd type="none" w="med" len="med"/>
                    </a:lnL>
                    <a:lnR w="6350" cap="flat" cmpd="sng" algn="ctr">
                      <a:solidFill>
                        <a:srgbClr val="DDE3D9"/>
                      </a:solidFill>
                      <a:prstDash val="solid"/>
                      <a:round/>
                      <a:headEnd type="none" w="med" len="med"/>
                      <a:tailEnd type="none" w="med" len="med"/>
                    </a:lnR>
                    <a:lnT w="6350" cap="flat" cmpd="sng" algn="ctr">
                      <a:solidFill>
                        <a:srgbClr val="DDE3D9"/>
                      </a:solidFill>
                      <a:prstDash val="solid"/>
                      <a:round/>
                      <a:headEnd type="none" w="med" len="med"/>
                      <a:tailEnd type="none" w="med" len="med"/>
                    </a:lnT>
                    <a:lnB w="6350" cap="flat" cmpd="sng" algn="ctr">
                      <a:solidFill>
                        <a:srgbClr val="DDE3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7180">
                <a:tc>
                  <a:txBody>
                    <a:bodyPr/>
                    <a:lstStyle/>
                    <a:p>
                      <a:pPr marL="0" indent="0">
                        <a:buNone/>
                      </a:pPr>
                      <a:r>
                        <a:rPr lang="en-US" sz="1050" dirty="0">
                          <a:solidFill>
                            <a:srgbClr val="22301F"/>
                          </a:solidFill>
                          <a:latin typeface="Calibri" pitchFamily="34" charset="0"/>
                          <a:ea typeface="Calibri" pitchFamily="34" charset="-122"/>
                          <a:cs typeface="Calibri" pitchFamily="34" charset="-120"/>
                        </a:rPr>
                        <a:t>career_avg_balls  ↔  career_avg_fours</a:t>
                      </a:r>
                      <a:endParaRPr lang="en-US" sz="1050" dirty="0">
                        <a:latin typeface="Calibri" charset="0"/>
                        <a:ea typeface="Calibri" charset="0"/>
                        <a:cs typeface="Calibri" charset="0"/>
                      </a:endParaRPr>
                    </a:p>
                  </a:txBody>
                  <a:tcPr marL="88900" marR="88900" marT="50800" marB="50800" anchor="ctr">
                    <a:lnL w="6350" cap="flat" cmpd="sng" algn="ctr">
                      <a:solidFill>
                        <a:srgbClr val="DDE3D9"/>
                      </a:solidFill>
                      <a:prstDash val="solid"/>
                      <a:round/>
                      <a:headEnd type="none" w="med" len="med"/>
                      <a:tailEnd type="none" w="med" len="med"/>
                    </a:lnL>
                    <a:lnR w="6350" cap="flat" cmpd="sng" algn="ctr">
                      <a:solidFill>
                        <a:srgbClr val="DDE3D9"/>
                      </a:solidFill>
                      <a:prstDash val="solid"/>
                      <a:round/>
                      <a:headEnd type="none" w="med" len="med"/>
                      <a:tailEnd type="none" w="med" len="med"/>
                    </a:lnR>
                    <a:lnT w="6350" cap="flat" cmpd="sng" algn="ctr">
                      <a:solidFill>
                        <a:srgbClr val="DDE3D9"/>
                      </a:solidFill>
                      <a:prstDash val="solid"/>
                      <a:round/>
                      <a:headEnd type="none" w="med" len="med"/>
                      <a:tailEnd type="none" w="med" len="med"/>
                    </a:lnT>
                    <a:lnB w="6350" cap="flat" cmpd="sng" algn="ctr">
                      <a:solidFill>
                        <a:srgbClr val="DDE3D9"/>
                      </a:solidFill>
                      <a:prstDash val="solid"/>
                      <a:round/>
                      <a:headEnd type="none" w="med" len="med"/>
                      <a:tailEnd type="none" w="med" len="med"/>
                    </a:lnB>
                    <a:solidFill>
                      <a:srgbClr val="F1F5EE"/>
                    </a:solidFill>
                  </a:tcPr>
                </a:tc>
                <a:tc>
                  <a:txBody>
                    <a:bodyPr/>
                    <a:lstStyle/>
                    <a:p>
                      <a:pPr marL="0" indent="0">
                        <a:buNone/>
                      </a:pPr>
                      <a:r>
                        <a:rPr lang="en-US" sz="1050" dirty="0">
                          <a:solidFill>
                            <a:srgbClr val="22301F"/>
                          </a:solidFill>
                          <a:latin typeface="Calibri" pitchFamily="34" charset="0"/>
                          <a:ea typeface="Calibri" pitchFamily="34" charset="-122"/>
                          <a:cs typeface="Calibri" pitchFamily="34" charset="-120"/>
                        </a:rPr>
                        <a:t>+0.85</a:t>
                      </a:r>
                      <a:endParaRPr lang="en-US" sz="1050" dirty="0">
                        <a:latin typeface="Calibri" charset="0"/>
                        <a:ea typeface="Calibri" charset="0"/>
                        <a:cs typeface="Calibri" charset="0"/>
                      </a:endParaRPr>
                    </a:p>
                  </a:txBody>
                  <a:tcPr marL="88900" marR="88900" marT="50800" marB="50800" anchor="ctr">
                    <a:lnL w="6350" cap="flat" cmpd="sng" algn="ctr">
                      <a:solidFill>
                        <a:srgbClr val="DDE3D9"/>
                      </a:solidFill>
                      <a:prstDash val="solid"/>
                      <a:round/>
                      <a:headEnd type="none" w="med" len="med"/>
                      <a:tailEnd type="none" w="med" len="med"/>
                    </a:lnL>
                    <a:lnR w="6350" cap="flat" cmpd="sng" algn="ctr">
                      <a:solidFill>
                        <a:srgbClr val="DDE3D9"/>
                      </a:solidFill>
                      <a:prstDash val="solid"/>
                      <a:round/>
                      <a:headEnd type="none" w="med" len="med"/>
                      <a:tailEnd type="none" w="med" len="med"/>
                    </a:lnR>
                    <a:lnT w="6350" cap="flat" cmpd="sng" algn="ctr">
                      <a:solidFill>
                        <a:srgbClr val="DDE3D9"/>
                      </a:solidFill>
                      <a:prstDash val="solid"/>
                      <a:round/>
                      <a:headEnd type="none" w="med" len="med"/>
                      <a:tailEnd type="none" w="med" len="med"/>
                    </a:lnT>
                    <a:lnB w="6350" cap="flat" cmpd="sng" algn="ctr">
                      <a:solidFill>
                        <a:srgbClr val="DDE3D9"/>
                      </a:solidFill>
                      <a:prstDash val="solid"/>
                      <a:round/>
                      <a:headEnd type="none" w="med" len="med"/>
                      <a:tailEnd type="none" w="med" len="med"/>
                    </a:lnB>
                    <a:solidFill>
                      <a:srgbClr val="F1F5EE"/>
                    </a:solidFill>
                  </a:tcPr>
                </a:tc>
                <a:extLst>
                  <a:ext uri="{0D108BD9-81ED-4DB2-BD59-A6C34878D82A}">
                    <a16:rowId xmlns:a16="http://schemas.microsoft.com/office/drawing/2014/main" val="10004"/>
                  </a:ext>
                </a:extLst>
              </a:tr>
              <a:tr h="297180">
                <a:tc>
                  <a:txBody>
                    <a:bodyPr/>
                    <a:lstStyle/>
                    <a:p>
                      <a:pPr marL="0" indent="0">
                        <a:buNone/>
                      </a:pPr>
                      <a:r>
                        <a:rPr lang="en-US" sz="1050" dirty="0">
                          <a:solidFill>
                            <a:srgbClr val="22301F"/>
                          </a:solidFill>
                          <a:latin typeface="Calibri" pitchFamily="34" charset="0"/>
                          <a:ea typeface="Calibri" pitchFamily="34" charset="-122"/>
                          <a:cs typeface="Calibri" pitchFamily="34" charset="-120"/>
                        </a:rPr>
                        <a:t>career_avg_runs  ↔  career_avg_balls</a:t>
                      </a:r>
                      <a:endParaRPr lang="en-US" sz="1050" dirty="0">
                        <a:latin typeface="Calibri" charset="0"/>
                        <a:ea typeface="Calibri" charset="0"/>
                        <a:cs typeface="Calibri" charset="0"/>
                      </a:endParaRPr>
                    </a:p>
                  </a:txBody>
                  <a:tcPr marL="88900" marR="88900" marT="50800" marB="50800" anchor="ctr">
                    <a:lnL w="6350" cap="flat" cmpd="sng" algn="ctr">
                      <a:solidFill>
                        <a:srgbClr val="DDE3D9"/>
                      </a:solidFill>
                      <a:prstDash val="solid"/>
                      <a:round/>
                      <a:headEnd type="none" w="med" len="med"/>
                      <a:tailEnd type="none" w="med" len="med"/>
                    </a:lnL>
                    <a:lnR w="6350" cap="flat" cmpd="sng" algn="ctr">
                      <a:solidFill>
                        <a:srgbClr val="DDE3D9"/>
                      </a:solidFill>
                      <a:prstDash val="solid"/>
                      <a:round/>
                      <a:headEnd type="none" w="med" len="med"/>
                      <a:tailEnd type="none" w="med" len="med"/>
                    </a:lnR>
                    <a:lnT w="6350" cap="flat" cmpd="sng" algn="ctr">
                      <a:solidFill>
                        <a:srgbClr val="DDE3D9"/>
                      </a:solidFill>
                      <a:prstDash val="solid"/>
                      <a:round/>
                      <a:headEnd type="none" w="med" len="med"/>
                      <a:tailEnd type="none" w="med" len="med"/>
                    </a:lnT>
                    <a:lnB w="6350" cap="flat" cmpd="sng" algn="ctr">
                      <a:solidFill>
                        <a:srgbClr val="DDE3D9"/>
                      </a:solidFill>
                      <a:prstDash val="solid"/>
                      <a:round/>
                      <a:headEnd type="none" w="med" len="med"/>
                      <a:tailEnd type="none" w="med" len="med"/>
                    </a:lnB>
                    <a:solidFill>
                      <a:srgbClr val="FFFFFF"/>
                    </a:solidFill>
                  </a:tcPr>
                </a:tc>
                <a:tc>
                  <a:txBody>
                    <a:bodyPr/>
                    <a:lstStyle/>
                    <a:p>
                      <a:pPr marL="0" indent="0">
                        <a:buNone/>
                      </a:pPr>
                      <a:r>
                        <a:rPr lang="en-US" sz="1050" dirty="0">
                          <a:solidFill>
                            <a:srgbClr val="22301F"/>
                          </a:solidFill>
                          <a:latin typeface="Calibri" pitchFamily="34" charset="0"/>
                          <a:ea typeface="Calibri" pitchFamily="34" charset="-122"/>
                          <a:cs typeface="Calibri" pitchFamily="34" charset="-120"/>
                        </a:rPr>
                        <a:t>+0.84</a:t>
                      </a:r>
                      <a:endParaRPr lang="en-US" sz="1050" dirty="0">
                        <a:latin typeface="Calibri" charset="0"/>
                        <a:ea typeface="Calibri" charset="0"/>
                        <a:cs typeface="Calibri" charset="0"/>
                      </a:endParaRPr>
                    </a:p>
                  </a:txBody>
                  <a:tcPr marL="88900" marR="88900" marT="50800" marB="50800" anchor="ctr">
                    <a:lnL w="6350" cap="flat" cmpd="sng" algn="ctr">
                      <a:solidFill>
                        <a:srgbClr val="DDE3D9"/>
                      </a:solidFill>
                      <a:prstDash val="solid"/>
                      <a:round/>
                      <a:headEnd type="none" w="med" len="med"/>
                      <a:tailEnd type="none" w="med" len="med"/>
                    </a:lnL>
                    <a:lnR w="6350" cap="flat" cmpd="sng" algn="ctr">
                      <a:solidFill>
                        <a:srgbClr val="DDE3D9"/>
                      </a:solidFill>
                      <a:prstDash val="solid"/>
                      <a:round/>
                      <a:headEnd type="none" w="med" len="med"/>
                      <a:tailEnd type="none" w="med" len="med"/>
                    </a:lnR>
                    <a:lnT w="6350" cap="flat" cmpd="sng" algn="ctr">
                      <a:solidFill>
                        <a:srgbClr val="DDE3D9"/>
                      </a:solidFill>
                      <a:prstDash val="solid"/>
                      <a:round/>
                      <a:headEnd type="none" w="med" len="med"/>
                      <a:tailEnd type="none" w="med" len="med"/>
                    </a:lnT>
                    <a:lnB w="6350" cap="flat" cmpd="sng" algn="ctr">
                      <a:solidFill>
                        <a:srgbClr val="DDE3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7180">
                <a:tc>
                  <a:txBody>
                    <a:bodyPr/>
                    <a:lstStyle/>
                    <a:p>
                      <a:pPr marL="0" indent="0">
                        <a:buNone/>
                      </a:pPr>
                      <a:r>
                        <a:rPr lang="en-US" sz="1050" dirty="0">
                          <a:solidFill>
                            <a:srgbClr val="22301F"/>
                          </a:solidFill>
                          <a:latin typeface="Calibri" pitchFamily="34" charset="0"/>
                          <a:ea typeface="Calibri" pitchFamily="34" charset="-122"/>
                          <a:cs typeface="Calibri" pitchFamily="34" charset="-120"/>
                        </a:rPr>
                        <a:t>career_avg_runs  ↔  career_max_runs</a:t>
                      </a:r>
                      <a:endParaRPr lang="en-US" sz="1050" dirty="0">
                        <a:latin typeface="Calibri" charset="0"/>
                        <a:ea typeface="Calibri" charset="0"/>
                        <a:cs typeface="Calibri" charset="0"/>
                      </a:endParaRPr>
                    </a:p>
                  </a:txBody>
                  <a:tcPr marL="88900" marR="88900" marT="50800" marB="50800" anchor="ctr">
                    <a:lnL w="6350" cap="flat" cmpd="sng" algn="ctr">
                      <a:solidFill>
                        <a:srgbClr val="DDE3D9"/>
                      </a:solidFill>
                      <a:prstDash val="solid"/>
                      <a:round/>
                      <a:headEnd type="none" w="med" len="med"/>
                      <a:tailEnd type="none" w="med" len="med"/>
                    </a:lnL>
                    <a:lnR w="6350" cap="flat" cmpd="sng" algn="ctr">
                      <a:solidFill>
                        <a:srgbClr val="DDE3D9"/>
                      </a:solidFill>
                      <a:prstDash val="solid"/>
                      <a:round/>
                      <a:headEnd type="none" w="med" len="med"/>
                      <a:tailEnd type="none" w="med" len="med"/>
                    </a:lnR>
                    <a:lnT w="6350" cap="flat" cmpd="sng" algn="ctr">
                      <a:solidFill>
                        <a:srgbClr val="DDE3D9"/>
                      </a:solidFill>
                      <a:prstDash val="solid"/>
                      <a:round/>
                      <a:headEnd type="none" w="med" len="med"/>
                      <a:tailEnd type="none" w="med" len="med"/>
                    </a:lnT>
                    <a:lnB w="6350" cap="flat" cmpd="sng" algn="ctr">
                      <a:solidFill>
                        <a:srgbClr val="DDE3D9"/>
                      </a:solidFill>
                      <a:prstDash val="solid"/>
                      <a:round/>
                      <a:headEnd type="none" w="med" len="med"/>
                      <a:tailEnd type="none" w="med" len="med"/>
                    </a:lnB>
                    <a:solidFill>
                      <a:srgbClr val="F1F5EE"/>
                    </a:solidFill>
                  </a:tcPr>
                </a:tc>
                <a:tc>
                  <a:txBody>
                    <a:bodyPr/>
                    <a:lstStyle/>
                    <a:p>
                      <a:pPr marL="0" indent="0">
                        <a:buNone/>
                      </a:pPr>
                      <a:r>
                        <a:rPr lang="en-US" sz="1050" dirty="0">
                          <a:solidFill>
                            <a:srgbClr val="22301F"/>
                          </a:solidFill>
                          <a:latin typeface="Calibri" pitchFamily="34" charset="0"/>
                          <a:ea typeface="Calibri" pitchFamily="34" charset="-122"/>
                          <a:cs typeface="Calibri" pitchFamily="34" charset="-120"/>
                        </a:rPr>
                        <a:t>+0.80</a:t>
                      </a:r>
                      <a:endParaRPr lang="en-US" sz="1050" dirty="0">
                        <a:latin typeface="Calibri" charset="0"/>
                        <a:ea typeface="Calibri" charset="0"/>
                        <a:cs typeface="Calibri" charset="0"/>
                      </a:endParaRPr>
                    </a:p>
                  </a:txBody>
                  <a:tcPr marL="88900" marR="88900" marT="50800" marB="50800" anchor="ctr">
                    <a:lnL w="6350" cap="flat" cmpd="sng" algn="ctr">
                      <a:solidFill>
                        <a:srgbClr val="DDE3D9"/>
                      </a:solidFill>
                      <a:prstDash val="solid"/>
                      <a:round/>
                      <a:headEnd type="none" w="med" len="med"/>
                      <a:tailEnd type="none" w="med" len="med"/>
                    </a:lnL>
                    <a:lnR w="6350" cap="flat" cmpd="sng" algn="ctr">
                      <a:solidFill>
                        <a:srgbClr val="DDE3D9"/>
                      </a:solidFill>
                      <a:prstDash val="solid"/>
                      <a:round/>
                      <a:headEnd type="none" w="med" len="med"/>
                      <a:tailEnd type="none" w="med" len="med"/>
                    </a:lnR>
                    <a:lnT w="6350" cap="flat" cmpd="sng" algn="ctr">
                      <a:solidFill>
                        <a:srgbClr val="DDE3D9"/>
                      </a:solidFill>
                      <a:prstDash val="solid"/>
                      <a:round/>
                      <a:headEnd type="none" w="med" len="med"/>
                      <a:tailEnd type="none" w="med" len="med"/>
                    </a:lnT>
                    <a:lnB w="6350" cap="flat" cmpd="sng" algn="ctr">
                      <a:solidFill>
                        <a:srgbClr val="DDE3D9"/>
                      </a:solidFill>
                      <a:prstDash val="solid"/>
                      <a:round/>
                      <a:headEnd type="none" w="med" len="med"/>
                      <a:tailEnd type="none" w="med" len="med"/>
                    </a:lnB>
                    <a:solidFill>
                      <a:srgbClr val="F1F5EE"/>
                    </a:solidFill>
                  </a:tcPr>
                </a:tc>
                <a:extLst>
                  <a:ext uri="{0D108BD9-81ED-4DB2-BD59-A6C34878D82A}">
                    <a16:rowId xmlns:a16="http://schemas.microsoft.com/office/drawing/2014/main" val="10006"/>
                  </a:ext>
                </a:extLst>
              </a:tr>
              <a:tr h="297180">
                <a:tc>
                  <a:txBody>
                    <a:bodyPr/>
                    <a:lstStyle/>
                    <a:p>
                      <a:pPr marL="0" indent="0">
                        <a:buNone/>
                      </a:pPr>
                      <a:r>
                        <a:rPr lang="en-US" sz="1050" dirty="0">
                          <a:solidFill>
                            <a:srgbClr val="22301F"/>
                          </a:solidFill>
                          <a:latin typeface="Calibri" pitchFamily="34" charset="0"/>
                          <a:ea typeface="Calibri" pitchFamily="34" charset="-122"/>
                          <a:cs typeface="Calibri" pitchFamily="34" charset="-120"/>
                        </a:rPr>
                        <a:t>career_avg_runs  ↔  career_avg_order</a:t>
                      </a:r>
                      <a:endParaRPr lang="en-US" sz="1050" dirty="0">
                        <a:latin typeface="Calibri" charset="0"/>
                        <a:ea typeface="Calibri" charset="0"/>
                        <a:cs typeface="Calibri" charset="0"/>
                      </a:endParaRPr>
                    </a:p>
                  </a:txBody>
                  <a:tcPr marL="88900" marR="88900" marT="50800" marB="50800" anchor="ctr">
                    <a:lnL w="6350" cap="flat" cmpd="sng" algn="ctr">
                      <a:solidFill>
                        <a:srgbClr val="DDE3D9"/>
                      </a:solidFill>
                      <a:prstDash val="solid"/>
                      <a:round/>
                      <a:headEnd type="none" w="med" len="med"/>
                      <a:tailEnd type="none" w="med" len="med"/>
                    </a:lnL>
                    <a:lnR w="6350" cap="flat" cmpd="sng" algn="ctr">
                      <a:solidFill>
                        <a:srgbClr val="DDE3D9"/>
                      </a:solidFill>
                      <a:prstDash val="solid"/>
                      <a:round/>
                      <a:headEnd type="none" w="med" len="med"/>
                      <a:tailEnd type="none" w="med" len="med"/>
                    </a:lnR>
                    <a:lnT w="6350" cap="flat" cmpd="sng" algn="ctr">
                      <a:solidFill>
                        <a:srgbClr val="DDE3D9"/>
                      </a:solidFill>
                      <a:prstDash val="solid"/>
                      <a:round/>
                      <a:headEnd type="none" w="med" len="med"/>
                      <a:tailEnd type="none" w="med" len="med"/>
                    </a:lnT>
                    <a:lnB w="6350" cap="flat" cmpd="sng" algn="ctr">
                      <a:solidFill>
                        <a:srgbClr val="DDE3D9"/>
                      </a:solidFill>
                      <a:prstDash val="solid"/>
                      <a:round/>
                      <a:headEnd type="none" w="med" len="med"/>
                      <a:tailEnd type="none" w="med" len="med"/>
                    </a:lnB>
                    <a:solidFill>
                      <a:srgbClr val="FFFFFF"/>
                    </a:solidFill>
                  </a:tcPr>
                </a:tc>
                <a:tc>
                  <a:txBody>
                    <a:bodyPr/>
                    <a:lstStyle/>
                    <a:p>
                      <a:pPr marL="0" indent="0">
                        <a:buNone/>
                      </a:pPr>
                      <a:r>
                        <a:rPr lang="en-US" sz="1050" dirty="0">
                          <a:solidFill>
                            <a:srgbClr val="22301F"/>
                          </a:solidFill>
                          <a:latin typeface="Calibri" pitchFamily="34" charset="0"/>
                          <a:ea typeface="Calibri" pitchFamily="34" charset="-122"/>
                          <a:cs typeface="Calibri" pitchFamily="34" charset="-120"/>
                        </a:rPr>
                        <a:t>−0.77</a:t>
                      </a:r>
                      <a:endParaRPr lang="en-US" sz="1050" dirty="0">
                        <a:latin typeface="Calibri" charset="0"/>
                        <a:ea typeface="Calibri" charset="0"/>
                        <a:cs typeface="Calibri" charset="0"/>
                      </a:endParaRPr>
                    </a:p>
                  </a:txBody>
                  <a:tcPr marL="88900" marR="88900" marT="50800" marB="50800" anchor="ctr">
                    <a:lnL w="6350" cap="flat" cmpd="sng" algn="ctr">
                      <a:solidFill>
                        <a:srgbClr val="DDE3D9"/>
                      </a:solidFill>
                      <a:prstDash val="solid"/>
                      <a:round/>
                      <a:headEnd type="none" w="med" len="med"/>
                      <a:tailEnd type="none" w="med" len="med"/>
                    </a:lnL>
                    <a:lnR w="6350" cap="flat" cmpd="sng" algn="ctr">
                      <a:solidFill>
                        <a:srgbClr val="DDE3D9"/>
                      </a:solidFill>
                      <a:prstDash val="solid"/>
                      <a:round/>
                      <a:headEnd type="none" w="med" len="med"/>
                      <a:tailEnd type="none" w="med" len="med"/>
                    </a:lnR>
                    <a:lnT w="6350" cap="flat" cmpd="sng" algn="ctr">
                      <a:solidFill>
                        <a:srgbClr val="DDE3D9"/>
                      </a:solidFill>
                      <a:prstDash val="solid"/>
                      <a:round/>
                      <a:headEnd type="none" w="med" len="med"/>
                      <a:tailEnd type="none" w="med" len="med"/>
                    </a:lnT>
                    <a:lnB w="6350" cap="flat" cmpd="sng" algn="ctr">
                      <a:solidFill>
                        <a:srgbClr val="DDE3D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34" name="Text 4">
            <a:extLst>
              <a:ext uri="{FF2B5EF4-FFF2-40B4-BE49-F238E27FC236}">
                <a16:creationId xmlns:a16="http://schemas.microsoft.com/office/drawing/2014/main" id="{EB78EEED-6558-2731-5288-B887BC372AF1}"/>
              </a:ext>
            </a:extLst>
          </p:cNvPr>
          <p:cNvSpPr txBox="1"/>
          <p:nvPr/>
        </p:nvSpPr>
        <p:spPr>
          <a:xfrm>
            <a:off x="6720840" y="1234440"/>
            <a:ext cx="4937760" cy="274320"/>
          </a:xfrm>
          <a:prstGeom prst="rect">
            <a:avLst/>
          </a:prstGeom>
          <a:noFill/>
          <a:ln/>
        </p:spPr>
        <p:txBody>
          <a:bodyPr wrap="square" lIns="0" tIns="0" rIns="0" bIns="0"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Strongly correlated predictor pairs</a:t>
            </a:r>
            <a:endParaRPr lang="en-US" sz="1300" dirty="0"/>
          </a:p>
        </p:txBody>
      </p:sp>
    </p:spTree>
    <p:extLst>
      <p:ext uri="{BB962C8B-B14F-4D97-AF65-F5344CB8AC3E}">
        <p14:creationId xmlns:p14="http://schemas.microsoft.com/office/powerpoint/2010/main" val="1892965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3EFE7"/>
        </a:solidFill>
        <a:effectLst/>
      </p:bgPr>
    </p:bg>
    <p:spTree>
      <p:nvGrpSpPr>
        <p:cNvPr id="1" name=""/>
        <p:cNvGrpSpPr/>
        <p:nvPr/>
      </p:nvGrpSpPr>
      <p:grpSpPr>
        <a:xfrm>
          <a:off x="0" y="0"/>
          <a:ext cx="0" cy="0"/>
          <a:chOff x="0" y="0"/>
          <a:chExt cx="0" cy="0"/>
        </a:xfrm>
      </p:grpSpPr>
      <p:sp>
        <p:nvSpPr>
          <p:cNvPr id="2" name="Text 0"/>
          <p:cNvSpPr txBox="1"/>
          <p:nvPr/>
        </p:nvSpPr>
        <p:spPr>
          <a:xfrm>
            <a:off x="11183112" y="6382512"/>
            <a:ext cx="548640" cy="274320"/>
          </a:xfrm>
          <a:prstGeom prst="rect">
            <a:avLst/>
          </a:prstGeom>
          <a:noFill/>
          <a:ln/>
        </p:spPr>
        <p:txBody>
          <a:bodyPr wrap="square" lIns="0" tIns="0" rIns="0" bIns="0" rtlCol="0" anchor="ctr"/>
          <a:lstStyle/>
          <a:p>
            <a:pPr marL="0" indent="0" algn="r">
              <a:buNone/>
            </a:pPr>
            <a:r>
              <a:rPr lang="en-US" sz="1100" b="1" dirty="0">
                <a:solidFill>
                  <a:srgbClr val="C08A2E"/>
                </a:solidFill>
                <a:latin typeface="Cambria" pitchFamily="34" charset="0"/>
                <a:ea typeface="Cambria" pitchFamily="34" charset="-122"/>
                <a:cs typeface="Cambria" pitchFamily="34" charset="-120"/>
              </a:rPr>
              <a:t>07</a:t>
            </a:r>
            <a:endParaRPr lang="en-US" sz="1100" dirty="0"/>
          </a:p>
        </p:txBody>
      </p:sp>
      <p:sp>
        <p:nvSpPr>
          <p:cNvPr id="3" name="Text 1"/>
          <p:cNvSpPr txBox="1"/>
          <p:nvPr/>
        </p:nvSpPr>
        <p:spPr>
          <a:xfrm>
            <a:off x="566928" y="411480"/>
            <a:ext cx="8229600" cy="219456"/>
          </a:xfrm>
          <a:prstGeom prst="rect">
            <a:avLst/>
          </a:prstGeom>
          <a:noFill/>
          <a:ln/>
        </p:spPr>
        <p:txBody>
          <a:bodyPr wrap="square" lIns="0" tIns="0" rIns="0" bIns="0" rtlCol="0" anchor="ctr"/>
          <a:lstStyle/>
          <a:p>
            <a:pPr marL="0" indent="0">
              <a:buNone/>
            </a:pPr>
            <a:r>
              <a:rPr lang="en-US" sz="950" b="1" kern="0" spc="200" dirty="0">
                <a:solidFill>
                  <a:srgbClr val="C08A2E"/>
                </a:solidFill>
                <a:latin typeface="Calibri" pitchFamily="34" charset="0"/>
                <a:ea typeface="Calibri" pitchFamily="34" charset="-122"/>
                <a:cs typeface="Calibri" pitchFamily="34" charset="-120"/>
              </a:rPr>
              <a:t>EXPLORATORY ANALYSIS</a:t>
            </a:r>
            <a:endParaRPr lang="en-US" sz="950" dirty="0"/>
          </a:p>
        </p:txBody>
      </p:sp>
      <p:sp>
        <p:nvSpPr>
          <p:cNvPr id="4" name="Text 2"/>
          <p:cNvSpPr txBox="1"/>
          <p:nvPr/>
        </p:nvSpPr>
        <p:spPr>
          <a:xfrm>
            <a:off x="566928" y="667512"/>
            <a:ext cx="11055096" cy="502920"/>
          </a:xfrm>
          <a:prstGeom prst="rect">
            <a:avLst/>
          </a:prstGeom>
          <a:noFill/>
          <a:ln/>
        </p:spPr>
        <p:txBody>
          <a:bodyPr wrap="square" lIns="0" tIns="0" rIns="0" bIns="0" rtlCol="0" anchor="ctr"/>
          <a:lstStyle/>
          <a:p>
            <a:pPr marL="0" indent="0">
              <a:buNone/>
            </a:pPr>
            <a:r>
              <a:rPr lang="en-US" sz="2700" b="1" dirty="0">
                <a:solidFill>
                  <a:srgbClr val="1B4034"/>
                </a:solidFill>
                <a:latin typeface="Cambria" pitchFamily="34" charset="0"/>
                <a:ea typeface="Cambria" pitchFamily="34" charset="-122"/>
                <a:cs typeface="Cambria" pitchFamily="34" charset="-120"/>
              </a:rPr>
              <a:t>EDA — Distribution of Runs</a:t>
            </a:r>
            <a:endParaRPr lang="en-US" sz="2700" dirty="0"/>
          </a:p>
        </p:txBody>
      </p:sp>
      <p:graphicFrame>
        <p:nvGraphicFramePr>
          <p:cNvPr id="5" name="Chart 0"/>
          <p:cNvGraphicFramePr/>
          <p:nvPr/>
        </p:nvGraphicFramePr>
        <p:xfrm>
          <a:off x="566928" y="1417320"/>
          <a:ext cx="768096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549640" y="1417320"/>
            <a:ext cx="3365552" cy="2818778"/>
          </a:xfrm>
          <a:prstGeom prst="roundRect">
            <a:avLst>
              <a:gd name="adj" fmla="val 2927"/>
            </a:avLst>
          </a:prstGeom>
          <a:solidFill>
            <a:srgbClr val="FFFFFF"/>
          </a:solidFill>
          <a:ln w="12700">
            <a:solidFill>
              <a:srgbClr val="DDD6C8"/>
            </a:solidFill>
            <a:prstDash val="solid"/>
          </a:ln>
        </p:spPr>
      </p:sp>
      <p:sp>
        <p:nvSpPr>
          <p:cNvPr id="9" name="Text 6"/>
          <p:cNvSpPr txBox="1"/>
          <p:nvPr/>
        </p:nvSpPr>
        <p:spPr>
          <a:xfrm>
            <a:off x="8732520" y="1533673"/>
            <a:ext cx="2697480" cy="472409"/>
          </a:xfrm>
          <a:prstGeom prst="rect">
            <a:avLst/>
          </a:prstGeom>
          <a:noFill/>
          <a:ln/>
        </p:spPr>
        <p:txBody>
          <a:bodyPr wrap="square" lIns="0" tIns="0" rIns="0" bIns="0" rtlCol="0" anchor="t"/>
          <a:lstStyle/>
          <a:p>
            <a:pPr marL="0" indent="0">
              <a:lnSpc>
                <a:spcPts val="1500"/>
              </a:lnSpc>
              <a:buNone/>
            </a:pPr>
            <a:r>
              <a:rPr lang="en-US" sz="1050" dirty="0">
                <a:solidFill>
                  <a:srgbClr val="6E6B64"/>
                </a:solidFill>
                <a:latin typeface="Calibri" pitchFamily="34" charset="0"/>
                <a:ea typeface="Calibri" pitchFamily="34" charset="-122"/>
                <a:cs typeface="Calibri" pitchFamily="34" charset="-120"/>
              </a:rPr>
              <a:t>runs — half of all innings finish at 13 runs or fewer.</a:t>
            </a:r>
            <a:endParaRPr lang="en-US" sz="1050" dirty="0"/>
          </a:p>
        </p:txBody>
      </p:sp>
      <p:pic>
        <p:nvPicPr>
          <p:cNvPr id="14" name="Picture 13">
            <a:extLst>
              <a:ext uri="{FF2B5EF4-FFF2-40B4-BE49-F238E27FC236}">
                <a16:creationId xmlns:a16="http://schemas.microsoft.com/office/drawing/2014/main" id="{A566C313-EEC0-92F1-DAEB-F87F9CB90C2F}"/>
              </a:ext>
            </a:extLst>
          </p:cNvPr>
          <p:cNvPicPr>
            <a:picLocks noChangeAspect="1"/>
          </p:cNvPicPr>
          <p:nvPr/>
        </p:nvPicPr>
        <p:blipFill>
          <a:blip r:embed="rId4"/>
          <a:stretch>
            <a:fillRect/>
          </a:stretch>
        </p:blipFill>
        <p:spPr>
          <a:xfrm>
            <a:off x="8616907" y="2006082"/>
            <a:ext cx="3231017" cy="198137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EFE7"/>
        </a:solidFill>
        <a:effectLst/>
      </p:bgPr>
    </p:bg>
    <p:spTree>
      <p:nvGrpSpPr>
        <p:cNvPr id="1" name=""/>
        <p:cNvGrpSpPr/>
        <p:nvPr/>
      </p:nvGrpSpPr>
      <p:grpSpPr>
        <a:xfrm>
          <a:off x="0" y="0"/>
          <a:ext cx="0" cy="0"/>
          <a:chOff x="0" y="0"/>
          <a:chExt cx="0" cy="0"/>
        </a:xfrm>
      </p:grpSpPr>
      <p:sp>
        <p:nvSpPr>
          <p:cNvPr id="2" name="Text 0"/>
          <p:cNvSpPr txBox="1"/>
          <p:nvPr/>
        </p:nvSpPr>
        <p:spPr>
          <a:xfrm>
            <a:off x="11183112" y="6382512"/>
            <a:ext cx="548640" cy="274320"/>
          </a:xfrm>
          <a:prstGeom prst="rect">
            <a:avLst/>
          </a:prstGeom>
          <a:noFill/>
          <a:ln/>
        </p:spPr>
        <p:txBody>
          <a:bodyPr wrap="square" lIns="0" tIns="0" rIns="0" bIns="0" rtlCol="0" anchor="ctr"/>
          <a:lstStyle/>
          <a:p>
            <a:pPr marL="0" indent="0" algn="r">
              <a:buNone/>
            </a:pPr>
            <a:r>
              <a:rPr lang="en-US" sz="1100" b="1" dirty="0">
                <a:solidFill>
                  <a:srgbClr val="C08A2E"/>
                </a:solidFill>
                <a:latin typeface="Cambria" pitchFamily="34" charset="0"/>
                <a:ea typeface="Cambria" pitchFamily="34" charset="-122"/>
                <a:cs typeface="Cambria" pitchFamily="34" charset="-120"/>
              </a:rPr>
              <a:t>11</a:t>
            </a:r>
            <a:endParaRPr lang="en-US" sz="1100" dirty="0"/>
          </a:p>
        </p:txBody>
      </p:sp>
      <p:sp>
        <p:nvSpPr>
          <p:cNvPr id="3" name="Text 1"/>
          <p:cNvSpPr txBox="1"/>
          <p:nvPr/>
        </p:nvSpPr>
        <p:spPr>
          <a:xfrm>
            <a:off x="566928" y="411480"/>
            <a:ext cx="8229600" cy="219456"/>
          </a:xfrm>
          <a:prstGeom prst="rect">
            <a:avLst/>
          </a:prstGeom>
          <a:noFill/>
          <a:ln/>
        </p:spPr>
        <p:txBody>
          <a:bodyPr wrap="square" lIns="0" tIns="0" rIns="0" bIns="0" rtlCol="0" anchor="ctr"/>
          <a:lstStyle/>
          <a:p>
            <a:pPr marL="0" indent="0">
              <a:buNone/>
            </a:pPr>
            <a:r>
              <a:rPr lang="en-US" sz="950" b="1" kern="0" spc="200" dirty="0">
                <a:solidFill>
                  <a:srgbClr val="C08A2E"/>
                </a:solidFill>
                <a:latin typeface="Calibri" pitchFamily="34" charset="0"/>
                <a:ea typeface="Calibri" pitchFamily="34" charset="-122"/>
                <a:cs typeface="Calibri" pitchFamily="34" charset="-120"/>
              </a:rPr>
              <a:t>MODEL 01</a:t>
            </a:r>
            <a:endParaRPr lang="en-US" sz="950" dirty="0"/>
          </a:p>
        </p:txBody>
      </p:sp>
      <p:sp>
        <p:nvSpPr>
          <p:cNvPr id="4" name="Text 2"/>
          <p:cNvSpPr txBox="1"/>
          <p:nvPr/>
        </p:nvSpPr>
        <p:spPr>
          <a:xfrm>
            <a:off x="566928" y="667512"/>
            <a:ext cx="11055096" cy="502920"/>
          </a:xfrm>
          <a:prstGeom prst="rect">
            <a:avLst/>
          </a:prstGeom>
          <a:noFill/>
          <a:ln/>
        </p:spPr>
        <p:txBody>
          <a:bodyPr wrap="square" lIns="0" tIns="0" rIns="0" bIns="0" rtlCol="0" anchor="ctr"/>
          <a:lstStyle/>
          <a:p>
            <a:pPr marL="0" indent="0">
              <a:buNone/>
            </a:pPr>
            <a:r>
              <a:rPr lang="en-US" sz="2700" b="1" dirty="0">
                <a:solidFill>
                  <a:srgbClr val="1B4034"/>
                </a:solidFill>
                <a:latin typeface="Cambria" pitchFamily="34" charset="0"/>
                <a:ea typeface="Cambria" pitchFamily="34" charset="-122"/>
                <a:cs typeface="Cambria" pitchFamily="34" charset="-120"/>
              </a:rPr>
              <a:t>Ridge Regression</a:t>
            </a:r>
            <a:endParaRPr lang="en-US" sz="2700" dirty="0"/>
          </a:p>
        </p:txBody>
      </p:sp>
      <p:sp>
        <p:nvSpPr>
          <p:cNvPr id="5" name="Shape 3"/>
          <p:cNvSpPr/>
          <p:nvPr/>
        </p:nvSpPr>
        <p:spPr>
          <a:xfrm>
            <a:off x="566928" y="1371600"/>
            <a:ext cx="5577840" cy="1965960"/>
          </a:xfrm>
          <a:prstGeom prst="roundRect">
            <a:avLst>
              <a:gd name="adj" fmla="val 2791"/>
            </a:avLst>
          </a:prstGeom>
          <a:solidFill>
            <a:srgbClr val="1B4034"/>
          </a:solidFill>
          <a:ln w="12700">
            <a:solidFill>
              <a:srgbClr val="1B4034"/>
            </a:solidFill>
            <a:prstDash val="solid"/>
          </a:ln>
        </p:spPr>
      </p:sp>
      <p:sp>
        <p:nvSpPr>
          <p:cNvPr id="6" name="Text 4"/>
          <p:cNvSpPr txBox="1"/>
          <p:nvPr/>
        </p:nvSpPr>
        <p:spPr>
          <a:xfrm>
            <a:off x="749808" y="1517904"/>
            <a:ext cx="5212080" cy="182880"/>
          </a:xfrm>
          <a:prstGeom prst="rect">
            <a:avLst/>
          </a:prstGeom>
          <a:noFill/>
          <a:ln/>
        </p:spPr>
        <p:txBody>
          <a:bodyPr wrap="square" lIns="0" tIns="0" rIns="0" bIns="0" rtlCol="0" anchor="ctr"/>
          <a:lstStyle/>
          <a:p>
            <a:pPr marL="0" indent="0">
              <a:buNone/>
            </a:pPr>
            <a:r>
              <a:rPr lang="en-US" sz="850" b="1" kern="0" spc="140" dirty="0">
                <a:solidFill>
                  <a:srgbClr val="C08A2E"/>
                </a:solidFill>
                <a:latin typeface="Calibri" pitchFamily="34" charset="0"/>
                <a:ea typeface="Calibri" pitchFamily="34" charset="-122"/>
                <a:cs typeface="Calibri" pitchFamily="34" charset="-120"/>
              </a:rPr>
              <a:t>L2 REGULARIZATION</a:t>
            </a:r>
            <a:endParaRPr lang="en-US" sz="850" dirty="0"/>
          </a:p>
        </p:txBody>
      </p:sp>
      <p:sp>
        <p:nvSpPr>
          <p:cNvPr id="7" name="Text 5"/>
          <p:cNvSpPr txBox="1"/>
          <p:nvPr/>
        </p:nvSpPr>
        <p:spPr>
          <a:xfrm>
            <a:off x="749808" y="1755648"/>
            <a:ext cx="5212080" cy="237744"/>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Penalises the sum of squared coefficients</a:t>
            </a:r>
            <a:endParaRPr lang="en-US" sz="1500" dirty="0"/>
          </a:p>
        </p:txBody>
      </p:sp>
      <p:sp>
        <p:nvSpPr>
          <p:cNvPr id="8" name="Text 6"/>
          <p:cNvSpPr txBox="1"/>
          <p:nvPr/>
        </p:nvSpPr>
        <p:spPr>
          <a:xfrm>
            <a:off x="749808" y="2066544"/>
            <a:ext cx="5212080" cy="1161288"/>
          </a:xfrm>
          <a:prstGeom prst="rect">
            <a:avLst/>
          </a:prstGeom>
          <a:noFill/>
          <a:ln/>
        </p:spPr>
        <p:txBody>
          <a:bodyPr wrap="square" lIns="0" tIns="0" rIns="0" bIns="0" rtlCol="0" anchor="t"/>
          <a:lstStyle/>
          <a:p>
            <a:pPr marL="0" indent="0">
              <a:lnSpc>
                <a:spcPts val="1500"/>
              </a:lnSpc>
              <a:buNone/>
            </a:pPr>
            <a:r>
              <a:rPr lang="en-US" sz="1100" dirty="0">
                <a:solidFill>
                  <a:srgbClr val="E4E9E4"/>
                </a:solidFill>
                <a:latin typeface="Calibri" pitchFamily="34" charset="0"/>
                <a:ea typeface="Calibri" pitchFamily="34" charset="-122"/>
                <a:cs typeface="Calibri" pitchFamily="34" charset="-120"/>
              </a:rPr>
              <a:t>The loss becomes RSS + α · Σβ². Raising α shrinks every weight toward zero without ever reaching it, trading a little bias for a large reduction in variance.</a:t>
            </a:r>
          </a:p>
          <a:p>
            <a:pPr marL="0" indent="0">
              <a:lnSpc>
                <a:spcPts val="1500"/>
              </a:lnSpc>
              <a:buNone/>
            </a:pPr>
            <a:endParaRPr lang="en-US" sz="1100" dirty="0">
              <a:solidFill>
                <a:srgbClr val="E4E9E4"/>
              </a:solidFill>
              <a:latin typeface="Calibri" pitchFamily="34" charset="0"/>
              <a:ea typeface="Calibri" pitchFamily="34" charset="-122"/>
              <a:cs typeface="Calibri" pitchFamily="34" charset="-120"/>
            </a:endParaRPr>
          </a:p>
          <a:p>
            <a:pPr>
              <a:lnSpc>
                <a:spcPts val="1500"/>
              </a:lnSpc>
            </a:pPr>
            <a:r>
              <a:rPr lang="en-US" sz="1600" b="1" dirty="0">
                <a:solidFill>
                  <a:srgbClr val="FFFFFF"/>
                </a:solidFill>
                <a:latin typeface="Cambria" pitchFamily="34" charset="0"/>
                <a:ea typeface="Cambria" pitchFamily="34" charset="-122"/>
                <a:cs typeface="Cambria" pitchFamily="34" charset="-120"/>
              </a:rPr>
              <a:t>RSS + α · Σ|β| ^ 2</a:t>
            </a:r>
            <a:endParaRPr lang="en-US" sz="1600" dirty="0"/>
          </a:p>
          <a:p>
            <a:pPr marL="0" indent="0">
              <a:lnSpc>
                <a:spcPts val="1500"/>
              </a:lnSpc>
              <a:buNone/>
            </a:pPr>
            <a:endParaRPr lang="en-US" sz="1100" dirty="0"/>
          </a:p>
        </p:txBody>
      </p:sp>
      <p:sp>
        <p:nvSpPr>
          <p:cNvPr id="9" name="Shape 7"/>
          <p:cNvSpPr/>
          <p:nvPr/>
        </p:nvSpPr>
        <p:spPr>
          <a:xfrm>
            <a:off x="6217920" y="1371600"/>
            <a:ext cx="5394960" cy="1965960"/>
          </a:xfrm>
          <a:prstGeom prst="roundRect">
            <a:avLst>
              <a:gd name="adj" fmla="val 2791"/>
            </a:avLst>
          </a:prstGeom>
          <a:solidFill>
            <a:srgbClr val="FFFFFF"/>
          </a:solidFill>
          <a:ln w="12700">
            <a:solidFill>
              <a:srgbClr val="DDD6C8"/>
            </a:solidFill>
            <a:prstDash val="solid"/>
          </a:ln>
        </p:spPr>
      </p:sp>
      <p:sp>
        <p:nvSpPr>
          <p:cNvPr id="11" name="Text 9"/>
          <p:cNvSpPr txBox="1"/>
          <p:nvPr/>
        </p:nvSpPr>
        <p:spPr>
          <a:xfrm>
            <a:off x="6400800" y="1755648"/>
            <a:ext cx="5029200" cy="237744"/>
          </a:xfrm>
          <a:prstGeom prst="rect">
            <a:avLst/>
          </a:prstGeom>
          <a:noFill/>
          <a:ln/>
        </p:spPr>
        <p:txBody>
          <a:bodyPr wrap="square" lIns="0" tIns="0" rIns="0" bIns="0" rtlCol="0" anchor="ctr"/>
          <a:lstStyle/>
          <a:p>
            <a:pPr marL="0" indent="0">
              <a:buNone/>
            </a:pPr>
            <a:r>
              <a:rPr lang="en-US" sz="1500" b="1" dirty="0">
                <a:solidFill>
                  <a:srgbClr val="1B4034"/>
                </a:solidFill>
                <a:latin typeface="Cambria" pitchFamily="34" charset="0"/>
                <a:ea typeface="Cambria" pitchFamily="34" charset="-122"/>
                <a:cs typeface="Cambria" pitchFamily="34" charset="-120"/>
              </a:rPr>
              <a:t>alpha = 1.0</a:t>
            </a:r>
            <a:endParaRPr lang="en-US" sz="1500" dirty="0"/>
          </a:p>
        </p:txBody>
      </p:sp>
      <p:sp>
        <p:nvSpPr>
          <p:cNvPr id="12" name="Text 10"/>
          <p:cNvSpPr txBox="1"/>
          <p:nvPr/>
        </p:nvSpPr>
        <p:spPr>
          <a:xfrm>
            <a:off x="6400800" y="2066544"/>
            <a:ext cx="5029200" cy="1161288"/>
          </a:xfrm>
          <a:prstGeom prst="rect">
            <a:avLst/>
          </a:prstGeom>
          <a:noFill/>
          <a:ln/>
        </p:spPr>
        <p:txBody>
          <a:bodyPr wrap="square" lIns="0" tIns="0" rIns="0" bIns="0" rtlCol="0" anchor="t"/>
          <a:lstStyle/>
          <a:p>
            <a:r>
              <a:rPr lang="en-IN" sz="1200" dirty="0"/>
              <a:t>Ridge Regression is Linear Regression with L2 regularization. Since our features have multicollinearity, Ridge adds a penalty based on the squared coefficients. This shrinks large coefficients, improves model stability, and helps control overfitting. In our implementation, alpha is set to 1.0, and the numerical predictors are scaled before training.</a:t>
            </a:r>
            <a:endParaRPr lang="en-US" sz="1200" dirty="0"/>
          </a:p>
        </p:txBody>
      </p:sp>
      <p:sp>
        <p:nvSpPr>
          <p:cNvPr id="13" name="Shape 11"/>
          <p:cNvSpPr/>
          <p:nvPr/>
        </p:nvSpPr>
        <p:spPr>
          <a:xfrm>
            <a:off x="566928" y="3520440"/>
            <a:ext cx="5577840" cy="1051560"/>
          </a:xfrm>
          <a:prstGeom prst="roundRect">
            <a:avLst>
              <a:gd name="adj" fmla="val 4348"/>
            </a:avLst>
          </a:prstGeom>
          <a:solidFill>
            <a:srgbClr val="FFFFFF"/>
          </a:solidFill>
          <a:ln w="12700">
            <a:solidFill>
              <a:srgbClr val="DDD6C8"/>
            </a:solidFill>
            <a:prstDash val="solid"/>
          </a:ln>
        </p:spPr>
      </p:sp>
      <p:sp>
        <p:nvSpPr>
          <p:cNvPr id="14" name="Text 12"/>
          <p:cNvSpPr txBox="1"/>
          <p:nvPr/>
        </p:nvSpPr>
        <p:spPr>
          <a:xfrm>
            <a:off x="768096" y="3666744"/>
            <a:ext cx="5166360" cy="256032"/>
          </a:xfrm>
          <a:prstGeom prst="rect">
            <a:avLst/>
          </a:prstGeom>
          <a:noFill/>
          <a:ln/>
        </p:spPr>
        <p:txBody>
          <a:bodyPr wrap="square" lIns="0" tIns="0" rIns="0" bIns="0" rtlCol="0" anchor="ctr"/>
          <a:lstStyle/>
          <a:p>
            <a:pPr marL="0" indent="0">
              <a:buNone/>
            </a:pPr>
            <a:r>
              <a:rPr lang="en-US" sz="1300" b="1" dirty="0">
                <a:solidFill>
                  <a:srgbClr val="1B4034"/>
                </a:solidFill>
                <a:latin typeface="Cambria" pitchFamily="34" charset="0"/>
                <a:ea typeface="Cambria" pitchFamily="34" charset="-122"/>
                <a:cs typeface="Cambria" pitchFamily="34" charset="-120"/>
              </a:rPr>
              <a:t>Handles multicollinearity</a:t>
            </a:r>
            <a:endParaRPr lang="en-US" sz="1300" dirty="0"/>
          </a:p>
        </p:txBody>
      </p:sp>
      <p:sp>
        <p:nvSpPr>
          <p:cNvPr id="15" name="Text 13"/>
          <p:cNvSpPr txBox="1"/>
          <p:nvPr/>
        </p:nvSpPr>
        <p:spPr>
          <a:xfrm>
            <a:off x="768096" y="3959352"/>
            <a:ext cx="5166360" cy="502920"/>
          </a:xfrm>
          <a:prstGeom prst="rect">
            <a:avLst/>
          </a:prstGeom>
          <a:noFill/>
          <a:ln/>
        </p:spPr>
        <p:txBody>
          <a:bodyPr wrap="square" lIns="0" tIns="0" rIns="0" bIns="0" rtlCol="0" anchor="ctr"/>
          <a:lstStyle/>
          <a:p>
            <a:pPr marL="0" indent="0">
              <a:lnSpc>
                <a:spcPts val="1300"/>
              </a:lnSpc>
              <a:buNone/>
            </a:pPr>
            <a:r>
              <a:rPr lang="en-US" sz="1000" dirty="0">
                <a:solidFill>
                  <a:srgbClr val="6E6B64"/>
                </a:solidFill>
                <a:latin typeface="Calibri" pitchFamily="34" charset="0"/>
                <a:ea typeface="Calibri" pitchFamily="34" charset="-122"/>
                <a:cs typeface="Calibri" pitchFamily="34" charset="-120"/>
              </a:rPr>
              <a:t>Balls, fours and sixes are strongly correlated; Ridge distributes weight across them instead of picking arbitrarily.</a:t>
            </a:r>
            <a:endParaRPr lang="en-US" sz="1000" dirty="0"/>
          </a:p>
        </p:txBody>
      </p:sp>
      <p:sp>
        <p:nvSpPr>
          <p:cNvPr id="16" name="Shape 14"/>
          <p:cNvSpPr/>
          <p:nvPr/>
        </p:nvSpPr>
        <p:spPr>
          <a:xfrm>
            <a:off x="6419088" y="3520440"/>
            <a:ext cx="5577840" cy="1051560"/>
          </a:xfrm>
          <a:prstGeom prst="roundRect">
            <a:avLst>
              <a:gd name="adj" fmla="val 4348"/>
            </a:avLst>
          </a:prstGeom>
          <a:solidFill>
            <a:srgbClr val="FFFFFF"/>
          </a:solidFill>
          <a:ln w="12700">
            <a:solidFill>
              <a:srgbClr val="DDD6C8"/>
            </a:solidFill>
            <a:prstDash val="solid"/>
          </a:ln>
        </p:spPr>
      </p:sp>
      <p:sp>
        <p:nvSpPr>
          <p:cNvPr id="17" name="Text 15"/>
          <p:cNvSpPr txBox="1"/>
          <p:nvPr/>
        </p:nvSpPr>
        <p:spPr>
          <a:xfrm>
            <a:off x="6620256" y="3666744"/>
            <a:ext cx="5166360" cy="256032"/>
          </a:xfrm>
          <a:prstGeom prst="rect">
            <a:avLst/>
          </a:prstGeom>
          <a:noFill/>
          <a:ln/>
        </p:spPr>
        <p:txBody>
          <a:bodyPr wrap="square" lIns="0" tIns="0" rIns="0" bIns="0" rtlCol="0" anchor="ctr"/>
          <a:lstStyle/>
          <a:p>
            <a:pPr marL="0" indent="0">
              <a:buNone/>
            </a:pPr>
            <a:r>
              <a:rPr lang="en-US" sz="1300" b="1" dirty="0">
                <a:solidFill>
                  <a:srgbClr val="1B4034"/>
                </a:solidFill>
                <a:latin typeface="Cambria" pitchFamily="34" charset="0"/>
                <a:ea typeface="Cambria" pitchFamily="34" charset="-122"/>
                <a:cs typeface="Cambria" pitchFamily="34" charset="-120"/>
              </a:rPr>
              <a:t>Stabilises coefficients</a:t>
            </a:r>
            <a:endParaRPr lang="en-US" sz="1300" dirty="0"/>
          </a:p>
        </p:txBody>
      </p:sp>
      <p:sp>
        <p:nvSpPr>
          <p:cNvPr id="18" name="Text 16"/>
          <p:cNvSpPr txBox="1"/>
          <p:nvPr/>
        </p:nvSpPr>
        <p:spPr>
          <a:xfrm>
            <a:off x="6620256" y="3959352"/>
            <a:ext cx="5166360" cy="502920"/>
          </a:xfrm>
          <a:prstGeom prst="rect">
            <a:avLst/>
          </a:prstGeom>
          <a:noFill/>
          <a:ln/>
        </p:spPr>
        <p:txBody>
          <a:bodyPr wrap="square" lIns="0" tIns="0" rIns="0" bIns="0" rtlCol="0" anchor="ctr"/>
          <a:lstStyle/>
          <a:p>
            <a:pPr marL="0" indent="0">
              <a:lnSpc>
                <a:spcPts val="1300"/>
              </a:lnSpc>
              <a:buNone/>
            </a:pPr>
            <a:r>
              <a:rPr lang="en-US" sz="1000" dirty="0">
                <a:solidFill>
                  <a:srgbClr val="6E6B64"/>
                </a:solidFill>
                <a:latin typeface="Calibri" pitchFamily="34" charset="0"/>
                <a:ea typeface="Calibri" pitchFamily="34" charset="-122"/>
                <a:cs typeface="Calibri" pitchFamily="34" charset="-120"/>
              </a:rPr>
              <a:t>Small changes in the training sample no longer swing the fitted weights.</a:t>
            </a:r>
            <a:endParaRPr lang="en-US" sz="1000" dirty="0"/>
          </a:p>
        </p:txBody>
      </p:sp>
      <p:sp>
        <p:nvSpPr>
          <p:cNvPr id="19" name="Shape 17"/>
          <p:cNvSpPr/>
          <p:nvPr/>
        </p:nvSpPr>
        <p:spPr>
          <a:xfrm>
            <a:off x="566928" y="4709160"/>
            <a:ext cx="5577840" cy="1051560"/>
          </a:xfrm>
          <a:prstGeom prst="roundRect">
            <a:avLst>
              <a:gd name="adj" fmla="val 4348"/>
            </a:avLst>
          </a:prstGeom>
          <a:solidFill>
            <a:srgbClr val="FFFFFF"/>
          </a:solidFill>
          <a:ln w="12700">
            <a:solidFill>
              <a:srgbClr val="DDD6C8"/>
            </a:solidFill>
            <a:prstDash val="solid"/>
          </a:ln>
        </p:spPr>
      </p:sp>
      <p:sp>
        <p:nvSpPr>
          <p:cNvPr id="20" name="Text 18"/>
          <p:cNvSpPr txBox="1"/>
          <p:nvPr/>
        </p:nvSpPr>
        <p:spPr>
          <a:xfrm>
            <a:off x="768096" y="4855464"/>
            <a:ext cx="5166360" cy="256032"/>
          </a:xfrm>
          <a:prstGeom prst="rect">
            <a:avLst/>
          </a:prstGeom>
          <a:noFill/>
          <a:ln/>
        </p:spPr>
        <p:txBody>
          <a:bodyPr wrap="square" lIns="0" tIns="0" rIns="0" bIns="0" rtlCol="0" anchor="ctr"/>
          <a:lstStyle/>
          <a:p>
            <a:pPr marL="0" indent="0">
              <a:buNone/>
            </a:pPr>
            <a:r>
              <a:rPr lang="en-US" sz="1300" b="1" dirty="0">
                <a:solidFill>
                  <a:srgbClr val="1B4034"/>
                </a:solidFill>
                <a:latin typeface="Cambria" pitchFamily="34" charset="0"/>
                <a:ea typeface="Cambria" pitchFamily="34" charset="-122"/>
                <a:cs typeface="Cambria" pitchFamily="34" charset="-120"/>
              </a:rPr>
              <a:t>Keeps every feature</a:t>
            </a:r>
            <a:endParaRPr lang="en-US" sz="1300" dirty="0"/>
          </a:p>
        </p:txBody>
      </p:sp>
      <p:sp>
        <p:nvSpPr>
          <p:cNvPr id="21" name="Text 19"/>
          <p:cNvSpPr txBox="1"/>
          <p:nvPr/>
        </p:nvSpPr>
        <p:spPr>
          <a:xfrm>
            <a:off x="768096" y="5148072"/>
            <a:ext cx="5166360" cy="502920"/>
          </a:xfrm>
          <a:prstGeom prst="rect">
            <a:avLst/>
          </a:prstGeom>
          <a:noFill/>
          <a:ln/>
        </p:spPr>
        <p:txBody>
          <a:bodyPr wrap="square" lIns="0" tIns="0" rIns="0" bIns="0" rtlCol="0" anchor="ctr"/>
          <a:lstStyle/>
          <a:p>
            <a:pPr marL="0" indent="0">
              <a:lnSpc>
                <a:spcPts val="1300"/>
              </a:lnSpc>
              <a:buNone/>
            </a:pPr>
            <a:r>
              <a:rPr lang="en-US" sz="1000" dirty="0">
                <a:solidFill>
                  <a:srgbClr val="6E6B64"/>
                </a:solidFill>
                <a:latin typeface="Calibri" pitchFamily="34" charset="0"/>
                <a:ea typeface="Calibri" pitchFamily="34" charset="-122"/>
                <a:cs typeface="Calibri" pitchFamily="34" charset="-120"/>
              </a:rPr>
              <a:t>Nothing is dropped, so weak-but-real signals such as run rate still contribute.</a:t>
            </a:r>
            <a:endParaRPr lang="en-US" sz="1000" dirty="0"/>
          </a:p>
        </p:txBody>
      </p:sp>
      <p:sp>
        <p:nvSpPr>
          <p:cNvPr id="22" name="Shape 20"/>
          <p:cNvSpPr/>
          <p:nvPr/>
        </p:nvSpPr>
        <p:spPr>
          <a:xfrm>
            <a:off x="6419088" y="4709160"/>
            <a:ext cx="5577840" cy="1051560"/>
          </a:xfrm>
          <a:prstGeom prst="roundRect">
            <a:avLst>
              <a:gd name="adj" fmla="val 4348"/>
            </a:avLst>
          </a:prstGeom>
          <a:solidFill>
            <a:srgbClr val="FFFFFF"/>
          </a:solidFill>
          <a:ln w="12700">
            <a:solidFill>
              <a:srgbClr val="DDD6C8"/>
            </a:solidFill>
            <a:prstDash val="solid"/>
          </a:ln>
        </p:spPr>
      </p:sp>
      <p:sp>
        <p:nvSpPr>
          <p:cNvPr id="23" name="Text 21"/>
          <p:cNvSpPr txBox="1"/>
          <p:nvPr/>
        </p:nvSpPr>
        <p:spPr>
          <a:xfrm>
            <a:off x="6620256" y="4855464"/>
            <a:ext cx="5166360" cy="256032"/>
          </a:xfrm>
          <a:prstGeom prst="rect">
            <a:avLst/>
          </a:prstGeom>
          <a:noFill/>
          <a:ln/>
        </p:spPr>
        <p:txBody>
          <a:bodyPr wrap="square" lIns="0" tIns="0" rIns="0" bIns="0" rtlCol="0" anchor="ctr"/>
          <a:lstStyle/>
          <a:p>
            <a:pPr marL="0" indent="0">
              <a:buNone/>
            </a:pPr>
            <a:r>
              <a:rPr lang="en-US" sz="1300" b="1" dirty="0">
                <a:solidFill>
                  <a:srgbClr val="1B4034"/>
                </a:solidFill>
                <a:latin typeface="Cambria" pitchFamily="34" charset="0"/>
                <a:ea typeface="Cambria" pitchFamily="34" charset="-122"/>
                <a:cs typeface="Cambria" pitchFamily="34" charset="-120"/>
              </a:rPr>
              <a:t>Controls overfitting</a:t>
            </a:r>
            <a:endParaRPr lang="en-US" sz="1300" dirty="0"/>
          </a:p>
        </p:txBody>
      </p:sp>
      <p:sp>
        <p:nvSpPr>
          <p:cNvPr id="24" name="Text 22"/>
          <p:cNvSpPr txBox="1"/>
          <p:nvPr/>
        </p:nvSpPr>
        <p:spPr>
          <a:xfrm>
            <a:off x="6620256" y="5148072"/>
            <a:ext cx="5166360" cy="502920"/>
          </a:xfrm>
          <a:prstGeom prst="rect">
            <a:avLst/>
          </a:prstGeom>
          <a:noFill/>
          <a:ln/>
        </p:spPr>
        <p:txBody>
          <a:bodyPr wrap="square" lIns="0" tIns="0" rIns="0" bIns="0" rtlCol="0" anchor="ctr"/>
          <a:lstStyle/>
          <a:p>
            <a:pPr marL="0" indent="0">
              <a:lnSpc>
                <a:spcPts val="1300"/>
              </a:lnSpc>
              <a:buNone/>
            </a:pPr>
            <a:r>
              <a:rPr lang="en-US" sz="1000" dirty="0">
                <a:solidFill>
                  <a:srgbClr val="6E6B64"/>
                </a:solidFill>
                <a:latin typeface="Calibri" pitchFamily="34" charset="0"/>
                <a:ea typeface="Calibri" pitchFamily="34" charset="-122"/>
                <a:cs typeface="Calibri" pitchFamily="34" charset="-120"/>
              </a:rPr>
              <a:t>Model complexity is limited without reducing the feature count.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EFE7"/>
        </a:solidFill>
        <a:effectLst/>
      </p:bgPr>
    </p:bg>
    <p:spTree>
      <p:nvGrpSpPr>
        <p:cNvPr id="1" name=""/>
        <p:cNvGrpSpPr/>
        <p:nvPr/>
      </p:nvGrpSpPr>
      <p:grpSpPr>
        <a:xfrm>
          <a:off x="0" y="0"/>
          <a:ext cx="0" cy="0"/>
          <a:chOff x="0" y="0"/>
          <a:chExt cx="0" cy="0"/>
        </a:xfrm>
      </p:grpSpPr>
      <p:sp>
        <p:nvSpPr>
          <p:cNvPr id="2" name="Text 0"/>
          <p:cNvSpPr txBox="1"/>
          <p:nvPr/>
        </p:nvSpPr>
        <p:spPr>
          <a:xfrm>
            <a:off x="11183112" y="6382512"/>
            <a:ext cx="548640" cy="274320"/>
          </a:xfrm>
          <a:prstGeom prst="rect">
            <a:avLst/>
          </a:prstGeom>
          <a:noFill/>
          <a:ln/>
        </p:spPr>
        <p:txBody>
          <a:bodyPr wrap="square" lIns="0" tIns="0" rIns="0" bIns="0" rtlCol="0" anchor="ctr"/>
          <a:lstStyle/>
          <a:p>
            <a:pPr marL="0" indent="0" algn="r">
              <a:buNone/>
            </a:pPr>
            <a:r>
              <a:rPr lang="en-US" sz="1100" b="1" dirty="0">
                <a:solidFill>
                  <a:srgbClr val="C08A2E"/>
                </a:solidFill>
                <a:latin typeface="Cambria" pitchFamily="34" charset="0"/>
                <a:ea typeface="Cambria" pitchFamily="34" charset="-122"/>
                <a:cs typeface="Cambria" pitchFamily="34" charset="-120"/>
              </a:rPr>
              <a:t>12</a:t>
            </a:r>
            <a:endParaRPr lang="en-US" sz="1100" dirty="0"/>
          </a:p>
        </p:txBody>
      </p:sp>
      <p:sp>
        <p:nvSpPr>
          <p:cNvPr id="3" name="Text 1"/>
          <p:cNvSpPr txBox="1"/>
          <p:nvPr/>
        </p:nvSpPr>
        <p:spPr>
          <a:xfrm>
            <a:off x="566928" y="411480"/>
            <a:ext cx="8229600" cy="219456"/>
          </a:xfrm>
          <a:prstGeom prst="rect">
            <a:avLst/>
          </a:prstGeom>
          <a:noFill/>
          <a:ln/>
        </p:spPr>
        <p:txBody>
          <a:bodyPr wrap="square" lIns="0" tIns="0" rIns="0" bIns="0" rtlCol="0" anchor="ctr"/>
          <a:lstStyle/>
          <a:p>
            <a:pPr marL="0" indent="0">
              <a:buNone/>
            </a:pPr>
            <a:r>
              <a:rPr lang="en-US" sz="950" b="1" kern="0" spc="200" dirty="0">
                <a:solidFill>
                  <a:srgbClr val="C08A2E"/>
                </a:solidFill>
                <a:latin typeface="Calibri" pitchFamily="34" charset="0"/>
                <a:ea typeface="Calibri" pitchFamily="34" charset="-122"/>
                <a:cs typeface="Calibri" pitchFamily="34" charset="-120"/>
              </a:rPr>
              <a:t>MODELS 02 AND 03</a:t>
            </a:r>
            <a:endParaRPr lang="en-US" sz="950" dirty="0"/>
          </a:p>
        </p:txBody>
      </p:sp>
      <p:sp>
        <p:nvSpPr>
          <p:cNvPr id="4" name="Text 2"/>
          <p:cNvSpPr txBox="1"/>
          <p:nvPr/>
        </p:nvSpPr>
        <p:spPr>
          <a:xfrm>
            <a:off x="566928" y="667512"/>
            <a:ext cx="11055096" cy="502920"/>
          </a:xfrm>
          <a:prstGeom prst="rect">
            <a:avLst/>
          </a:prstGeom>
          <a:noFill/>
          <a:ln/>
        </p:spPr>
        <p:txBody>
          <a:bodyPr wrap="square" lIns="0" tIns="0" rIns="0" bIns="0" rtlCol="0" anchor="ctr"/>
          <a:lstStyle/>
          <a:p>
            <a:pPr marL="0" indent="0">
              <a:buNone/>
            </a:pPr>
            <a:r>
              <a:rPr lang="en-US" sz="2700" b="1" dirty="0">
                <a:solidFill>
                  <a:srgbClr val="1B4034"/>
                </a:solidFill>
                <a:latin typeface="Cambria" pitchFamily="34" charset="0"/>
                <a:ea typeface="Cambria" pitchFamily="34" charset="-122"/>
                <a:cs typeface="Cambria" pitchFamily="34" charset="-120"/>
              </a:rPr>
              <a:t>Lasso Regression</a:t>
            </a:r>
            <a:endParaRPr lang="en-US" sz="2700" dirty="0"/>
          </a:p>
        </p:txBody>
      </p:sp>
      <p:sp>
        <p:nvSpPr>
          <p:cNvPr id="5" name="Shape 3"/>
          <p:cNvSpPr/>
          <p:nvPr/>
        </p:nvSpPr>
        <p:spPr>
          <a:xfrm>
            <a:off x="566928" y="1371600"/>
            <a:ext cx="5577840" cy="1463040"/>
          </a:xfrm>
          <a:prstGeom prst="roundRect">
            <a:avLst>
              <a:gd name="adj" fmla="val 3750"/>
            </a:avLst>
          </a:prstGeom>
          <a:solidFill>
            <a:srgbClr val="1B4034"/>
          </a:solidFill>
          <a:ln w="12700">
            <a:solidFill>
              <a:srgbClr val="1B4034"/>
            </a:solidFill>
            <a:prstDash val="solid"/>
          </a:ln>
        </p:spPr>
      </p:sp>
      <p:sp>
        <p:nvSpPr>
          <p:cNvPr id="6" name="Text 4"/>
          <p:cNvSpPr txBox="1"/>
          <p:nvPr/>
        </p:nvSpPr>
        <p:spPr>
          <a:xfrm>
            <a:off x="749808" y="1517904"/>
            <a:ext cx="5212080" cy="182880"/>
          </a:xfrm>
          <a:prstGeom prst="rect">
            <a:avLst/>
          </a:prstGeom>
          <a:noFill/>
          <a:ln/>
        </p:spPr>
        <p:txBody>
          <a:bodyPr wrap="square" lIns="0" tIns="0" rIns="0" bIns="0" rtlCol="0" anchor="ctr"/>
          <a:lstStyle/>
          <a:p>
            <a:pPr marL="0" indent="0">
              <a:buNone/>
            </a:pPr>
            <a:r>
              <a:rPr lang="en-US" sz="850" b="1" kern="0" spc="140" dirty="0">
                <a:solidFill>
                  <a:srgbClr val="C08A2E"/>
                </a:solidFill>
                <a:latin typeface="Calibri" pitchFamily="34" charset="0"/>
                <a:ea typeface="Calibri" pitchFamily="34" charset="-122"/>
                <a:cs typeface="Calibri" pitchFamily="34" charset="-120"/>
              </a:rPr>
              <a:t>LASSO — L1 REGULARIZATION</a:t>
            </a:r>
            <a:endParaRPr lang="en-US" sz="850" dirty="0"/>
          </a:p>
        </p:txBody>
      </p:sp>
      <p:sp>
        <p:nvSpPr>
          <p:cNvPr id="7" name="Text 5"/>
          <p:cNvSpPr txBox="1"/>
          <p:nvPr/>
        </p:nvSpPr>
        <p:spPr>
          <a:xfrm>
            <a:off x="749808" y="1755648"/>
            <a:ext cx="5212080" cy="237744"/>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RSS + α · Σ|β|</a:t>
            </a:r>
            <a:endParaRPr lang="en-US" sz="1600" dirty="0"/>
          </a:p>
        </p:txBody>
      </p:sp>
      <p:sp>
        <p:nvSpPr>
          <p:cNvPr id="8" name="Text 6"/>
          <p:cNvSpPr txBox="1"/>
          <p:nvPr/>
        </p:nvSpPr>
        <p:spPr>
          <a:xfrm>
            <a:off x="749808" y="2066544"/>
            <a:ext cx="5212080" cy="658368"/>
          </a:xfrm>
          <a:prstGeom prst="rect">
            <a:avLst/>
          </a:prstGeom>
          <a:noFill/>
          <a:ln/>
        </p:spPr>
        <p:txBody>
          <a:bodyPr wrap="square" lIns="0" tIns="0" rIns="0" bIns="0" rtlCol="0" anchor="t"/>
          <a:lstStyle/>
          <a:p>
            <a:pPr marL="0" indent="0">
              <a:lnSpc>
                <a:spcPts val="1500"/>
              </a:lnSpc>
              <a:buNone/>
            </a:pPr>
            <a:r>
              <a:rPr lang="en-US" sz="1100" dirty="0">
                <a:solidFill>
                  <a:srgbClr val="E4E9E4"/>
                </a:solidFill>
                <a:latin typeface="Calibri" pitchFamily="34" charset="0"/>
                <a:ea typeface="Calibri" pitchFamily="34" charset="-122"/>
                <a:cs typeface="Calibri" pitchFamily="34" charset="-120"/>
              </a:rPr>
              <a:t>The absolute-value penalty can force coefficients to exactly zero, so Lasso selects features as it fits. Configured with alpha = 0.01.</a:t>
            </a:r>
            <a:endParaRPr lang="en-US" sz="1100" dirty="0"/>
          </a:p>
        </p:txBody>
      </p:sp>
      <p:sp>
        <p:nvSpPr>
          <p:cNvPr id="9" name="Text 7"/>
          <p:cNvSpPr txBox="1"/>
          <p:nvPr/>
        </p:nvSpPr>
        <p:spPr>
          <a:xfrm>
            <a:off x="807720" y="3218688"/>
            <a:ext cx="5120640" cy="1371600"/>
          </a:xfrm>
          <a:prstGeom prst="rect">
            <a:avLst/>
          </a:prstGeom>
          <a:noFill/>
          <a:ln/>
        </p:spPr>
        <p:txBody>
          <a:bodyPr wrap="square" lIns="0" tIns="0" rIns="0" bIns="0" rtlCol="0" anchor="t"/>
          <a:lstStyle/>
          <a:p>
            <a:pPr marL="342900" indent="-342900">
              <a:spcAft>
                <a:spcPts val="700"/>
              </a:spcAft>
              <a:buSzPct val="100000"/>
              <a:buChar char="•"/>
            </a:pPr>
            <a:r>
              <a:rPr lang="en-US" sz="1100" dirty="0">
                <a:solidFill>
                  <a:srgbClr val="23231F"/>
                </a:solidFill>
                <a:latin typeface="Calibri" pitchFamily="34" charset="0"/>
                <a:ea typeface="Calibri" pitchFamily="34" charset="-122"/>
                <a:cs typeface="Calibri" pitchFamily="34" charset="-120"/>
              </a:rPr>
              <a:t>Removes uninformative predictors outright</a:t>
            </a:r>
            <a:endParaRPr lang="en-US" sz="1100" dirty="0"/>
          </a:p>
          <a:p>
            <a:pPr marL="342900" indent="-342900">
              <a:spcAft>
                <a:spcPts val="700"/>
              </a:spcAft>
              <a:buSzPct val="100000"/>
              <a:buChar char="•"/>
            </a:pPr>
            <a:r>
              <a:rPr lang="en-US" sz="1100" dirty="0">
                <a:solidFill>
                  <a:srgbClr val="23231F"/>
                </a:solidFill>
                <a:latin typeface="Calibri" pitchFamily="34" charset="0"/>
                <a:ea typeface="Calibri" pitchFamily="34" charset="-122"/>
                <a:cs typeface="Calibri" pitchFamily="34" charset="-120"/>
              </a:rPr>
              <a:t>Produces a sparser, easier-to-explain model</a:t>
            </a:r>
            <a:endParaRPr lang="en-US" sz="1100" dirty="0"/>
          </a:p>
          <a:p>
            <a:pPr marL="342900" indent="-342900">
              <a:spcAft>
                <a:spcPts val="700"/>
              </a:spcAft>
              <a:buSzPct val="100000"/>
              <a:buChar char="•"/>
            </a:pPr>
            <a:r>
              <a:rPr lang="en-US" sz="1100" dirty="0">
                <a:solidFill>
                  <a:srgbClr val="23231F"/>
                </a:solidFill>
                <a:latin typeface="Calibri" pitchFamily="34" charset="0"/>
                <a:ea typeface="Calibri" pitchFamily="34" charset="-122"/>
                <a:cs typeface="Calibri" pitchFamily="34" charset="-120"/>
              </a:rPr>
              <a:t>Identifies which performance factors truly matter</a:t>
            </a:r>
            <a:endParaRPr lang="en-US" sz="1100" dirty="0"/>
          </a:p>
          <a:p>
            <a:pPr marL="342900" indent="-342900">
              <a:spcAft>
                <a:spcPts val="700"/>
              </a:spcAft>
              <a:buSzPct val="100000"/>
              <a:buChar char="•"/>
            </a:pPr>
            <a:r>
              <a:rPr lang="en-US" sz="1100" dirty="0">
                <a:solidFill>
                  <a:srgbClr val="23231F"/>
                </a:solidFill>
                <a:latin typeface="Calibri" pitchFamily="34" charset="0"/>
                <a:ea typeface="Calibri" pitchFamily="34" charset="-122"/>
                <a:cs typeface="Calibri" pitchFamily="34" charset="-120"/>
              </a:rPr>
              <a:t>Can behave unstably when features are highly correlated</a:t>
            </a:r>
            <a:endParaRPr lang="en-US" sz="1100" dirty="0"/>
          </a:p>
        </p:txBody>
      </p:sp>
      <p:sp>
        <p:nvSpPr>
          <p:cNvPr id="10" name="Text 8"/>
          <p:cNvSpPr txBox="1"/>
          <p:nvPr/>
        </p:nvSpPr>
        <p:spPr>
          <a:xfrm>
            <a:off x="809244" y="2919984"/>
            <a:ext cx="3657600" cy="182880"/>
          </a:xfrm>
          <a:prstGeom prst="rect">
            <a:avLst/>
          </a:prstGeom>
          <a:noFill/>
          <a:ln/>
        </p:spPr>
        <p:txBody>
          <a:bodyPr wrap="square" lIns="0" tIns="0" rIns="0" bIns="0" rtlCol="0" anchor="ctr"/>
          <a:lstStyle/>
          <a:p>
            <a:pPr marL="0" indent="0">
              <a:buNone/>
            </a:pPr>
            <a:r>
              <a:rPr lang="en-US" sz="850" b="1" kern="0" spc="140" dirty="0">
                <a:solidFill>
                  <a:srgbClr val="C08A2E"/>
                </a:solidFill>
                <a:latin typeface="Calibri" pitchFamily="34" charset="0"/>
                <a:ea typeface="Calibri" pitchFamily="34" charset="-122"/>
                <a:cs typeface="Calibri" pitchFamily="34" charset="-120"/>
              </a:rPr>
              <a:t>ADVANTAGES &amp; LIMITS</a:t>
            </a:r>
            <a:endParaRPr lang="en-US" sz="850" dirty="0"/>
          </a:p>
        </p:txBody>
      </p:sp>
      <p:sp>
        <p:nvSpPr>
          <p:cNvPr id="15" name="Text 13"/>
          <p:cNvSpPr txBox="1"/>
          <p:nvPr/>
        </p:nvSpPr>
        <p:spPr>
          <a:xfrm>
            <a:off x="6446520" y="3222752"/>
            <a:ext cx="4937760" cy="1371600"/>
          </a:xfrm>
          <a:prstGeom prst="rect">
            <a:avLst/>
          </a:prstGeom>
          <a:noFill/>
          <a:ln/>
        </p:spPr>
        <p:txBody>
          <a:bodyPr wrap="square" lIns="0" tIns="0" rIns="0" bIns="0" rtlCol="0" anchor="t"/>
          <a:lstStyle/>
          <a:p>
            <a:pPr marL="342900" indent="-342900">
              <a:spcAft>
                <a:spcPts val="700"/>
              </a:spcAft>
              <a:buSzPct val="100000"/>
              <a:buChar char="•"/>
            </a:pPr>
            <a:r>
              <a:rPr lang="en-US" sz="1100" dirty="0">
                <a:solidFill>
                  <a:srgbClr val="23231F"/>
                </a:solidFill>
                <a:latin typeface="Calibri" pitchFamily="34" charset="0"/>
                <a:ea typeface="Calibri" pitchFamily="34" charset="-122"/>
                <a:cs typeface="Calibri" pitchFamily="34" charset="-120"/>
              </a:rPr>
              <a:t>Selects features like Lasso, groups them like Ridge</a:t>
            </a:r>
            <a:endParaRPr lang="en-US" sz="1100" dirty="0"/>
          </a:p>
          <a:p>
            <a:pPr marL="342900" indent="-342900">
              <a:spcAft>
                <a:spcPts val="700"/>
              </a:spcAft>
              <a:buSzPct val="100000"/>
              <a:buChar char="•"/>
            </a:pPr>
            <a:r>
              <a:rPr lang="en-US" sz="1100" dirty="0">
                <a:solidFill>
                  <a:srgbClr val="23231F"/>
                </a:solidFill>
                <a:latin typeface="Calibri" pitchFamily="34" charset="0"/>
                <a:ea typeface="Calibri" pitchFamily="34" charset="-122"/>
                <a:cs typeface="Calibri" pitchFamily="34" charset="-120"/>
              </a:rPr>
              <a:t>Keeps correlated predictors together rather than dropping one</a:t>
            </a:r>
            <a:endParaRPr lang="en-US" sz="1100" dirty="0"/>
          </a:p>
          <a:p>
            <a:pPr marL="342900" indent="-342900">
              <a:spcAft>
                <a:spcPts val="700"/>
              </a:spcAft>
              <a:buSzPct val="100000"/>
              <a:buChar char="•"/>
            </a:pPr>
            <a:r>
              <a:rPr lang="en-US" sz="1100" dirty="0">
                <a:solidFill>
                  <a:srgbClr val="23231F"/>
                </a:solidFill>
                <a:latin typeface="Calibri" pitchFamily="34" charset="0"/>
                <a:ea typeface="Calibri" pitchFamily="34" charset="-122"/>
                <a:cs typeface="Calibri" pitchFamily="34" charset="-120"/>
              </a:rPr>
              <a:t>Two hyperparameters allow finer control of the trade-off</a:t>
            </a:r>
            <a:endParaRPr lang="en-US" sz="1100" dirty="0"/>
          </a:p>
          <a:p>
            <a:pPr marL="342900" indent="-342900">
              <a:spcAft>
                <a:spcPts val="700"/>
              </a:spcAft>
              <a:buSzPct val="100000"/>
              <a:buChar char="•"/>
            </a:pPr>
            <a:r>
              <a:rPr lang="en-US" sz="1100" dirty="0">
                <a:solidFill>
                  <a:srgbClr val="23231F"/>
                </a:solidFill>
                <a:latin typeface="Calibri" pitchFamily="34" charset="0"/>
                <a:ea typeface="Calibri" pitchFamily="34" charset="-122"/>
                <a:cs typeface="Calibri" pitchFamily="34" charset="-120"/>
              </a:rPr>
              <a:t>Best all-round choice when predictors overlap in meaning</a:t>
            </a:r>
            <a:endParaRPr lang="en-US" sz="1100" dirty="0"/>
          </a:p>
        </p:txBody>
      </p:sp>
      <p:sp>
        <p:nvSpPr>
          <p:cNvPr id="16" name="Text 14"/>
          <p:cNvSpPr txBox="1"/>
          <p:nvPr/>
        </p:nvSpPr>
        <p:spPr>
          <a:xfrm>
            <a:off x="6446520" y="2919984"/>
            <a:ext cx="3657600" cy="182880"/>
          </a:xfrm>
          <a:prstGeom prst="rect">
            <a:avLst/>
          </a:prstGeom>
          <a:noFill/>
          <a:ln/>
        </p:spPr>
        <p:txBody>
          <a:bodyPr wrap="square" lIns="0" tIns="0" rIns="0" bIns="0" rtlCol="0" anchor="ctr"/>
          <a:lstStyle/>
          <a:p>
            <a:pPr marL="0" indent="0">
              <a:buNone/>
            </a:pPr>
            <a:r>
              <a:rPr lang="en-US" sz="850" b="1" kern="0" spc="140" dirty="0">
                <a:solidFill>
                  <a:srgbClr val="C08A2E"/>
                </a:solidFill>
                <a:latin typeface="Calibri" pitchFamily="34" charset="0"/>
                <a:ea typeface="Calibri" pitchFamily="34" charset="-122"/>
                <a:cs typeface="Calibri" pitchFamily="34" charset="-120"/>
              </a:rPr>
              <a:t>ADVANTAGES &amp; LIMITS</a:t>
            </a:r>
            <a:endParaRPr lang="en-US" sz="850" dirty="0"/>
          </a:p>
        </p:txBody>
      </p:sp>
      <p:sp>
        <p:nvSpPr>
          <p:cNvPr id="17" name="Shape 15"/>
          <p:cNvSpPr/>
          <p:nvPr/>
        </p:nvSpPr>
        <p:spPr>
          <a:xfrm>
            <a:off x="566928" y="4572000"/>
            <a:ext cx="11055096" cy="1188720"/>
          </a:xfrm>
          <a:prstGeom prst="roundRect">
            <a:avLst>
              <a:gd name="adj" fmla="val 3846"/>
            </a:avLst>
          </a:prstGeom>
          <a:solidFill>
            <a:srgbClr val="FFFFFF"/>
          </a:solidFill>
          <a:ln w="12700">
            <a:solidFill>
              <a:srgbClr val="DDD6C8"/>
            </a:solidFill>
            <a:prstDash val="solid"/>
          </a:ln>
        </p:spPr>
      </p:sp>
      <p:sp>
        <p:nvSpPr>
          <p:cNvPr id="18" name="Text 16"/>
          <p:cNvSpPr txBox="1"/>
          <p:nvPr/>
        </p:nvSpPr>
        <p:spPr>
          <a:xfrm>
            <a:off x="795528" y="4709160"/>
            <a:ext cx="5486400" cy="201168"/>
          </a:xfrm>
          <a:prstGeom prst="rect">
            <a:avLst/>
          </a:prstGeom>
          <a:noFill/>
          <a:ln/>
        </p:spPr>
        <p:txBody>
          <a:bodyPr wrap="square" lIns="0" tIns="0" rIns="0" bIns="0" rtlCol="0" anchor="ctr"/>
          <a:lstStyle/>
          <a:p>
            <a:pPr marL="0" indent="0">
              <a:buNone/>
            </a:pPr>
            <a:r>
              <a:rPr lang="en-US" sz="850" b="1" kern="0" spc="140" dirty="0">
                <a:solidFill>
                  <a:srgbClr val="C08A2E"/>
                </a:solidFill>
                <a:latin typeface="Calibri" pitchFamily="34" charset="0"/>
                <a:ea typeface="Calibri" pitchFamily="34" charset="-122"/>
                <a:cs typeface="Calibri" pitchFamily="34" charset="-120"/>
              </a:rPr>
              <a:t>LARGEST STANDARDISED COEFFICIENTS (RIDGE)</a:t>
            </a:r>
            <a:endParaRPr lang="en-US" sz="850" dirty="0"/>
          </a:p>
        </p:txBody>
      </p:sp>
      <p:sp>
        <p:nvSpPr>
          <p:cNvPr id="19" name="Text 17"/>
          <p:cNvSpPr txBox="1"/>
          <p:nvPr/>
        </p:nvSpPr>
        <p:spPr>
          <a:xfrm>
            <a:off x="795528" y="4956048"/>
            <a:ext cx="2011680" cy="365760"/>
          </a:xfrm>
          <a:prstGeom prst="rect">
            <a:avLst/>
          </a:prstGeom>
          <a:noFill/>
          <a:ln/>
        </p:spPr>
        <p:txBody>
          <a:bodyPr wrap="square" lIns="0" tIns="0" rIns="0" bIns="0" rtlCol="0" anchor="ctr"/>
          <a:lstStyle/>
          <a:p>
            <a:pPr marL="0" indent="0">
              <a:buNone/>
            </a:pPr>
            <a:r>
              <a:rPr lang="en-US" sz="2000" b="1" dirty="0">
                <a:solidFill>
                  <a:srgbClr val="1B4034"/>
                </a:solidFill>
                <a:latin typeface="Cambria" pitchFamily="34" charset="0"/>
                <a:ea typeface="Cambria" pitchFamily="34" charset="-122"/>
                <a:cs typeface="Cambria" pitchFamily="34" charset="-120"/>
              </a:rPr>
              <a:t>+13.81</a:t>
            </a:r>
            <a:endParaRPr lang="en-US" sz="2000" dirty="0"/>
          </a:p>
        </p:txBody>
      </p:sp>
      <p:sp>
        <p:nvSpPr>
          <p:cNvPr id="20" name="Text 18"/>
          <p:cNvSpPr txBox="1"/>
          <p:nvPr/>
        </p:nvSpPr>
        <p:spPr>
          <a:xfrm>
            <a:off x="795528" y="5358384"/>
            <a:ext cx="2011680" cy="256032"/>
          </a:xfrm>
          <a:prstGeom prst="rect">
            <a:avLst/>
          </a:prstGeom>
          <a:noFill/>
          <a:ln/>
        </p:spPr>
        <p:txBody>
          <a:bodyPr wrap="square" lIns="0" tIns="0" rIns="0" bIns="0" rtlCol="0" anchor="ctr"/>
          <a:lstStyle/>
          <a:p>
            <a:pPr marL="0" indent="0">
              <a:buNone/>
            </a:pPr>
            <a:r>
              <a:rPr lang="en-US" sz="1000" dirty="0">
                <a:solidFill>
                  <a:srgbClr val="6E6B64"/>
                </a:solidFill>
                <a:latin typeface="Calibri" pitchFamily="34" charset="0"/>
                <a:ea typeface="Calibri" pitchFamily="34" charset="-122"/>
                <a:cs typeface="Calibri" pitchFamily="34" charset="-120"/>
              </a:rPr>
              <a:t>Fours</a:t>
            </a:r>
            <a:endParaRPr lang="en-US" sz="1000" dirty="0"/>
          </a:p>
        </p:txBody>
      </p:sp>
      <p:sp>
        <p:nvSpPr>
          <p:cNvPr id="21" name="Text 19"/>
          <p:cNvSpPr txBox="1"/>
          <p:nvPr/>
        </p:nvSpPr>
        <p:spPr>
          <a:xfrm>
            <a:off x="2990088" y="4956048"/>
            <a:ext cx="2011680" cy="365760"/>
          </a:xfrm>
          <a:prstGeom prst="rect">
            <a:avLst/>
          </a:prstGeom>
          <a:noFill/>
          <a:ln/>
        </p:spPr>
        <p:txBody>
          <a:bodyPr wrap="square" lIns="0" tIns="0" rIns="0" bIns="0" rtlCol="0" anchor="ctr"/>
          <a:lstStyle/>
          <a:p>
            <a:pPr marL="0" indent="0">
              <a:buNone/>
            </a:pPr>
            <a:r>
              <a:rPr lang="en-US" sz="2000" b="1" dirty="0">
                <a:solidFill>
                  <a:srgbClr val="1B4034"/>
                </a:solidFill>
                <a:latin typeface="Cambria" pitchFamily="34" charset="0"/>
                <a:ea typeface="Cambria" pitchFamily="34" charset="-122"/>
                <a:cs typeface="Cambria" pitchFamily="34" charset="-120"/>
              </a:rPr>
              <a:t>+12.49</a:t>
            </a:r>
            <a:endParaRPr lang="en-US" sz="2000" dirty="0"/>
          </a:p>
        </p:txBody>
      </p:sp>
      <p:sp>
        <p:nvSpPr>
          <p:cNvPr id="22" name="Text 20"/>
          <p:cNvSpPr txBox="1"/>
          <p:nvPr/>
        </p:nvSpPr>
        <p:spPr>
          <a:xfrm>
            <a:off x="2990088" y="5358384"/>
            <a:ext cx="2011680" cy="256032"/>
          </a:xfrm>
          <a:prstGeom prst="rect">
            <a:avLst/>
          </a:prstGeom>
          <a:noFill/>
          <a:ln/>
        </p:spPr>
        <p:txBody>
          <a:bodyPr wrap="square" lIns="0" tIns="0" rIns="0" bIns="0" rtlCol="0" anchor="ctr"/>
          <a:lstStyle/>
          <a:p>
            <a:pPr marL="0" indent="0">
              <a:buNone/>
            </a:pPr>
            <a:r>
              <a:rPr lang="en-US" sz="1000" dirty="0">
                <a:solidFill>
                  <a:srgbClr val="6E6B64"/>
                </a:solidFill>
                <a:latin typeface="Calibri" pitchFamily="34" charset="0"/>
                <a:ea typeface="Calibri" pitchFamily="34" charset="-122"/>
                <a:cs typeface="Calibri" pitchFamily="34" charset="-120"/>
              </a:rPr>
              <a:t>Balls faced</a:t>
            </a:r>
            <a:endParaRPr lang="en-US" sz="1000" dirty="0"/>
          </a:p>
        </p:txBody>
      </p:sp>
      <p:sp>
        <p:nvSpPr>
          <p:cNvPr id="23" name="Text 21"/>
          <p:cNvSpPr txBox="1"/>
          <p:nvPr/>
        </p:nvSpPr>
        <p:spPr>
          <a:xfrm>
            <a:off x="5184648" y="4956048"/>
            <a:ext cx="2011680" cy="365760"/>
          </a:xfrm>
          <a:prstGeom prst="rect">
            <a:avLst/>
          </a:prstGeom>
          <a:noFill/>
          <a:ln/>
        </p:spPr>
        <p:txBody>
          <a:bodyPr wrap="square" lIns="0" tIns="0" rIns="0" bIns="0" rtlCol="0" anchor="ctr"/>
          <a:lstStyle/>
          <a:p>
            <a:pPr marL="0" indent="0">
              <a:buNone/>
            </a:pPr>
            <a:r>
              <a:rPr lang="en-US" sz="2000" b="1" dirty="0">
                <a:solidFill>
                  <a:srgbClr val="1B4034"/>
                </a:solidFill>
                <a:latin typeface="Cambria" pitchFamily="34" charset="0"/>
                <a:ea typeface="Cambria" pitchFamily="34" charset="-122"/>
                <a:cs typeface="Cambria" pitchFamily="34" charset="-120"/>
              </a:rPr>
              <a:t>+8.06</a:t>
            </a:r>
            <a:endParaRPr lang="en-US" sz="2000" dirty="0"/>
          </a:p>
        </p:txBody>
      </p:sp>
      <p:sp>
        <p:nvSpPr>
          <p:cNvPr id="24" name="Text 22"/>
          <p:cNvSpPr txBox="1"/>
          <p:nvPr/>
        </p:nvSpPr>
        <p:spPr>
          <a:xfrm>
            <a:off x="5184648" y="5358384"/>
            <a:ext cx="2011680" cy="256032"/>
          </a:xfrm>
          <a:prstGeom prst="rect">
            <a:avLst/>
          </a:prstGeom>
          <a:noFill/>
          <a:ln/>
        </p:spPr>
        <p:txBody>
          <a:bodyPr wrap="square" lIns="0" tIns="0" rIns="0" bIns="0" rtlCol="0" anchor="ctr"/>
          <a:lstStyle/>
          <a:p>
            <a:pPr marL="0" indent="0">
              <a:buNone/>
            </a:pPr>
            <a:r>
              <a:rPr lang="en-US" sz="1000" dirty="0">
                <a:solidFill>
                  <a:srgbClr val="6E6B64"/>
                </a:solidFill>
                <a:latin typeface="Calibri" pitchFamily="34" charset="0"/>
                <a:ea typeface="Calibri" pitchFamily="34" charset="-122"/>
                <a:cs typeface="Calibri" pitchFamily="34" charset="-120"/>
              </a:rPr>
              <a:t>Sixes</a:t>
            </a:r>
            <a:endParaRPr lang="en-US" sz="1000" dirty="0"/>
          </a:p>
        </p:txBody>
      </p:sp>
      <p:sp>
        <p:nvSpPr>
          <p:cNvPr id="25" name="Text 23"/>
          <p:cNvSpPr txBox="1"/>
          <p:nvPr/>
        </p:nvSpPr>
        <p:spPr>
          <a:xfrm>
            <a:off x="7379208" y="4956048"/>
            <a:ext cx="2011680" cy="365760"/>
          </a:xfrm>
          <a:prstGeom prst="rect">
            <a:avLst/>
          </a:prstGeom>
          <a:noFill/>
          <a:ln/>
        </p:spPr>
        <p:txBody>
          <a:bodyPr wrap="square" lIns="0" tIns="0" rIns="0" bIns="0" rtlCol="0" anchor="ctr"/>
          <a:lstStyle/>
          <a:p>
            <a:pPr marL="0" indent="0">
              <a:buNone/>
            </a:pPr>
            <a:r>
              <a:rPr lang="en-US" sz="2000" b="1" dirty="0">
                <a:solidFill>
                  <a:srgbClr val="1B4034"/>
                </a:solidFill>
                <a:latin typeface="Cambria" pitchFamily="34" charset="0"/>
                <a:ea typeface="Cambria" pitchFamily="34" charset="-122"/>
                <a:cs typeface="Cambria" pitchFamily="34" charset="-120"/>
              </a:rPr>
              <a:t>+1.17</a:t>
            </a:r>
            <a:endParaRPr lang="en-US" sz="2000" dirty="0"/>
          </a:p>
        </p:txBody>
      </p:sp>
      <p:sp>
        <p:nvSpPr>
          <p:cNvPr id="26" name="Text 24"/>
          <p:cNvSpPr txBox="1"/>
          <p:nvPr/>
        </p:nvSpPr>
        <p:spPr>
          <a:xfrm>
            <a:off x="7379208" y="5358384"/>
            <a:ext cx="2011680" cy="256032"/>
          </a:xfrm>
          <a:prstGeom prst="rect">
            <a:avLst/>
          </a:prstGeom>
          <a:noFill/>
          <a:ln/>
        </p:spPr>
        <p:txBody>
          <a:bodyPr wrap="square" lIns="0" tIns="0" rIns="0" bIns="0" rtlCol="0" anchor="ctr"/>
          <a:lstStyle/>
          <a:p>
            <a:pPr marL="0" indent="0">
              <a:buNone/>
            </a:pPr>
            <a:r>
              <a:rPr lang="en-US" sz="1000" dirty="0">
                <a:solidFill>
                  <a:srgbClr val="6E6B64"/>
                </a:solidFill>
                <a:latin typeface="Calibri" pitchFamily="34" charset="0"/>
                <a:ea typeface="Calibri" pitchFamily="34" charset="-122"/>
                <a:cs typeface="Calibri" pitchFamily="34" charset="-120"/>
              </a:rPr>
              <a:t>Career avg</a:t>
            </a:r>
            <a:endParaRPr lang="en-US" sz="1000" dirty="0"/>
          </a:p>
        </p:txBody>
      </p:sp>
      <p:sp>
        <p:nvSpPr>
          <p:cNvPr id="27" name="Text 25"/>
          <p:cNvSpPr txBox="1"/>
          <p:nvPr/>
        </p:nvSpPr>
        <p:spPr>
          <a:xfrm>
            <a:off x="9573768" y="4956048"/>
            <a:ext cx="2011680" cy="365760"/>
          </a:xfrm>
          <a:prstGeom prst="rect">
            <a:avLst/>
          </a:prstGeom>
          <a:noFill/>
          <a:ln/>
        </p:spPr>
        <p:txBody>
          <a:bodyPr wrap="square" lIns="0" tIns="0" rIns="0" bIns="0" rtlCol="0" anchor="ctr"/>
          <a:lstStyle/>
          <a:p>
            <a:pPr marL="0" indent="0">
              <a:buNone/>
            </a:pPr>
            <a:r>
              <a:rPr lang="en-US" sz="2000" b="1" dirty="0">
                <a:solidFill>
                  <a:srgbClr val="C08A2E"/>
                </a:solidFill>
                <a:latin typeface="Cambria" pitchFamily="34" charset="0"/>
                <a:ea typeface="Cambria" pitchFamily="34" charset="-122"/>
                <a:cs typeface="Cambria" pitchFamily="34" charset="-120"/>
              </a:rPr>
              <a:t>-1.00</a:t>
            </a:r>
            <a:endParaRPr lang="en-US" sz="2000" dirty="0"/>
          </a:p>
        </p:txBody>
      </p:sp>
      <p:sp>
        <p:nvSpPr>
          <p:cNvPr id="28" name="Text 26"/>
          <p:cNvSpPr txBox="1"/>
          <p:nvPr/>
        </p:nvSpPr>
        <p:spPr>
          <a:xfrm>
            <a:off x="9573768" y="5358384"/>
            <a:ext cx="2011680" cy="256032"/>
          </a:xfrm>
          <a:prstGeom prst="rect">
            <a:avLst/>
          </a:prstGeom>
          <a:noFill/>
          <a:ln/>
        </p:spPr>
        <p:txBody>
          <a:bodyPr wrap="square" lIns="0" tIns="0" rIns="0" bIns="0" rtlCol="0" anchor="ctr"/>
          <a:lstStyle/>
          <a:p>
            <a:pPr marL="0" indent="0">
              <a:buNone/>
            </a:pPr>
            <a:r>
              <a:rPr lang="en-US" sz="1000" dirty="0">
                <a:solidFill>
                  <a:srgbClr val="6E6B64"/>
                </a:solidFill>
                <a:latin typeface="Calibri" pitchFamily="34" charset="0"/>
                <a:ea typeface="Calibri" pitchFamily="34" charset="-122"/>
                <a:cs typeface="Calibri" pitchFamily="34" charset="-120"/>
              </a:rPr>
              <a:t>Overs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EFE7"/>
        </a:solidFill>
        <a:effectLst/>
      </p:bgPr>
    </p:bg>
    <p:spTree>
      <p:nvGrpSpPr>
        <p:cNvPr id="1" name=""/>
        <p:cNvGrpSpPr/>
        <p:nvPr/>
      </p:nvGrpSpPr>
      <p:grpSpPr>
        <a:xfrm>
          <a:off x="0" y="0"/>
          <a:ext cx="0" cy="0"/>
          <a:chOff x="0" y="0"/>
          <a:chExt cx="0" cy="0"/>
        </a:xfrm>
      </p:grpSpPr>
      <p:sp>
        <p:nvSpPr>
          <p:cNvPr id="27" name="Shape 13">
            <a:extLst>
              <a:ext uri="{FF2B5EF4-FFF2-40B4-BE49-F238E27FC236}">
                <a16:creationId xmlns:a16="http://schemas.microsoft.com/office/drawing/2014/main" id="{7416E915-DF8B-32C1-2638-61B30D467B86}"/>
              </a:ext>
            </a:extLst>
          </p:cNvPr>
          <p:cNvSpPr/>
          <p:nvPr/>
        </p:nvSpPr>
        <p:spPr>
          <a:xfrm>
            <a:off x="8958072" y="1417320"/>
            <a:ext cx="2606040" cy="3108960"/>
          </a:xfrm>
          <a:prstGeom prst="roundRect">
            <a:avLst>
              <a:gd name="adj" fmla="val 1754"/>
            </a:avLst>
          </a:prstGeom>
          <a:solidFill>
            <a:srgbClr val="FFFFFF"/>
          </a:solidFill>
          <a:ln w="12700">
            <a:solidFill>
              <a:srgbClr val="DDD6C8"/>
            </a:solidFill>
            <a:prstDash val="solid"/>
          </a:ln>
        </p:spPr>
      </p:sp>
      <p:sp>
        <p:nvSpPr>
          <p:cNvPr id="2" name="Text 0"/>
          <p:cNvSpPr txBox="1"/>
          <p:nvPr/>
        </p:nvSpPr>
        <p:spPr>
          <a:xfrm>
            <a:off x="11183112" y="6382512"/>
            <a:ext cx="548640" cy="274320"/>
          </a:xfrm>
          <a:prstGeom prst="rect">
            <a:avLst/>
          </a:prstGeom>
          <a:noFill/>
          <a:ln/>
        </p:spPr>
        <p:txBody>
          <a:bodyPr wrap="square" lIns="0" tIns="0" rIns="0" bIns="0" rtlCol="0" anchor="ctr"/>
          <a:lstStyle/>
          <a:p>
            <a:pPr marL="0" indent="0" algn="r">
              <a:buNone/>
            </a:pPr>
            <a:r>
              <a:rPr lang="en-US" sz="1100" b="1" dirty="0">
                <a:solidFill>
                  <a:srgbClr val="C08A2E"/>
                </a:solidFill>
                <a:latin typeface="Cambria" pitchFamily="34" charset="0"/>
                <a:ea typeface="Cambria" pitchFamily="34" charset="-122"/>
                <a:cs typeface="Cambria" pitchFamily="34" charset="-120"/>
              </a:rPr>
              <a:t>13</a:t>
            </a:r>
            <a:endParaRPr lang="en-US" sz="1100" dirty="0"/>
          </a:p>
        </p:txBody>
      </p:sp>
      <p:sp>
        <p:nvSpPr>
          <p:cNvPr id="3" name="Text 1"/>
          <p:cNvSpPr txBox="1"/>
          <p:nvPr/>
        </p:nvSpPr>
        <p:spPr>
          <a:xfrm>
            <a:off x="566928" y="411480"/>
            <a:ext cx="8229600" cy="219456"/>
          </a:xfrm>
          <a:prstGeom prst="rect">
            <a:avLst/>
          </a:prstGeom>
          <a:noFill/>
          <a:ln/>
        </p:spPr>
        <p:txBody>
          <a:bodyPr wrap="square" lIns="0" tIns="0" rIns="0" bIns="0" rtlCol="0" anchor="ctr"/>
          <a:lstStyle/>
          <a:p>
            <a:pPr marL="0" indent="0">
              <a:buNone/>
            </a:pPr>
            <a:r>
              <a:rPr lang="en-US" sz="950" b="1" kern="0" spc="200" dirty="0">
                <a:solidFill>
                  <a:srgbClr val="C08A2E"/>
                </a:solidFill>
                <a:latin typeface="Calibri" pitchFamily="34" charset="0"/>
                <a:ea typeface="Calibri" pitchFamily="34" charset="-122"/>
                <a:cs typeface="Calibri" pitchFamily="34" charset="-120"/>
              </a:rPr>
              <a:t>HOW MODELS ARE JUDGED</a:t>
            </a:r>
            <a:endParaRPr lang="en-US" sz="950" dirty="0"/>
          </a:p>
        </p:txBody>
      </p:sp>
      <p:sp>
        <p:nvSpPr>
          <p:cNvPr id="4" name="Text 2"/>
          <p:cNvSpPr txBox="1"/>
          <p:nvPr/>
        </p:nvSpPr>
        <p:spPr>
          <a:xfrm>
            <a:off x="566928" y="667512"/>
            <a:ext cx="11055096" cy="502920"/>
          </a:xfrm>
          <a:prstGeom prst="rect">
            <a:avLst/>
          </a:prstGeom>
          <a:noFill/>
          <a:ln/>
        </p:spPr>
        <p:txBody>
          <a:bodyPr wrap="square" lIns="0" tIns="0" rIns="0" bIns="0" rtlCol="0" anchor="ctr"/>
          <a:lstStyle/>
          <a:p>
            <a:pPr marL="0" indent="0">
              <a:buNone/>
            </a:pPr>
            <a:r>
              <a:rPr lang="en-US" sz="2700" b="1" dirty="0">
                <a:solidFill>
                  <a:srgbClr val="1B4034"/>
                </a:solidFill>
                <a:latin typeface="Cambria" pitchFamily="34" charset="0"/>
                <a:ea typeface="Cambria" pitchFamily="34" charset="-122"/>
                <a:cs typeface="Cambria" pitchFamily="34" charset="-120"/>
              </a:rPr>
              <a:t>Model Evaluation Metrics</a:t>
            </a:r>
            <a:endParaRPr lang="en-US" sz="2700" dirty="0"/>
          </a:p>
        </p:txBody>
      </p:sp>
      <p:sp>
        <p:nvSpPr>
          <p:cNvPr id="5" name="Shape 3"/>
          <p:cNvSpPr/>
          <p:nvPr/>
        </p:nvSpPr>
        <p:spPr>
          <a:xfrm>
            <a:off x="566928" y="1417320"/>
            <a:ext cx="2606040" cy="3108960"/>
          </a:xfrm>
          <a:prstGeom prst="roundRect">
            <a:avLst>
              <a:gd name="adj" fmla="val 1754"/>
            </a:avLst>
          </a:prstGeom>
          <a:solidFill>
            <a:srgbClr val="FFFFFF"/>
          </a:solidFill>
          <a:ln w="12700">
            <a:solidFill>
              <a:srgbClr val="DDD6C8"/>
            </a:solidFill>
            <a:prstDash val="solid"/>
          </a:ln>
        </p:spPr>
      </p:sp>
      <p:sp>
        <p:nvSpPr>
          <p:cNvPr id="6" name="Text 4"/>
          <p:cNvSpPr txBox="1"/>
          <p:nvPr/>
        </p:nvSpPr>
        <p:spPr>
          <a:xfrm>
            <a:off x="768096" y="1645920"/>
            <a:ext cx="2194560" cy="640080"/>
          </a:xfrm>
          <a:prstGeom prst="rect">
            <a:avLst/>
          </a:prstGeom>
          <a:noFill/>
          <a:ln/>
        </p:spPr>
        <p:txBody>
          <a:bodyPr wrap="square" lIns="0" tIns="0" rIns="0" bIns="0" rtlCol="0" anchor="ctr"/>
          <a:lstStyle/>
          <a:p>
            <a:pPr marL="0" indent="0">
              <a:buNone/>
            </a:pPr>
            <a:r>
              <a:rPr lang="en-US" sz="3400" b="1" dirty="0">
                <a:solidFill>
                  <a:srgbClr val="1B4034"/>
                </a:solidFill>
                <a:latin typeface="Cambria" pitchFamily="34" charset="0"/>
                <a:ea typeface="Cambria" pitchFamily="34" charset="-122"/>
                <a:cs typeface="Cambria" pitchFamily="34" charset="-120"/>
              </a:rPr>
              <a:t>MAE</a:t>
            </a:r>
            <a:endParaRPr lang="en-US" sz="3400" dirty="0"/>
          </a:p>
        </p:txBody>
      </p:sp>
      <p:sp>
        <p:nvSpPr>
          <p:cNvPr id="7" name="Text 5"/>
          <p:cNvSpPr txBox="1"/>
          <p:nvPr/>
        </p:nvSpPr>
        <p:spPr>
          <a:xfrm>
            <a:off x="768096" y="2331720"/>
            <a:ext cx="2194560" cy="502920"/>
          </a:xfrm>
          <a:prstGeom prst="rect">
            <a:avLst/>
          </a:prstGeom>
          <a:noFill/>
          <a:ln/>
        </p:spPr>
        <p:txBody>
          <a:bodyPr wrap="square" lIns="0" tIns="0" rIns="0" bIns="0" rtlCol="0" anchor="ctr"/>
          <a:lstStyle/>
          <a:p>
            <a:pPr marL="0" indent="0">
              <a:lnSpc>
                <a:spcPts val="1400"/>
              </a:lnSpc>
              <a:buNone/>
            </a:pPr>
            <a:r>
              <a:rPr lang="en-US" sz="1150" b="1" dirty="0">
                <a:solidFill>
                  <a:srgbClr val="23231F"/>
                </a:solidFill>
                <a:latin typeface="Calibri" pitchFamily="34" charset="0"/>
                <a:ea typeface="Calibri" pitchFamily="34" charset="-122"/>
                <a:cs typeface="Calibri" pitchFamily="34" charset="-120"/>
              </a:rPr>
              <a:t>Mean Absolute Error</a:t>
            </a:r>
            <a:endParaRPr lang="en-US" sz="1150" dirty="0"/>
          </a:p>
        </p:txBody>
      </p:sp>
      <p:sp>
        <p:nvSpPr>
          <p:cNvPr id="8" name="Text 6"/>
          <p:cNvSpPr txBox="1"/>
          <p:nvPr/>
        </p:nvSpPr>
        <p:spPr>
          <a:xfrm>
            <a:off x="768096" y="2743200"/>
            <a:ext cx="2194560" cy="1371600"/>
          </a:xfrm>
          <a:prstGeom prst="rect">
            <a:avLst/>
          </a:prstGeom>
          <a:noFill/>
          <a:ln/>
        </p:spPr>
        <p:txBody>
          <a:bodyPr wrap="square" lIns="0" tIns="0" rIns="0" bIns="0" rtlCol="0" anchor="ctr"/>
          <a:lstStyle/>
          <a:p>
            <a:pPr marL="0" indent="0">
              <a:lnSpc>
                <a:spcPts val="1300"/>
              </a:lnSpc>
              <a:buNone/>
            </a:pPr>
            <a:r>
              <a:rPr lang="en-US" sz="1400" dirty="0">
                <a:solidFill>
                  <a:srgbClr val="6E6B64"/>
                </a:solidFill>
                <a:latin typeface="Calibri" pitchFamily="34" charset="0"/>
                <a:ea typeface="Calibri" pitchFamily="34" charset="-122"/>
                <a:cs typeface="Calibri" pitchFamily="34" charset="-120"/>
              </a:rPr>
              <a:t>Average absolute gap between predicted and actual runs, in runs. Robust to the century tail.</a:t>
            </a:r>
            <a:endParaRPr lang="en-US" sz="1400" dirty="0"/>
          </a:p>
        </p:txBody>
      </p:sp>
      <p:sp>
        <p:nvSpPr>
          <p:cNvPr id="9" name="Text 7"/>
          <p:cNvSpPr txBox="1"/>
          <p:nvPr/>
        </p:nvSpPr>
        <p:spPr>
          <a:xfrm>
            <a:off x="768096" y="4187952"/>
            <a:ext cx="2194560" cy="274320"/>
          </a:xfrm>
          <a:prstGeom prst="rect">
            <a:avLst/>
          </a:prstGeom>
          <a:noFill/>
          <a:ln/>
        </p:spPr>
        <p:txBody>
          <a:bodyPr wrap="square" lIns="0" tIns="0" rIns="0" bIns="0" rtlCol="0" anchor="ctr"/>
          <a:lstStyle/>
          <a:p>
            <a:pPr marL="0" indent="0">
              <a:buNone/>
            </a:pPr>
            <a:r>
              <a:rPr lang="en-US" sz="900" b="1" kern="0" spc="120" dirty="0">
                <a:solidFill>
                  <a:srgbClr val="C08A2E"/>
                </a:solidFill>
                <a:latin typeface="Calibri" pitchFamily="34" charset="0"/>
                <a:ea typeface="Calibri" pitchFamily="34" charset="-122"/>
                <a:cs typeface="Calibri" pitchFamily="34" charset="-120"/>
              </a:rPr>
              <a:t>LOWER IS BETTER</a:t>
            </a:r>
            <a:endParaRPr lang="en-US" sz="900" dirty="0"/>
          </a:p>
        </p:txBody>
      </p:sp>
      <p:sp>
        <p:nvSpPr>
          <p:cNvPr id="10" name="Shape 8"/>
          <p:cNvSpPr/>
          <p:nvPr/>
        </p:nvSpPr>
        <p:spPr>
          <a:xfrm>
            <a:off x="3383280" y="1417320"/>
            <a:ext cx="2606040" cy="3108960"/>
          </a:xfrm>
          <a:prstGeom prst="roundRect">
            <a:avLst>
              <a:gd name="adj" fmla="val 1754"/>
            </a:avLst>
          </a:prstGeom>
          <a:solidFill>
            <a:srgbClr val="FFFFFF"/>
          </a:solidFill>
          <a:ln w="12700">
            <a:solidFill>
              <a:srgbClr val="DDD6C8"/>
            </a:solidFill>
            <a:prstDash val="solid"/>
          </a:ln>
        </p:spPr>
      </p:sp>
      <p:sp>
        <p:nvSpPr>
          <p:cNvPr id="11" name="Text 9"/>
          <p:cNvSpPr txBox="1"/>
          <p:nvPr/>
        </p:nvSpPr>
        <p:spPr>
          <a:xfrm>
            <a:off x="3584448" y="1645920"/>
            <a:ext cx="2194560" cy="640080"/>
          </a:xfrm>
          <a:prstGeom prst="rect">
            <a:avLst/>
          </a:prstGeom>
          <a:noFill/>
          <a:ln/>
        </p:spPr>
        <p:txBody>
          <a:bodyPr wrap="square" lIns="0" tIns="0" rIns="0" bIns="0" rtlCol="0" anchor="ctr"/>
          <a:lstStyle/>
          <a:p>
            <a:pPr marL="0" indent="0">
              <a:buNone/>
            </a:pPr>
            <a:r>
              <a:rPr lang="en-US" sz="3400" b="1" dirty="0">
                <a:solidFill>
                  <a:srgbClr val="1B4034"/>
                </a:solidFill>
                <a:latin typeface="Cambria" pitchFamily="34" charset="0"/>
                <a:ea typeface="Cambria" pitchFamily="34" charset="-122"/>
                <a:cs typeface="Cambria" pitchFamily="34" charset="-120"/>
              </a:rPr>
              <a:t>MSE</a:t>
            </a:r>
            <a:endParaRPr lang="en-US" sz="3400" dirty="0"/>
          </a:p>
        </p:txBody>
      </p:sp>
      <p:sp>
        <p:nvSpPr>
          <p:cNvPr id="12" name="Text 10"/>
          <p:cNvSpPr txBox="1"/>
          <p:nvPr/>
        </p:nvSpPr>
        <p:spPr>
          <a:xfrm>
            <a:off x="3584448" y="2331720"/>
            <a:ext cx="2194560" cy="502920"/>
          </a:xfrm>
          <a:prstGeom prst="rect">
            <a:avLst/>
          </a:prstGeom>
          <a:noFill/>
          <a:ln/>
        </p:spPr>
        <p:txBody>
          <a:bodyPr wrap="square" lIns="0" tIns="0" rIns="0" bIns="0" rtlCol="0" anchor="ctr"/>
          <a:lstStyle/>
          <a:p>
            <a:pPr marL="0" indent="0">
              <a:lnSpc>
                <a:spcPts val="1400"/>
              </a:lnSpc>
              <a:buNone/>
            </a:pPr>
            <a:r>
              <a:rPr lang="en-US" sz="1150" b="1" dirty="0">
                <a:solidFill>
                  <a:srgbClr val="23231F"/>
                </a:solidFill>
                <a:latin typeface="Calibri" pitchFamily="34" charset="0"/>
                <a:ea typeface="Calibri" pitchFamily="34" charset="-122"/>
                <a:cs typeface="Calibri" pitchFamily="34" charset="-120"/>
              </a:rPr>
              <a:t>Mean Squared Error</a:t>
            </a:r>
            <a:endParaRPr lang="en-US" sz="1150" dirty="0"/>
          </a:p>
        </p:txBody>
      </p:sp>
      <p:sp>
        <p:nvSpPr>
          <p:cNvPr id="13" name="Text 11"/>
          <p:cNvSpPr txBox="1"/>
          <p:nvPr/>
        </p:nvSpPr>
        <p:spPr>
          <a:xfrm>
            <a:off x="3584448" y="2743200"/>
            <a:ext cx="2194560" cy="1371600"/>
          </a:xfrm>
          <a:prstGeom prst="rect">
            <a:avLst/>
          </a:prstGeom>
          <a:noFill/>
          <a:ln/>
        </p:spPr>
        <p:txBody>
          <a:bodyPr wrap="square" lIns="0" tIns="0" rIns="0" bIns="0" rtlCol="0" anchor="ctr"/>
          <a:lstStyle/>
          <a:p>
            <a:pPr marL="0" indent="0">
              <a:lnSpc>
                <a:spcPts val="1300"/>
              </a:lnSpc>
              <a:buNone/>
            </a:pPr>
            <a:r>
              <a:rPr lang="en-US" sz="1400" dirty="0">
                <a:solidFill>
                  <a:srgbClr val="6E6B64"/>
                </a:solidFill>
                <a:latin typeface="Calibri" pitchFamily="34" charset="0"/>
                <a:ea typeface="Calibri" pitchFamily="34" charset="-122"/>
                <a:cs typeface="Calibri" pitchFamily="34" charset="-120"/>
              </a:rPr>
              <a:t>Averages squared errors, so a single badly missed big innings costs far more than several small misses.</a:t>
            </a:r>
            <a:endParaRPr lang="en-US" sz="1400" dirty="0"/>
          </a:p>
        </p:txBody>
      </p:sp>
      <p:sp>
        <p:nvSpPr>
          <p:cNvPr id="14" name="Text 12"/>
          <p:cNvSpPr txBox="1"/>
          <p:nvPr/>
        </p:nvSpPr>
        <p:spPr>
          <a:xfrm>
            <a:off x="3584448" y="4187952"/>
            <a:ext cx="2194560" cy="274320"/>
          </a:xfrm>
          <a:prstGeom prst="rect">
            <a:avLst/>
          </a:prstGeom>
          <a:noFill/>
          <a:ln/>
        </p:spPr>
        <p:txBody>
          <a:bodyPr wrap="square" lIns="0" tIns="0" rIns="0" bIns="0" rtlCol="0" anchor="ctr"/>
          <a:lstStyle/>
          <a:p>
            <a:pPr marL="0" indent="0">
              <a:buNone/>
            </a:pPr>
            <a:r>
              <a:rPr lang="en-US" sz="900" b="1" kern="0" spc="120" dirty="0">
                <a:solidFill>
                  <a:srgbClr val="C08A2E"/>
                </a:solidFill>
                <a:latin typeface="Calibri" pitchFamily="34" charset="0"/>
                <a:ea typeface="Calibri" pitchFamily="34" charset="-122"/>
                <a:cs typeface="Calibri" pitchFamily="34" charset="-120"/>
              </a:rPr>
              <a:t>LOWER IS BETTER</a:t>
            </a:r>
            <a:endParaRPr lang="en-US" sz="900" dirty="0"/>
          </a:p>
        </p:txBody>
      </p:sp>
      <p:sp>
        <p:nvSpPr>
          <p:cNvPr id="15" name="Shape 13"/>
          <p:cNvSpPr/>
          <p:nvPr/>
        </p:nvSpPr>
        <p:spPr>
          <a:xfrm>
            <a:off x="6199632" y="1417320"/>
            <a:ext cx="2606040" cy="3108960"/>
          </a:xfrm>
          <a:prstGeom prst="roundRect">
            <a:avLst>
              <a:gd name="adj" fmla="val 1754"/>
            </a:avLst>
          </a:prstGeom>
          <a:solidFill>
            <a:srgbClr val="FFFFFF"/>
          </a:solidFill>
          <a:ln w="12700">
            <a:solidFill>
              <a:srgbClr val="DDD6C8"/>
            </a:solidFill>
            <a:prstDash val="solid"/>
          </a:ln>
        </p:spPr>
      </p:sp>
      <p:sp>
        <p:nvSpPr>
          <p:cNvPr id="16" name="Text 14"/>
          <p:cNvSpPr txBox="1"/>
          <p:nvPr/>
        </p:nvSpPr>
        <p:spPr>
          <a:xfrm>
            <a:off x="6400800" y="1645920"/>
            <a:ext cx="2194560" cy="640080"/>
          </a:xfrm>
          <a:prstGeom prst="rect">
            <a:avLst/>
          </a:prstGeom>
          <a:noFill/>
          <a:ln/>
        </p:spPr>
        <p:txBody>
          <a:bodyPr wrap="square" lIns="0" tIns="0" rIns="0" bIns="0" rtlCol="0" anchor="ctr"/>
          <a:lstStyle/>
          <a:p>
            <a:pPr marL="0" indent="0">
              <a:buNone/>
            </a:pPr>
            <a:r>
              <a:rPr lang="en-US" sz="3400" b="1" dirty="0">
                <a:solidFill>
                  <a:srgbClr val="1B4034"/>
                </a:solidFill>
                <a:latin typeface="Cambria" pitchFamily="34" charset="0"/>
                <a:ea typeface="Cambria" pitchFamily="34" charset="-122"/>
                <a:cs typeface="Cambria" pitchFamily="34" charset="-120"/>
              </a:rPr>
              <a:t>RMSE</a:t>
            </a:r>
            <a:endParaRPr lang="en-US" sz="3400" dirty="0"/>
          </a:p>
        </p:txBody>
      </p:sp>
      <p:sp>
        <p:nvSpPr>
          <p:cNvPr id="17" name="Text 15"/>
          <p:cNvSpPr txBox="1"/>
          <p:nvPr/>
        </p:nvSpPr>
        <p:spPr>
          <a:xfrm>
            <a:off x="6400800" y="2331720"/>
            <a:ext cx="2194560" cy="502920"/>
          </a:xfrm>
          <a:prstGeom prst="rect">
            <a:avLst/>
          </a:prstGeom>
          <a:noFill/>
          <a:ln/>
        </p:spPr>
        <p:txBody>
          <a:bodyPr wrap="square" lIns="0" tIns="0" rIns="0" bIns="0" rtlCol="0" anchor="ctr"/>
          <a:lstStyle/>
          <a:p>
            <a:pPr marL="0" indent="0">
              <a:lnSpc>
                <a:spcPts val="1400"/>
              </a:lnSpc>
              <a:buNone/>
            </a:pPr>
            <a:r>
              <a:rPr lang="en-US" sz="1150" b="1" dirty="0">
                <a:solidFill>
                  <a:srgbClr val="23231F"/>
                </a:solidFill>
                <a:latin typeface="Calibri" pitchFamily="34" charset="0"/>
                <a:ea typeface="Calibri" pitchFamily="34" charset="-122"/>
                <a:cs typeface="Calibri" pitchFamily="34" charset="-120"/>
              </a:rPr>
              <a:t>Root Mean Squared Error</a:t>
            </a:r>
            <a:endParaRPr lang="en-US" sz="1150" dirty="0"/>
          </a:p>
        </p:txBody>
      </p:sp>
      <p:sp>
        <p:nvSpPr>
          <p:cNvPr id="18" name="Text 16"/>
          <p:cNvSpPr txBox="1"/>
          <p:nvPr/>
        </p:nvSpPr>
        <p:spPr>
          <a:xfrm>
            <a:off x="6400800" y="2743200"/>
            <a:ext cx="2194560" cy="1371600"/>
          </a:xfrm>
          <a:prstGeom prst="rect">
            <a:avLst/>
          </a:prstGeom>
          <a:noFill/>
          <a:ln/>
        </p:spPr>
        <p:txBody>
          <a:bodyPr wrap="square" lIns="0" tIns="0" rIns="0" bIns="0" rtlCol="0" anchor="ctr"/>
          <a:lstStyle/>
          <a:p>
            <a:pPr marL="0" indent="0">
              <a:lnSpc>
                <a:spcPts val="1300"/>
              </a:lnSpc>
              <a:buNone/>
            </a:pPr>
            <a:r>
              <a:rPr lang="en-US" sz="1400" dirty="0">
                <a:solidFill>
                  <a:srgbClr val="6E6B64"/>
                </a:solidFill>
                <a:latin typeface="Calibri" pitchFamily="34" charset="0"/>
                <a:ea typeface="Calibri" pitchFamily="34" charset="-122"/>
                <a:cs typeface="Calibri" pitchFamily="34" charset="-120"/>
              </a:rPr>
              <a:t>Square root of MSE, returning the error to the original unit — runs — so it can be read directly.</a:t>
            </a:r>
            <a:endParaRPr lang="en-US" sz="1400" dirty="0"/>
          </a:p>
        </p:txBody>
      </p:sp>
      <p:sp>
        <p:nvSpPr>
          <p:cNvPr id="19" name="Text 17"/>
          <p:cNvSpPr txBox="1"/>
          <p:nvPr/>
        </p:nvSpPr>
        <p:spPr>
          <a:xfrm>
            <a:off x="6400800" y="4187952"/>
            <a:ext cx="2194560" cy="274320"/>
          </a:xfrm>
          <a:prstGeom prst="rect">
            <a:avLst/>
          </a:prstGeom>
          <a:noFill/>
          <a:ln/>
        </p:spPr>
        <p:txBody>
          <a:bodyPr wrap="square" lIns="0" tIns="0" rIns="0" bIns="0" rtlCol="0" anchor="ctr"/>
          <a:lstStyle/>
          <a:p>
            <a:pPr marL="0" indent="0">
              <a:buNone/>
            </a:pPr>
            <a:r>
              <a:rPr lang="en-US" sz="900" b="1" kern="0" spc="120" dirty="0">
                <a:solidFill>
                  <a:srgbClr val="C08A2E"/>
                </a:solidFill>
                <a:latin typeface="Calibri" pitchFamily="34" charset="0"/>
                <a:ea typeface="Calibri" pitchFamily="34" charset="-122"/>
                <a:cs typeface="Calibri" pitchFamily="34" charset="-120"/>
              </a:rPr>
              <a:t>LOWER IS BETTER</a:t>
            </a:r>
            <a:endParaRPr lang="en-US" sz="900" dirty="0"/>
          </a:p>
        </p:txBody>
      </p:sp>
      <p:sp>
        <p:nvSpPr>
          <p:cNvPr id="21" name="Text 19"/>
          <p:cNvSpPr txBox="1"/>
          <p:nvPr/>
        </p:nvSpPr>
        <p:spPr>
          <a:xfrm>
            <a:off x="9217152" y="1645920"/>
            <a:ext cx="2194560" cy="640080"/>
          </a:xfrm>
          <a:prstGeom prst="rect">
            <a:avLst/>
          </a:prstGeom>
          <a:noFill/>
          <a:ln/>
        </p:spPr>
        <p:txBody>
          <a:bodyPr wrap="square" lIns="0" tIns="0" rIns="0" bIns="0" rtlCol="0" anchor="ctr"/>
          <a:lstStyle/>
          <a:p>
            <a:pPr marL="0" indent="0">
              <a:buNone/>
            </a:pPr>
            <a:r>
              <a:rPr lang="en-US" sz="3400" b="1" dirty="0">
                <a:solidFill>
                  <a:srgbClr val="1B4034"/>
                </a:solidFill>
                <a:latin typeface="Cambria" pitchFamily="34" charset="0"/>
                <a:ea typeface="Cambria" pitchFamily="34" charset="-122"/>
                <a:cs typeface="Cambria" pitchFamily="34" charset="-120"/>
              </a:rPr>
              <a:t>R²</a:t>
            </a:r>
            <a:endParaRPr lang="en-US" sz="3400" dirty="0">
              <a:solidFill>
                <a:srgbClr val="1B4034"/>
              </a:solidFill>
            </a:endParaRPr>
          </a:p>
        </p:txBody>
      </p:sp>
      <p:sp>
        <p:nvSpPr>
          <p:cNvPr id="23" name="Text 21"/>
          <p:cNvSpPr txBox="1"/>
          <p:nvPr/>
        </p:nvSpPr>
        <p:spPr>
          <a:xfrm>
            <a:off x="9217152" y="2743200"/>
            <a:ext cx="2194560" cy="1371600"/>
          </a:xfrm>
          <a:prstGeom prst="rect">
            <a:avLst/>
          </a:prstGeom>
          <a:noFill/>
          <a:ln/>
        </p:spPr>
        <p:txBody>
          <a:bodyPr wrap="square" lIns="0" tIns="0" rIns="0" bIns="0" rtlCol="0" anchor="ctr"/>
          <a:lstStyle/>
          <a:p>
            <a:pPr marL="0" indent="0">
              <a:lnSpc>
                <a:spcPts val="1300"/>
              </a:lnSpc>
              <a:buNone/>
            </a:pPr>
            <a:r>
              <a:rPr lang="en-US" sz="1400" dirty="0">
                <a:solidFill>
                  <a:srgbClr val="999792"/>
                </a:solidFill>
                <a:latin typeface="Calibri" pitchFamily="34" charset="0"/>
                <a:ea typeface="Calibri" pitchFamily="34" charset="-122"/>
                <a:cs typeface="Calibri" pitchFamily="34" charset="-120"/>
              </a:rPr>
              <a:t>Share of the variance in innings runs the model explains. 1.0 is a perfect fit, 0 is no better than the mean.</a:t>
            </a:r>
            <a:endParaRPr lang="en-US" sz="1400" dirty="0">
              <a:solidFill>
                <a:srgbClr val="999792"/>
              </a:solidFill>
            </a:endParaRPr>
          </a:p>
        </p:txBody>
      </p:sp>
      <p:sp>
        <p:nvSpPr>
          <p:cNvPr id="24" name="Text 22"/>
          <p:cNvSpPr txBox="1"/>
          <p:nvPr/>
        </p:nvSpPr>
        <p:spPr>
          <a:xfrm>
            <a:off x="9217152" y="4187952"/>
            <a:ext cx="2194560" cy="274320"/>
          </a:xfrm>
          <a:prstGeom prst="rect">
            <a:avLst/>
          </a:prstGeom>
          <a:noFill/>
          <a:ln/>
        </p:spPr>
        <p:txBody>
          <a:bodyPr wrap="square" lIns="0" tIns="0" rIns="0" bIns="0" rtlCol="0" anchor="ctr"/>
          <a:lstStyle/>
          <a:p>
            <a:pPr marL="0" indent="0">
              <a:buNone/>
            </a:pPr>
            <a:r>
              <a:rPr lang="en-US" sz="900" b="1" kern="0" spc="120" dirty="0">
                <a:solidFill>
                  <a:srgbClr val="C08A2E"/>
                </a:solidFill>
                <a:latin typeface="Calibri" pitchFamily="34" charset="0"/>
                <a:ea typeface="Calibri" pitchFamily="34" charset="-122"/>
                <a:cs typeface="Calibri" pitchFamily="34" charset="-120"/>
              </a:rPr>
              <a:t>HIGHER IS BETTER</a:t>
            </a:r>
            <a:endParaRPr lang="en-US" sz="900" dirty="0"/>
          </a:p>
        </p:txBody>
      </p:sp>
      <p:sp>
        <p:nvSpPr>
          <p:cNvPr id="29" name="Text 15">
            <a:extLst>
              <a:ext uri="{FF2B5EF4-FFF2-40B4-BE49-F238E27FC236}">
                <a16:creationId xmlns:a16="http://schemas.microsoft.com/office/drawing/2014/main" id="{070A7236-2712-3D03-160F-5B8454706BEB}"/>
              </a:ext>
            </a:extLst>
          </p:cNvPr>
          <p:cNvSpPr txBox="1"/>
          <p:nvPr/>
        </p:nvSpPr>
        <p:spPr>
          <a:xfrm>
            <a:off x="9262872" y="2326640"/>
            <a:ext cx="2194560" cy="502920"/>
          </a:xfrm>
          <a:prstGeom prst="rect">
            <a:avLst/>
          </a:prstGeom>
          <a:noFill/>
          <a:ln/>
        </p:spPr>
        <p:txBody>
          <a:bodyPr wrap="square" lIns="0" tIns="0" rIns="0" bIns="0" rtlCol="0" anchor="ctr"/>
          <a:lstStyle/>
          <a:p>
            <a:pPr marL="0" indent="0">
              <a:lnSpc>
                <a:spcPts val="1400"/>
              </a:lnSpc>
              <a:buNone/>
            </a:pPr>
            <a:r>
              <a:rPr lang="en-US" sz="1150" b="1" dirty="0">
                <a:solidFill>
                  <a:srgbClr val="23231F"/>
                </a:solidFill>
                <a:latin typeface="Calibri" pitchFamily="34" charset="0"/>
                <a:ea typeface="Calibri" pitchFamily="34" charset="-122"/>
                <a:cs typeface="Calibri" pitchFamily="34" charset="-120"/>
              </a:rPr>
              <a:t> R SQUARED</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3EFE7"/>
        </a:solidFill>
        <a:effectLst/>
      </p:bgPr>
    </p:bg>
    <p:spTree>
      <p:nvGrpSpPr>
        <p:cNvPr id="1" name=""/>
        <p:cNvGrpSpPr/>
        <p:nvPr/>
      </p:nvGrpSpPr>
      <p:grpSpPr>
        <a:xfrm>
          <a:off x="0" y="0"/>
          <a:ext cx="0" cy="0"/>
          <a:chOff x="0" y="0"/>
          <a:chExt cx="0" cy="0"/>
        </a:xfrm>
      </p:grpSpPr>
      <p:sp>
        <p:nvSpPr>
          <p:cNvPr id="2" name="Text 0"/>
          <p:cNvSpPr txBox="1"/>
          <p:nvPr/>
        </p:nvSpPr>
        <p:spPr>
          <a:xfrm>
            <a:off x="11183112" y="6382512"/>
            <a:ext cx="548640" cy="274320"/>
          </a:xfrm>
          <a:prstGeom prst="rect">
            <a:avLst/>
          </a:prstGeom>
          <a:noFill/>
          <a:ln/>
        </p:spPr>
        <p:txBody>
          <a:bodyPr wrap="square" lIns="0" tIns="0" rIns="0" bIns="0" rtlCol="0" anchor="ctr"/>
          <a:lstStyle/>
          <a:p>
            <a:pPr marL="0" indent="0" algn="r">
              <a:buNone/>
            </a:pPr>
            <a:r>
              <a:rPr lang="en-US" sz="1100" b="1" dirty="0">
                <a:solidFill>
                  <a:srgbClr val="C08A2E"/>
                </a:solidFill>
                <a:latin typeface="Cambria" pitchFamily="34" charset="0"/>
                <a:ea typeface="Cambria" pitchFamily="34" charset="-122"/>
                <a:cs typeface="Cambria" pitchFamily="34" charset="-120"/>
              </a:rPr>
              <a:t>10</a:t>
            </a:r>
            <a:endParaRPr lang="en-US" sz="1100" dirty="0"/>
          </a:p>
        </p:txBody>
      </p:sp>
      <p:sp>
        <p:nvSpPr>
          <p:cNvPr id="3" name="Text 1"/>
          <p:cNvSpPr txBox="1"/>
          <p:nvPr/>
        </p:nvSpPr>
        <p:spPr>
          <a:xfrm>
            <a:off x="566928" y="411480"/>
            <a:ext cx="8229600" cy="219456"/>
          </a:xfrm>
          <a:prstGeom prst="rect">
            <a:avLst/>
          </a:prstGeom>
          <a:noFill/>
          <a:ln/>
        </p:spPr>
        <p:txBody>
          <a:bodyPr wrap="square" lIns="0" tIns="0" rIns="0" bIns="0" rtlCol="0" anchor="ctr"/>
          <a:lstStyle/>
          <a:p>
            <a:pPr marL="0" indent="0">
              <a:buNone/>
            </a:pPr>
            <a:r>
              <a:rPr lang="en-US" sz="950" b="1" kern="0" spc="200" dirty="0">
                <a:solidFill>
                  <a:srgbClr val="C08A2E"/>
                </a:solidFill>
                <a:latin typeface="Calibri" pitchFamily="34" charset="0"/>
                <a:ea typeface="Calibri" pitchFamily="34" charset="-122"/>
                <a:cs typeface="Calibri" pitchFamily="34" charset="-120"/>
              </a:rPr>
              <a:t>PIPELINE</a:t>
            </a:r>
            <a:endParaRPr lang="en-US" sz="950" dirty="0"/>
          </a:p>
        </p:txBody>
      </p:sp>
      <p:sp>
        <p:nvSpPr>
          <p:cNvPr id="4" name="Text 2"/>
          <p:cNvSpPr txBox="1"/>
          <p:nvPr/>
        </p:nvSpPr>
        <p:spPr>
          <a:xfrm>
            <a:off x="566928" y="667512"/>
            <a:ext cx="11055096" cy="502920"/>
          </a:xfrm>
          <a:prstGeom prst="rect">
            <a:avLst/>
          </a:prstGeom>
          <a:noFill/>
          <a:ln/>
        </p:spPr>
        <p:txBody>
          <a:bodyPr wrap="square" lIns="0" tIns="0" rIns="0" bIns="0" rtlCol="0" anchor="ctr"/>
          <a:lstStyle/>
          <a:p>
            <a:pPr marL="0" indent="0">
              <a:buNone/>
            </a:pPr>
            <a:r>
              <a:rPr lang="en-US" sz="2700" b="1" dirty="0">
                <a:solidFill>
                  <a:srgbClr val="1B4034"/>
                </a:solidFill>
                <a:latin typeface="Cambria" pitchFamily="34" charset="0"/>
                <a:ea typeface="Cambria" pitchFamily="34" charset="-122"/>
                <a:cs typeface="Cambria" pitchFamily="34" charset="-120"/>
              </a:rPr>
              <a:t>Proposed Methodology</a:t>
            </a:r>
            <a:endParaRPr lang="en-US" sz="2700" dirty="0"/>
          </a:p>
        </p:txBody>
      </p:sp>
      <p:sp>
        <p:nvSpPr>
          <p:cNvPr id="5" name="Shape 3"/>
          <p:cNvSpPr/>
          <p:nvPr/>
        </p:nvSpPr>
        <p:spPr>
          <a:xfrm>
            <a:off x="566928" y="1371600"/>
            <a:ext cx="1664208" cy="868680"/>
          </a:xfrm>
          <a:prstGeom prst="roundRect">
            <a:avLst>
              <a:gd name="adj" fmla="val 5263"/>
            </a:avLst>
          </a:prstGeom>
          <a:solidFill>
            <a:srgbClr val="1B4034"/>
          </a:solidFill>
          <a:ln w="12700">
            <a:solidFill>
              <a:srgbClr val="1B4034"/>
            </a:solidFill>
            <a:prstDash val="solid"/>
          </a:ln>
        </p:spPr>
      </p:sp>
      <p:sp>
        <p:nvSpPr>
          <p:cNvPr id="6" name="Text 4"/>
          <p:cNvSpPr txBox="1"/>
          <p:nvPr/>
        </p:nvSpPr>
        <p:spPr>
          <a:xfrm>
            <a:off x="566928" y="1371600"/>
            <a:ext cx="1664208" cy="86868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Historical</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Records</a:t>
            </a:r>
            <a:endParaRPr lang="en-US" sz="1050" dirty="0"/>
          </a:p>
        </p:txBody>
      </p:sp>
      <p:sp>
        <p:nvSpPr>
          <p:cNvPr id="7" name="Text 5"/>
          <p:cNvSpPr txBox="1"/>
          <p:nvPr/>
        </p:nvSpPr>
        <p:spPr>
          <a:xfrm>
            <a:off x="2231136" y="1481328"/>
            <a:ext cx="210312" cy="640080"/>
          </a:xfrm>
          <a:prstGeom prst="rect">
            <a:avLst/>
          </a:prstGeom>
          <a:noFill/>
          <a:ln/>
        </p:spPr>
        <p:txBody>
          <a:bodyPr wrap="square" lIns="0" tIns="0" rIns="0" bIns="0" rtlCol="0" anchor="ctr"/>
          <a:lstStyle/>
          <a:p>
            <a:pPr marL="0" indent="0" algn="ctr">
              <a:buNone/>
            </a:pPr>
            <a:r>
              <a:rPr lang="en-US" sz="2200" b="1" dirty="0">
                <a:solidFill>
                  <a:srgbClr val="C08A2E"/>
                </a:solidFill>
                <a:latin typeface="Calibri" pitchFamily="34" charset="0"/>
                <a:ea typeface="Calibri" pitchFamily="34" charset="-122"/>
                <a:cs typeface="Calibri" pitchFamily="34" charset="-120"/>
              </a:rPr>
              <a:t>›</a:t>
            </a:r>
            <a:endParaRPr lang="en-US" sz="2200" dirty="0"/>
          </a:p>
        </p:txBody>
      </p:sp>
      <p:sp>
        <p:nvSpPr>
          <p:cNvPr id="8" name="Shape 6"/>
          <p:cNvSpPr/>
          <p:nvPr/>
        </p:nvSpPr>
        <p:spPr>
          <a:xfrm>
            <a:off x="2441448" y="1371600"/>
            <a:ext cx="1664208" cy="868680"/>
          </a:xfrm>
          <a:prstGeom prst="roundRect">
            <a:avLst>
              <a:gd name="adj" fmla="val 5263"/>
            </a:avLst>
          </a:prstGeom>
          <a:solidFill>
            <a:srgbClr val="1B4034"/>
          </a:solidFill>
          <a:ln w="12700">
            <a:solidFill>
              <a:srgbClr val="1B4034"/>
            </a:solidFill>
            <a:prstDash val="solid"/>
          </a:ln>
        </p:spPr>
      </p:sp>
      <p:sp>
        <p:nvSpPr>
          <p:cNvPr id="9" name="Text 7"/>
          <p:cNvSpPr txBox="1"/>
          <p:nvPr/>
        </p:nvSpPr>
        <p:spPr>
          <a:xfrm>
            <a:off x="2441448" y="1371600"/>
            <a:ext cx="1664208" cy="86868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Data</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Cleaning</a:t>
            </a:r>
            <a:endParaRPr lang="en-US" sz="1050" dirty="0"/>
          </a:p>
        </p:txBody>
      </p:sp>
      <p:sp>
        <p:nvSpPr>
          <p:cNvPr id="10" name="Text 8"/>
          <p:cNvSpPr txBox="1"/>
          <p:nvPr/>
        </p:nvSpPr>
        <p:spPr>
          <a:xfrm>
            <a:off x="4105656" y="1481328"/>
            <a:ext cx="210312" cy="640080"/>
          </a:xfrm>
          <a:prstGeom prst="rect">
            <a:avLst/>
          </a:prstGeom>
          <a:noFill/>
          <a:ln/>
        </p:spPr>
        <p:txBody>
          <a:bodyPr wrap="square" lIns="0" tIns="0" rIns="0" bIns="0" rtlCol="0" anchor="ctr"/>
          <a:lstStyle/>
          <a:p>
            <a:pPr marL="0" indent="0" algn="ctr">
              <a:buNone/>
            </a:pPr>
            <a:r>
              <a:rPr lang="en-US" sz="2200" b="1" dirty="0">
                <a:solidFill>
                  <a:srgbClr val="C08A2E"/>
                </a:solidFill>
                <a:latin typeface="Calibri" pitchFamily="34" charset="0"/>
                <a:ea typeface="Calibri" pitchFamily="34" charset="-122"/>
                <a:cs typeface="Calibri" pitchFamily="34" charset="-120"/>
              </a:rPr>
              <a:t>›</a:t>
            </a:r>
            <a:endParaRPr lang="en-US" sz="2200" dirty="0"/>
          </a:p>
        </p:txBody>
      </p:sp>
      <p:sp>
        <p:nvSpPr>
          <p:cNvPr id="11" name="Shape 9"/>
          <p:cNvSpPr/>
          <p:nvPr/>
        </p:nvSpPr>
        <p:spPr>
          <a:xfrm>
            <a:off x="4315968" y="1371600"/>
            <a:ext cx="1664208" cy="868680"/>
          </a:xfrm>
          <a:prstGeom prst="roundRect">
            <a:avLst>
              <a:gd name="adj" fmla="val 5263"/>
            </a:avLst>
          </a:prstGeom>
          <a:solidFill>
            <a:srgbClr val="1B4034"/>
          </a:solidFill>
          <a:ln w="12700">
            <a:solidFill>
              <a:srgbClr val="1B4034"/>
            </a:solidFill>
            <a:prstDash val="solid"/>
          </a:ln>
        </p:spPr>
      </p:sp>
      <p:sp>
        <p:nvSpPr>
          <p:cNvPr id="12" name="Text 10"/>
          <p:cNvSpPr txBox="1"/>
          <p:nvPr/>
        </p:nvSpPr>
        <p:spPr>
          <a:xfrm>
            <a:off x="4315968" y="1371600"/>
            <a:ext cx="1664208" cy="86868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Feature</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Engineering</a:t>
            </a:r>
            <a:endParaRPr lang="en-US" sz="1050" dirty="0"/>
          </a:p>
        </p:txBody>
      </p:sp>
      <p:sp>
        <p:nvSpPr>
          <p:cNvPr id="13" name="Text 11"/>
          <p:cNvSpPr txBox="1"/>
          <p:nvPr/>
        </p:nvSpPr>
        <p:spPr>
          <a:xfrm>
            <a:off x="5980176" y="1481328"/>
            <a:ext cx="210312" cy="640080"/>
          </a:xfrm>
          <a:prstGeom prst="rect">
            <a:avLst/>
          </a:prstGeom>
          <a:noFill/>
          <a:ln/>
        </p:spPr>
        <p:txBody>
          <a:bodyPr wrap="square" lIns="0" tIns="0" rIns="0" bIns="0" rtlCol="0" anchor="ctr"/>
          <a:lstStyle/>
          <a:p>
            <a:pPr marL="0" indent="0" algn="ctr">
              <a:buNone/>
            </a:pPr>
            <a:r>
              <a:rPr lang="en-US" sz="2200" b="1" dirty="0">
                <a:solidFill>
                  <a:srgbClr val="C08A2E"/>
                </a:solidFill>
                <a:latin typeface="Calibri" pitchFamily="34" charset="0"/>
                <a:ea typeface="Calibri" pitchFamily="34" charset="-122"/>
                <a:cs typeface="Calibri" pitchFamily="34" charset="-120"/>
              </a:rPr>
              <a:t>›</a:t>
            </a:r>
            <a:endParaRPr lang="en-US" sz="2200" dirty="0"/>
          </a:p>
        </p:txBody>
      </p:sp>
      <p:sp>
        <p:nvSpPr>
          <p:cNvPr id="14" name="Shape 12"/>
          <p:cNvSpPr/>
          <p:nvPr/>
        </p:nvSpPr>
        <p:spPr>
          <a:xfrm>
            <a:off x="6190488" y="1371600"/>
            <a:ext cx="1664208" cy="868680"/>
          </a:xfrm>
          <a:prstGeom prst="roundRect">
            <a:avLst>
              <a:gd name="adj" fmla="val 5263"/>
            </a:avLst>
          </a:prstGeom>
          <a:solidFill>
            <a:srgbClr val="1B4034"/>
          </a:solidFill>
          <a:ln w="12700">
            <a:solidFill>
              <a:srgbClr val="1B4034"/>
            </a:solidFill>
            <a:prstDash val="solid"/>
          </a:ln>
        </p:spPr>
      </p:sp>
      <p:sp>
        <p:nvSpPr>
          <p:cNvPr id="15" name="Text 13"/>
          <p:cNvSpPr txBox="1"/>
          <p:nvPr/>
        </p:nvSpPr>
        <p:spPr>
          <a:xfrm>
            <a:off x="6190488" y="1371600"/>
            <a:ext cx="1664208" cy="86868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Exploratory</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Analysis</a:t>
            </a:r>
            <a:endParaRPr lang="en-US" sz="1050" dirty="0"/>
          </a:p>
        </p:txBody>
      </p:sp>
      <p:sp>
        <p:nvSpPr>
          <p:cNvPr id="16" name="Text 14"/>
          <p:cNvSpPr txBox="1"/>
          <p:nvPr/>
        </p:nvSpPr>
        <p:spPr>
          <a:xfrm>
            <a:off x="7854696" y="1481328"/>
            <a:ext cx="210312" cy="640080"/>
          </a:xfrm>
          <a:prstGeom prst="rect">
            <a:avLst/>
          </a:prstGeom>
          <a:noFill/>
          <a:ln/>
        </p:spPr>
        <p:txBody>
          <a:bodyPr wrap="square" lIns="0" tIns="0" rIns="0" bIns="0" rtlCol="0" anchor="ctr"/>
          <a:lstStyle/>
          <a:p>
            <a:pPr marL="0" indent="0" algn="ctr">
              <a:buNone/>
            </a:pPr>
            <a:r>
              <a:rPr lang="en-US" sz="2200" b="1" dirty="0">
                <a:solidFill>
                  <a:srgbClr val="C08A2E"/>
                </a:solidFill>
                <a:latin typeface="Calibri" pitchFamily="34" charset="0"/>
                <a:ea typeface="Calibri" pitchFamily="34" charset="-122"/>
                <a:cs typeface="Calibri" pitchFamily="34" charset="-120"/>
              </a:rPr>
              <a:t>›</a:t>
            </a:r>
            <a:endParaRPr lang="en-US" sz="2200" dirty="0"/>
          </a:p>
        </p:txBody>
      </p:sp>
      <p:sp>
        <p:nvSpPr>
          <p:cNvPr id="17" name="Shape 15"/>
          <p:cNvSpPr/>
          <p:nvPr/>
        </p:nvSpPr>
        <p:spPr>
          <a:xfrm>
            <a:off x="8065008" y="1371600"/>
            <a:ext cx="1664208" cy="868680"/>
          </a:xfrm>
          <a:prstGeom prst="roundRect">
            <a:avLst>
              <a:gd name="adj" fmla="val 5263"/>
            </a:avLst>
          </a:prstGeom>
          <a:solidFill>
            <a:srgbClr val="1B4034"/>
          </a:solidFill>
          <a:ln w="12700">
            <a:solidFill>
              <a:srgbClr val="1B4034"/>
            </a:solidFill>
            <a:prstDash val="solid"/>
          </a:ln>
        </p:spPr>
      </p:sp>
      <p:sp>
        <p:nvSpPr>
          <p:cNvPr id="18" name="Text 16"/>
          <p:cNvSpPr txBox="1"/>
          <p:nvPr/>
        </p:nvSpPr>
        <p:spPr>
          <a:xfrm>
            <a:off x="8065008" y="1371600"/>
            <a:ext cx="1664208" cy="86868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Scaling &amp;</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Encoding</a:t>
            </a:r>
            <a:endParaRPr lang="en-US" sz="1050" dirty="0"/>
          </a:p>
        </p:txBody>
      </p:sp>
      <p:sp>
        <p:nvSpPr>
          <p:cNvPr id="19" name="Text 17"/>
          <p:cNvSpPr txBox="1"/>
          <p:nvPr/>
        </p:nvSpPr>
        <p:spPr>
          <a:xfrm>
            <a:off x="9729216" y="1481328"/>
            <a:ext cx="210312" cy="640080"/>
          </a:xfrm>
          <a:prstGeom prst="rect">
            <a:avLst/>
          </a:prstGeom>
          <a:noFill/>
          <a:ln/>
        </p:spPr>
        <p:txBody>
          <a:bodyPr wrap="square" lIns="0" tIns="0" rIns="0" bIns="0" rtlCol="0" anchor="ctr"/>
          <a:lstStyle/>
          <a:p>
            <a:pPr marL="0" indent="0" algn="ctr">
              <a:buNone/>
            </a:pPr>
            <a:r>
              <a:rPr lang="en-US" sz="2200" b="1" dirty="0">
                <a:solidFill>
                  <a:srgbClr val="C08A2E"/>
                </a:solidFill>
                <a:latin typeface="Calibri" pitchFamily="34" charset="0"/>
                <a:ea typeface="Calibri" pitchFamily="34" charset="-122"/>
                <a:cs typeface="Calibri" pitchFamily="34" charset="-120"/>
              </a:rPr>
              <a:t>›</a:t>
            </a:r>
            <a:endParaRPr lang="en-US" sz="2200" dirty="0"/>
          </a:p>
        </p:txBody>
      </p:sp>
      <p:sp>
        <p:nvSpPr>
          <p:cNvPr id="20" name="Shape 18"/>
          <p:cNvSpPr/>
          <p:nvPr/>
        </p:nvSpPr>
        <p:spPr>
          <a:xfrm>
            <a:off x="9939528" y="1371600"/>
            <a:ext cx="1664208" cy="868680"/>
          </a:xfrm>
          <a:prstGeom prst="roundRect">
            <a:avLst>
              <a:gd name="adj" fmla="val 5263"/>
            </a:avLst>
          </a:prstGeom>
          <a:solidFill>
            <a:srgbClr val="1B4034"/>
          </a:solidFill>
          <a:ln w="12700">
            <a:solidFill>
              <a:srgbClr val="1B4034"/>
            </a:solidFill>
            <a:prstDash val="solid"/>
          </a:ln>
        </p:spPr>
      </p:sp>
      <p:sp>
        <p:nvSpPr>
          <p:cNvPr id="21" name="Text 19"/>
          <p:cNvSpPr txBox="1"/>
          <p:nvPr/>
        </p:nvSpPr>
        <p:spPr>
          <a:xfrm>
            <a:off x="9939528" y="1371600"/>
            <a:ext cx="1664208" cy="86868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Train / Test</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Split</a:t>
            </a:r>
            <a:endParaRPr lang="en-US" sz="1050" dirty="0"/>
          </a:p>
        </p:txBody>
      </p:sp>
      <p:sp>
        <p:nvSpPr>
          <p:cNvPr id="22" name="Shape 20"/>
          <p:cNvSpPr/>
          <p:nvPr/>
        </p:nvSpPr>
        <p:spPr>
          <a:xfrm>
            <a:off x="2048256" y="2478024"/>
            <a:ext cx="3520440" cy="1691640"/>
          </a:xfrm>
          <a:prstGeom prst="roundRect">
            <a:avLst>
              <a:gd name="adj" fmla="val 3243"/>
            </a:avLst>
          </a:prstGeom>
          <a:solidFill>
            <a:srgbClr val="FFFFFF"/>
          </a:solidFill>
          <a:ln w="12700">
            <a:solidFill>
              <a:srgbClr val="DDD6C8"/>
            </a:solidFill>
            <a:prstDash val="solid"/>
          </a:ln>
        </p:spPr>
      </p:sp>
      <p:sp>
        <p:nvSpPr>
          <p:cNvPr id="23" name="Text 21"/>
          <p:cNvSpPr txBox="1"/>
          <p:nvPr/>
        </p:nvSpPr>
        <p:spPr>
          <a:xfrm>
            <a:off x="2174240" y="2628900"/>
            <a:ext cx="3154680" cy="182880"/>
          </a:xfrm>
          <a:prstGeom prst="rect">
            <a:avLst/>
          </a:prstGeom>
          <a:noFill/>
          <a:ln/>
        </p:spPr>
        <p:txBody>
          <a:bodyPr wrap="square" lIns="0" tIns="0" rIns="0" bIns="0" rtlCol="0" anchor="ctr"/>
          <a:lstStyle/>
          <a:p>
            <a:pPr marL="0" indent="0">
              <a:buNone/>
            </a:pPr>
            <a:r>
              <a:rPr lang="en-US" sz="850" b="1" kern="0" spc="140" dirty="0">
                <a:solidFill>
                  <a:srgbClr val="C08A2E"/>
                </a:solidFill>
                <a:latin typeface="Calibri" pitchFamily="34" charset="0"/>
                <a:ea typeface="Calibri" pitchFamily="34" charset="-122"/>
                <a:cs typeface="Calibri" pitchFamily="34" charset="-120"/>
              </a:rPr>
              <a:t>L2 PENALTY</a:t>
            </a:r>
            <a:endParaRPr lang="en-US" sz="850" dirty="0"/>
          </a:p>
        </p:txBody>
      </p:sp>
      <p:sp>
        <p:nvSpPr>
          <p:cNvPr id="24" name="Text 22"/>
          <p:cNvSpPr txBox="1"/>
          <p:nvPr/>
        </p:nvSpPr>
        <p:spPr>
          <a:xfrm>
            <a:off x="2336292" y="2852513"/>
            <a:ext cx="3154680" cy="237744"/>
          </a:xfrm>
          <a:prstGeom prst="rect">
            <a:avLst/>
          </a:prstGeom>
          <a:noFill/>
          <a:ln/>
        </p:spPr>
        <p:txBody>
          <a:bodyPr wrap="square" lIns="0" tIns="0" rIns="0" bIns="0" rtlCol="0" anchor="ctr"/>
          <a:lstStyle/>
          <a:p>
            <a:pPr marL="0" indent="0">
              <a:buNone/>
            </a:pPr>
            <a:r>
              <a:rPr lang="en-US" sz="1500" b="1" dirty="0">
                <a:solidFill>
                  <a:srgbClr val="1B4034"/>
                </a:solidFill>
                <a:latin typeface="Cambria" pitchFamily="34" charset="0"/>
                <a:ea typeface="Cambria" pitchFamily="34" charset="-122"/>
                <a:cs typeface="Cambria" pitchFamily="34" charset="-120"/>
              </a:rPr>
              <a:t>Ridge Regression</a:t>
            </a:r>
            <a:endParaRPr lang="en-US" sz="1500" dirty="0"/>
          </a:p>
        </p:txBody>
      </p:sp>
      <p:sp>
        <p:nvSpPr>
          <p:cNvPr id="25" name="Text 23"/>
          <p:cNvSpPr txBox="1"/>
          <p:nvPr/>
        </p:nvSpPr>
        <p:spPr>
          <a:xfrm>
            <a:off x="2231136" y="3171153"/>
            <a:ext cx="3154680" cy="886968"/>
          </a:xfrm>
          <a:prstGeom prst="rect">
            <a:avLst/>
          </a:prstGeom>
          <a:noFill/>
          <a:ln/>
        </p:spPr>
        <p:txBody>
          <a:bodyPr wrap="square" lIns="0" tIns="0" rIns="0" bIns="0" rtlCol="0" anchor="t"/>
          <a:lstStyle/>
          <a:p>
            <a:pPr marL="0" indent="0">
              <a:lnSpc>
                <a:spcPts val="1500"/>
              </a:lnSpc>
              <a:buNone/>
            </a:pPr>
            <a:r>
              <a:rPr lang="en-US" sz="1050" dirty="0">
                <a:solidFill>
                  <a:srgbClr val="6E6B64"/>
                </a:solidFill>
                <a:latin typeface="Calibri" pitchFamily="34" charset="0"/>
                <a:ea typeface="Calibri" pitchFamily="34" charset="-122"/>
                <a:cs typeface="Calibri" pitchFamily="34" charset="-120"/>
              </a:rPr>
              <a:t>Shrinks correlated coefficients together without removing any feature.</a:t>
            </a:r>
            <a:endParaRPr lang="en-US" sz="1050" dirty="0"/>
          </a:p>
        </p:txBody>
      </p:sp>
      <p:sp>
        <p:nvSpPr>
          <p:cNvPr id="26" name="Shape 24"/>
          <p:cNvSpPr/>
          <p:nvPr/>
        </p:nvSpPr>
        <p:spPr>
          <a:xfrm>
            <a:off x="6954012" y="2441448"/>
            <a:ext cx="3520440" cy="1691640"/>
          </a:xfrm>
          <a:prstGeom prst="roundRect">
            <a:avLst>
              <a:gd name="adj" fmla="val 3243"/>
            </a:avLst>
          </a:prstGeom>
          <a:solidFill>
            <a:srgbClr val="FFFFFF"/>
          </a:solidFill>
          <a:ln w="12700">
            <a:solidFill>
              <a:srgbClr val="DDD6C8"/>
            </a:solidFill>
            <a:prstDash val="solid"/>
          </a:ln>
        </p:spPr>
      </p:sp>
      <p:sp>
        <p:nvSpPr>
          <p:cNvPr id="27" name="Text 25"/>
          <p:cNvSpPr txBox="1"/>
          <p:nvPr/>
        </p:nvSpPr>
        <p:spPr>
          <a:xfrm>
            <a:off x="7228332" y="2613660"/>
            <a:ext cx="3154680" cy="182880"/>
          </a:xfrm>
          <a:prstGeom prst="rect">
            <a:avLst/>
          </a:prstGeom>
          <a:noFill/>
          <a:ln/>
        </p:spPr>
        <p:txBody>
          <a:bodyPr wrap="square" lIns="0" tIns="0" rIns="0" bIns="0" rtlCol="0" anchor="ctr"/>
          <a:lstStyle/>
          <a:p>
            <a:pPr marL="0" indent="0">
              <a:buNone/>
            </a:pPr>
            <a:r>
              <a:rPr lang="en-US" sz="850" b="1" kern="0" spc="140" dirty="0">
                <a:solidFill>
                  <a:srgbClr val="C08A2E"/>
                </a:solidFill>
                <a:latin typeface="Calibri" pitchFamily="34" charset="0"/>
                <a:ea typeface="Calibri" pitchFamily="34" charset="-122"/>
                <a:cs typeface="Calibri" pitchFamily="34" charset="-120"/>
              </a:rPr>
              <a:t>L1 PENALTY</a:t>
            </a:r>
            <a:endParaRPr lang="en-US" sz="850" dirty="0"/>
          </a:p>
        </p:txBody>
      </p:sp>
      <p:sp>
        <p:nvSpPr>
          <p:cNvPr id="28" name="Text 26"/>
          <p:cNvSpPr txBox="1"/>
          <p:nvPr/>
        </p:nvSpPr>
        <p:spPr>
          <a:xfrm>
            <a:off x="7319772" y="2833624"/>
            <a:ext cx="3154680" cy="237744"/>
          </a:xfrm>
          <a:prstGeom prst="rect">
            <a:avLst/>
          </a:prstGeom>
          <a:noFill/>
          <a:ln/>
        </p:spPr>
        <p:txBody>
          <a:bodyPr wrap="square" lIns="0" tIns="0" rIns="0" bIns="0" rtlCol="0" anchor="ctr"/>
          <a:lstStyle/>
          <a:p>
            <a:pPr marL="0" indent="0">
              <a:buNone/>
            </a:pPr>
            <a:r>
              <a:rPr lang="en-US" sz="1500" b="1" dirty="0">
                <a:solidFill>
                  <a:srgbClr val="1B4034"/>
                </a:solidFill>
                <a:latin typeface="Cambria" pitchFamily="34" charset="0"/>
                <a:ea typeface="Cambria" pitchFamily="34" charset="-122"/>
                <a:cs typeface="Cambria" pitchFamily="34" charset="-120"/>
              </a:rPr>
              <a:t>Lasso Regression</a:t>
            </a:r>
            <a:endParaRPr lang="en-US" sz="1500" dirty="0"/>
          </a:p>
        </p:txBody>
      </p:sp>
      <p:sp>
        <p:nvSpPr>
          <p:cNvPr id="29" name="Text 27"/>
          <p:cNvSpPr txBox="1"/>
          <p:nvPr/>
        </p:nvSpPr>
        <p:spPr>
          <a:xfrm>
            <a:off x="7333488" y="3188716"/>
            <a:ext cx="3154680" cy="886968"/>
          </a:xfrm>
          <a:prstGeom prst="rect">
            <a:avLst/>
          </a:prstGeom>
          <a:noFill/>
          <a:ln/>
        </p:spPr>
        <p:txBody>
          <a:bodyPr wrap="square" lIns="0" tIns="0" rIns="0" bIns="0" rtlCol="0" anchor="t"/>
          <a:lstStyle/>
          <a:p>
            <a:pPr marL="0" indent="0">
              <a:lnSpc>
                <a:spcPts val="1500"/>
              </a:lnSpc>
              <a:buNone/>
            </a:pPr>
            <a:r>
              <a:rPr lang="en-US" sz="1050" dirty="0">
                <a:solidFill>
                  <a:srgbClr val="6E6B64"/>
                </a:solidFill>
                <a:latin typeface="Calibri" pitchFamily="34" charset="0"/>
                <a:ea typeface="Calibri" pitchFamily="34" charset="-122"/>
                <a:cs typeface="Calibri" pitchFamily="34" charset="-120"/>
              </a:rPr>
              <a:t>Drives weak coefficients to exactly zero, performing feature selection.</a:t>
            </a:r>
            <a:endParaRPr lang="en-US" sz="1050" dirty="0"/>
          </a:p>
        </p:txBody>
      </p:sp>
      <p:sp>
        <p:nvSpPr>
          <p:cNvPr id="34" name="Shape 32"/>
          <p:cNvSpPr/>
          <p:nvPr/>
        </p:nvSpPr>
        <p:spPr>
          <a:xfrm>
            <a:off x="566928" y="4526280"/>
            <a:ext cx="2606040" cy="731520"/>
          </a:xfrm>
          <a:prstGeom prst="roundRect">
            <a:avLst>
              <a:gd name="adj" fmla="val 6250"/>
            </a:avLst>
          </a:prstGeom>
          <a:solidFill>
            <a:srgbClr val="FFFFFF"/>
          </a:solidFill>
          <a:ln w="12700">
            <a:solidFill>
              <a:srgbClr val="DDD6C8"/>
            </a:solidFill>
            <a:prstDash val="solid"/>
          </a:ln>
        </p:spPr>
      </p:sp>
      <p:sp>
        <p:nvSpPr>
          <p:cNvPr id="35" name="Text 33"/>
          <p:cNvSpPr txBox="1"/>
          <p:nvPr/>
        </p:nvSpPr>
        <p:spPr>
          <a:xfrm>
            <a:off x="566928" y="4526280"/>
            <a:ext cx="2606040" cy="731520"/>
          </a:xfrm>
          <a:prstGeom prst="rect">
            <a:avLst/>
          </a:prstGeom>
          <a:noFill/>
          <a:ln/>
        </p:spPr>
        <p:txBody>
          <a:bodyPr wrap="square" lIns="0" tIns="0" rIns="0" bIns="0" rtlCol="0" anchor="ctr"/>
          <a:lstStyle/>
          <a:p>
            <a:pPr marL="0" indent="0" algn="ctr">
              <a:buNone/>
            </a:pPr>
            <a:r>
              <a:rPr lang="en-US" sz="1100" b="1" dirty="0">
                <a:solidFill>
                  <a:srgbClr val="1B4034"/>
                </a:solidFill>
                <a:latin typeface="Calibri" pitchFamily="34" charset="0"/>
                <a:ea typeface="Calibri" pitchFamily="34" charset="-122"/>
                <a:cs typeface="Calibri" pitchFamily="34" charset="-120"/>
              </a:rPr>
              <a:t>Model Training</a:t>
            </a:r>
            <a:endParaRPr lang="en-US" sz="1100" dirty="0"/>
          </a:p>
        </p:txBody>
      </p:sp>
      <p:sp>
        <p:nvSpPr>
          <p:cNvPr id="36" name="Text 34"/>
          <p:cNvSpPr txBox="1"/>
          <p:nvPr/>
        </p:nvSpPr>
        <p:spPr>
          <a:xfrm>
            <a:off x="3172968" y="4599432"/>
            <a:ext cx="210312" cy="548640"/>
          </a:xfrm>
          <a:prstGeom prst="rect">
            <a:avLst/>
          </a:prstGeom>
          <a:noFill/>
          <a:ln/>
        </p:spPr>
        <p:txBody>
          <a:bodyPr wrap="square" lIns="0" tIns="0" rIns="0" bIns="0" rtlCol="0" anchor="ctr"/>
          <a:lstStyle/>
          <a:p>
            <a:pPr marL="0" indent="0" algn="ctr">
              <a:buNone/>
            </a:pPr>
            <a:r>
              <a:rPr lang="en-US" sz="2000" b="1" dirty="0">
                <a:solidFill>
                  <a:srgbClr val="C08A2E"/>
                </a:solidFill>
                <a:latin typeface="Calibri" pitchFamily="34" charset="0"/>
                <a:ea typeface="Calibri" pitchFamily="34" charset="-122"/>
                <a:cs typeface="Calibri" pitchFamily="34" charset="-120"/>
              </a:rPr>
              <a:t>›</a:t>
            </a:r>
            <a:endParaRPr lang="en-US" sz="2000" dirty="0"/>
          </a:p>
        </p:txBody>
      </p:sp>
      <p:sp>
        <p:nvSpPr>
          <p:cNvPr id="37" name="Shape 35"/>
          <p:cNvSpPr/>
          <p:nvPr/>
        </p:nvSpPr>
        <p:spPr>
          <a:xfrm>
            <a:off x="3383280" y="4526280"/>
            <a:ext cx="2606040" cy="731520"/>
          </a:xfrm>
          <a:prstGeom prst="roundRect">
            <a:avLst>
              <a:gd name="adj" fmla="val 6250"/>
            </a:avLst>
          </a:prstGeom>
          <a:solidFill>
            <a:srgbClr val="FFFFFF"/>
          </a:solidFill>
          <a:ln w="12700">
            <a:solidFill>
              <a:srgbClr val="DDD6C8"/>
            </a:solidFill>
            <a:prstDash val="solid"/>
          </a:ln>
        </p:spPr>
      </p:sp>
      <p:sp>
        <p:nvSpPr>
          <p:cNvPr id="38" name="Text 36"/>
          <p:cNvSpPr txBox="1"/>
          <p:nvPr/>
        </p:nvSpPr>
        <p:spPr>
          <a:xfrm>
            <a:off x="3383280" y="4526280"/>
            <a:ext cx="2606040" cy="731520"/>
          </a:xfrm>
          <a:prstGeom prst="rect">
            <a:avLst/>
          </a:prstGeom>
          <a:noFill/>
          <a:ln/>
        </p:spPr>
        <p:txBody>
          <a:bodyPr wrap="square" lIns="0" tIns="0" rIns="0" bIns="0" rtlCol="0" anchor="ctr"/>
          <a:lstStyle/>
          <a:p>
            <a:pPr marL="0" indent="0" algn="ctr">
              <a:buNone/>
            </a:pPr>
            <a:r>
              <a:rPr lang="en-US" sz="1100" b="1" dirty="0">
                <a:solidFill>
                  <a:srgbClr val="1B4034"/>
                </a:solidFill>
                <a:latin typeface="Calibri" pitchFamily="34" charset="0"/>
                <a:ea typeface="Calibri" pitchFamily="34" charset="-122"/>
                <a:cs typeface="Calibri" pitchFamily="34" charset="-120"/>
              </a:rPr>
              <a:t>Metric Evaluation</a:t>
            </a:r>
            <a:endParaRPr lang="en-US" sz="1100" dirty="0"/>
          </a:p>
        </p:txBody>
      </p:sp>
      <p:sp>
        <p:nvSpPr>
          <p:cNvPr id="39" name="Text 37"/>
          <p:cNvSpPr txBox="1"/>
          <p:nvPr/>
        </p:nvSpPr>
        <p:spPr>
          <a:xfrm>
            <a:off x="5989320" y="4599432"/>
            <a:ext cx="210312" cy="548640"/>
          </a:xfrm>
          <a:prstGeom prst="rect">
            <a:avLst/>
          </a:prstGeom>
          <a:noFill/>
          <a:ln/>
        </p:spPr>
        <p:txBody>
          <a:bodyPr wrap="square" lIns="0" tIns="0" rIns="0" bIns="0" rtlCol="0" anchor="ctr"/>
          <a:lstStyle/>
          <a:p>
            <a:pPr marL="0" indent="0" algn="ctr">
              <a:buNone/>
            </a:pPr>
            <a:r>
              <a:rPr lang="en-US" sz="2000" b="1" dirty="0">
                <a:solidFill>
                  <a:srgbClr val="C08A2E"/>
                </a:solidFill>
                <a:latin typeface="Calibri" pitchFamily="34" charset="0"/>
                <a:ea typeface="Calibri" pitchFamily="34" charset="-122"/>
                <a:cs typeface="Calibri" pitchFamily="34" charset="-120"/>
              </a:rPr>
              <a:t>›</a:t>
            </a:r>
            <a:endParaRPr lang="en-US" sz="2000" dirty="0"/>
          </a:p>
        </p:txBody>
      </p:sp>
      <p:sp>
        <p:nvSpPr>
          <p:cNvPr id="40" name="Shape 38"/>
          <p:cNvSpPr/>
          <p:nvPr/>
        </p:nvSpPr>
        <p:spPr>
          <a:xfrm>
            <a:off x="6199632" y="4526280"/>
            <a:ext cx="2606040" cy="731520"/>
          </a:xfrm>
          <a:prstGeom prst="roundRect">
            <a:avLst>
              <a:gd name="adj" fmla="val 6250"/>
            </a:avLst>
          </a:prstGeom>
          <a:solidFill>
            <a:srgbClr val="FFFFFF"/>
          </a:solidFill>
          <a:ln w="12700">
            <a:solidFill>
              <a:srgbClr val="DDD6C8"/>
            </a:solidFill>
            <a:prstDash val="solid"/>
          </a:ln>
        </p:spPr>
      </p:sp>
      <p:sp>
        <p:nvSpPr>
          <p:cNvPr id="41" name="Text 39"/>
          <p:cNvSpPr txBox="1"/>
          <p:nvPr/>
        </p:nvSpPr>
        <p:spPr>
          <a:xfrm>
            <a:off x="6199632" y="4526280"/>
            <a:ext cx="2606040" cy="731520"/>
          </a:xfrm>
          <a:prstGeom prst="rect">
            <a:avLst/>
          </a:prstGeom>
          <a:noFill/>
          <a:ln/>
        </p:spPr>
        <p:txBody>
          <a:bodyPr wrap="square" lIns="0" tIns="0" rIns="0" bIns="0" rtlCol="0" anchor="ctr"/>
          <a:lstStyle/>
          <a:p>
            <a:pPr marL="0" indent="0" algn="ctr">
              <a:buNone/>
            </a:pPr>
            <a:r>
              <a:rPr lang="en-US" sz="1100" b="1" dirty="0">
                <a:solidFill>
                  <a:srgbClr val="1B4034"/>
                </a:solidFill>
                <a:latin typeface="Calibri" pitchFamily="34" charset="0"/>
                <a:ea typeface="Calibri" pitchFamily="34" charset="-122"/>
                <a:cs typeface="Calibri" pitchFamily="34" charset="-120"/>
              </a:rPr>
              <a:t>Model Comparison</a:t>
            </a:r>
            <a:endParaRPr lang="en-US" sz="1100" dirty="0"/>
          </a:p>
        </p:txBody>
      </p:sp>
      <p:sp>
        <p:nvSpPr>
          <p:cNvPr id="42" name="Text 40"/>
          <p:cNvSpPr txBox="1"/>
          <p:nvPr/>
        </p:nvSpPr>
        <p:spPr>
          <a:xfrm>
            <a:off x="8805672" y="4599432"/>
            <a:ext cx="210312" cy="548640"/>
          </a:xfrm>
          <a:prstGeom prst="rect">
            <a:avLst/>
          </a:prstGeom>
          <a:noFill/>
          <a:ln/>
        </p:spPr>
        <p:txBody>
          <a:bodyPr wrap="square" lIns="0" tIns="0" rIns="0" bIns="0" rtlCol="0" anchor="ctr"/>
          <a:lstStyle/>
          <a:p>
            <a:pPr marL="0" indent="0" algn="ctr">
              <a:buNone/>
            </a:pPr>
            <a:r>
              <a:rPr lang="en-US" sz="2000" b="1" dirty="0">
                <a:solidFill>
                  <a:srgbClr val="C08A2E"/>
                </a:solidFill>
                <a:latin typeface="Calibri" pitchFamily="34" charset="0"/>
                <a:ea typeface="Calibri" pitchFamily="34" charset="-122"/>
                <a:cs typeface="Calibri" pitchFamily="34" charset="-120"/>
              </a:rPr>
              <a:t>›</a:t>
            </a:r>
            <a:endParaRPr lang="en-US" sz="2000" dirty="0"/>
          </a:p>
        </p:txBody>
      </p:sp>
      <p:sp>
        <p:nvSpPr>
          <p:cNvPr id="43" name="Shape 41"/>
          <p:cNvSpPr/>
          <p:nvPr/>
        </p:nvSpPr>
        <p:spPr>
          <a:xfrm>
            <a:off x="9015984" y="4526280"/>
            <a:ext cx="2606040" cy="731520"/>
          </a:xfrm>
          <a:prstGeom prst="roundRect">
            <a:avLst>
              <a:gd name="adj" fmla="val 6250"/>
            </a:avLst>
          </a:prstGeom>
          <a:solidFill>
            <a:srgbClr val="C08A2E"/>
          </a:solidFill>
          <a:ln w="12700">
            <a:solidFill>
              <a:srgbClr val="C08A2E"/>
            </a:solidFill>
            <a:prstDash val="solid"/>
          </a:ln>
        </p:spPr>
      </p:sp>
      <p:sp>
        <p:nvSpPr>
          <p:cNvPr id="44" name="Text 42"/>
          <p:cNvSpPr txBox="1"/>
          <p:nvPr/>
        </p:nvSpPr>
        <p:spPr>
          <a:xfrm>
            <a:off x="9015984" y="4526280"/>
            <a:ext cx="2606040" cy="731520"/>
          </a:xfrm>
          <a:prstGeom prst="rect">
            <a:avLst/>
          </a:prstGeom>
          <a:noFill/>
          <a:ln/>
        </p:spPr>
        <p:txBody>
          <a:bodyPr wrap="square" lIns="0" tIns="0" rIns="0" bIns="0" rtlCol="0" anchor="ctr"/>
          <a:lstStyle/>
          <a:p>
            <a:pPr marL="0" indent="0" algn="ctr">
              <a:buNone/>
            </a:pPr>
            <a:r>
              <a:rPr lang="en-US" sz="1100" b="1" dirty="0">
                <a:solidFill>
                  <a:srgbClr val="10261F"/>
                </a:solidFill>
                <a:latin typeface="Calibri" pitchFamily="34" charset="0"/>
                <a:ea typeface="Calibri" pitchFamily="34" charset="-122"/>
                <a:cs typeface="Calibri" pitchFamily="34" charset="-120"/>
              </a:rPr>
              <a:t>Best Model Selected</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F3EFE7"/>
        </a:solidFill>
        <a:effectLst/>
      </p:bgPr>
    </p:bg>
    <p:spTree>
      <p:nvGrpSpPr>
        <p:cNvPr id="1" name=""/>
        <p:cNvGrpSpPr/>
        <p:nvPr/>
      </p:nvGrpSpPr>
      <p:grpSpPr>
        <a:xfrm>
          <a:off x="0" y="0"/>
          <a:ext cx="0" cy="0"/>
          <a:chOff x="0" y="0"/>
          <a:chExt cx="0" cy="0"/>
        </a:xfrm>
      </p:grpSpPr>
      <p:sp>
        <p:nvSpPr>
          <p:cNvPr id="2" name="Text 0"/>
          <p:cNvSpPr txBox="1"/>
          <p:nvPr/>
        </p:nvSpPr>
        <p:spPr>
          <a:xfrm>
            <a:off x="11183112" y="6382512"/>
            <a:ext cx="548640" cy="274320"/>
          </a:xfrm>
          <a:prstGeom prst="rect">
            <a:avLst/>
          </a:prstGeom>
          <a:noFill/>
          <a:ln/>
        </p:spPr>
        <p:txBody>
          <a:bodyPr wrap="square" lIns="0" tIns="0" rIns="0" bIns="0" rtlCol="0" anchor="ctr"/>
          <a:lstStyle/>
          <a:p>
            <a:pPr marL="0" indent="0" algn="r">
              <a:buNone/>
            </a:pPr>
            <a:r>
              <a:rPr lang="en-US" sz="1100" b="1" dirty="0">
                <a:solidFill>
                  <a:srgbClr val="C08A2E"/>
                </a:solidFill>
                <a:latin typeface="Cambria" pitchFamily="34" charset="0"/>
                <a:ea typeface="Cambria" pitchFamily="34" charset="-122"/>
                <a:cs typeface="Cambria" pitchFamily="34" charset="-120"/>
              </a:rPr>
              <a:t>18</a:t>
            </a:r>
            <a:endParaRPr lang="en-US" sz="1100" dirty="0"/>
          </a:p>
        </p:txBody>
      </p:sp>
      <p:sp>
        <p:nvSpPr>
          <p:cNvPr id="3" name="Text 1"/>
          <p:cNvSpPr txBox="1"/>
          <p:nvPr/>
        </p:nvSpPr>
        <p:spPr>
          <a:xfrm>
            <a:off x="566928" y="411480"/>
            <a:ext cx="8229600" cy="219456"/>
          </a:xfrm>
          <a:prstGeom prst="rect">
            <a:avLst/>
          </a:prstGeom>
          <a:noFill/>
          <a:ln/>
        </p:spPr>
        <p:txBody>
          <a:bodyPr wrap="square" lIns="0" tIns="0" rIns="0" bIns="0" rtlCol="0" anchor="ctr"/>
          <a:lstStyle/>
          <a:p>
            <a:pPr marL="0" indent="0">
              <a:buNone/>
            </a:pPr>
            <a:r>
              <a:rPr lang="en-US" sz="950" b="1" kern="0" spc="200" dirty="0">
                <a:solidFill>
                  <a:srgbClr val="C08A2E"/>
                </a:solidFill>
                <a:latin typeface="Calibri" pitchFamily="34" charset="0"/>
                <a:ea typeface="Calibri" pitchFamily="34" charset="-122"/>
                <a:cs typeface="Calibri" pitchFamily="34" charset="-120"/>
              </a:rPr>
              <a:t>SUMMARY</a:t>
            </a:r>
            <a:endParaRPr lang="en-US" sz="950" dirty="0"/>
          </a:p>
        </p:txBody>
      </p:sp>
      <p:sp>
        <p:nvSpPr>
          <p:cNvPr id="4" name="Text 2"/>
          <p:cNvSpPr txBox="1"/>
          <p:nvPr/>
        </p:nvSpPr>
        <p:spPr>
          <a:xfrm>
            <a:off x="566928" y="667512"/>
            <a:ext cx="11055096" cy="502920"/>
          </a:xfrm>
          <a:prstGeom prst="rect">
            <a:avLst/>
          </a:prstGeom>
          <a:noFill/>
          <a:ln/>
        </p:spPr>
        <p:txBody>
          <a:bodyPr wrap="square" lIns="0" tIns="0" rIns="0" bIns="0" rtlCol="0" anchor="ctr"/>
          <a:lstStyle/>
          <a:p>
            <a:pPr marL="0" indent="0">
              <a:buNone/>
            </a:pPr>
            <a:r>
              <a:rPr lang="en-US" sz="2700" b="1" dirty="0">
                <a:solidFill>
                  <a:srgbClr val="1B4034"/>
                </a:solidFill>
                <a:latin typeface="Cambria" pitchFamily="34" charset="0"/>
                <a:ea typeface="Cambria" pitchFamily="34" charset="-122"/>
                <a:cs typeface="Cambria" pitchFamily="34" charset="-120"/>
              </a:rPr>
              <a:t>Conclusion</a:t>
            </a:r>
            <a:endParaRPr lang="en-US" sz="2700" dirty="0"/>
          </a:p>
        </p:txBody>
      </p:sp>
      <p:sp>
        <p:nvSpPr>
          <p:cNvPr id="5" name="Shape 3"/>
          <p:cNvSpPr/>
          <p:nvPr/>
        </p:nvSpPr>
        <p:spPr>
          <a:xfrm>
            <a:off x="566928" y="1417320"/>
            <a:ext cx="5577840" cy="2194560"/>
          </a:xfrm>
          <a:prstGeom prst="roundRect">
            <a:avLst>
              <a:gd name="adj" fmla="val 2500"/>
            </a:avLst>
          </a:prstGeom>
          <a:solidFill>
            <a:srgbClr val="1B4034"/>
          </a:solidFill>
          <a:ln w="12700">
            <a:solidFill>
              <a:srgbClr val="1B4034"/>
            </a:solidFill>
            <a:prstDash val="solid"/>
          </a:ln>
        </p:spPr>
      </p:sp>
      <p:sp>
        <p:nvSpPr>
          <p:cNvPr id="6" name="Text 4"/>
          <p:cNvSpPr txBox="1"/>
          <p:nvPr/>
        </p:nvSpPr>
        <p:spPr>
          <a:xfrm>
            <a:off x="749808" y="1563624"/>
            <a:ext cx="5212080" cy="182880"/>
          </a:xfrm>
          <a:prstGeom prst="rect">
            <a:avLst/>
          </a:prstGeom>
          <a:noFill/>
          <a:ln/>
        </p:spPr>
        <p:txBody>
          <a:bodyPr wrap="square" lIns="0" tIns="0" rIns="0" bIns="0" rtlCol="0" anchor="ctr"/>
          <a:lstStyle/>
          <a:p>
            <a:pPr marL="0" indent="0">
              <a:buNone/>
            </a:pPr>
            <a:r>
              <a:rPr lang="en-US" sz="850" b="1" kern="0" spc="140" dirty="0">
                <a:solidFill>
                  <a:srgbClr val="C08A2E"/>
                </a:solidFill>
                <a:latin typeface="Calibri" pitchFamily="34" charset="0"/>
                <a:ea typeface="Calibri" pitchFamily="34" charset="-122"/>
                <a:cs typeface="Calibri" pitchFamily="34" charset="-120"/>
              </a:rPr>
              <a:t>WHAT WAS BUILT</a:t>
            </a:r>
            <a:endParaRPr lang="en-US" sz="850" dirty="0"/>
          </a:p>
        </p:txBody>
      </p:sp>
      <p:sp>
        <p:nvSpPr>
          <p:cNvPr id="7" name="Text 5"/>
          <p:cNvSpPr txBox="1"/>
          <p:nvPr/>
        </p:nvSpPr>
        <p:spPr>
          <a:xfrm>
            <a:off x="749808" y="1801368"/>
            <a:ext cx="5212080" cy="237744"/>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A working regression system for player performance</a:t>
            </a:r>
            <a:endParaRPr lang="en-US" sz="1600" dirty="0"/>
          </a:p>
        </p:txBody>
      </p:sp>
      <p:sp>
        <p:nvSpPr>
          <p:cNvPr id="8" name="Text 6"/>
          <p:cNvSpPr txBox="1"/>
          <p:nvPr/>
        </p:nvSpPr>
        <p:spPr>
          <a:xfrm>
            <a:off x="749808" y="2112264"/>
            <a:ext cx="5212080" cy="1389888"/>
          </a:xfrm>
          <a:prstGeom prst="rect">
            <a:avLst/>
          </a:prstGeom>
          <a:noFill/>
          <a:ln/>
        </p:spPr>
        <p:txBody>
          <a:bodyPr wrap="square" lIns="0" tIns="0" rIns="0" bIns="0" rtlCol="0" anchor="t"/>
          <a:lstStyle/>
          <a:p>
            <a:pPr marL="0" indent="0">
              <a:lnSpc>
                <a:spcPts val="1500"/>
              </a:lnSpc>
              <a:buNone/>
            </a:pPr>
            <a:r>
              <a:rPr lang="en-US" sz="1100" dirty="0">
                <a:solidFill>
                  <a:srgbClr val="E4E9E4"/>
                </a:solidFill>
                <a:latin typeface="Calibri" pitchFamily="34" charset="0"/>
                <a:ea typeface="Calibri" pitchFamily="34" charset="-122"/>
                <a:cs typeface="Calibri" pitchFamily="34" charset="-120"/>
              </a:rPr>
              <a:t>Historical match records were cleaned, enriched with leakage-free form features, and used to train Ridge, Lasso and Elastic Net models that estimate innings runs on unseen data with an average error of roughly four and a half runs.</a:t>
            </a:r>
            <a:endParaRPr lang="en-US" sz="1100" dirty="0"/>
          </a:p>
        </p:txBody>
      </p:sp>
      <p:sp>
        <p:nvSpPr>
          <p:cNvPr id="9" name="Shape 7"/>
          <p:cNvSpPr/>
          <p:nvPr/>
        </p:nvSpPr>
        <p:spPr>
          <a:xfrm>
            <a:off x="6217920" y="1417320"/>
            <a:ext cx="5394960" cy="2194560"/>
          </a:xfrm>
          <a:prstGeom prst="roundRect">
            <a:avLst>
              <a:gd name="adj" fmla="val 2500"/>
            </a:avLst>
          </a:prstGeom>
          <a:solidFill>
            <a:srgbClr val="FFFFFF"/>
          </a:solidFill>
          <a:ln w="12700">
            <a:solidFill>
              <a:srgbClr val="DDD6C8"/>
            </a:solidFill>
            <a:prstDash val="solid"/>
          </a:ln>
        </p:spPr>
      </p:sp>
      <p:sp>
        <p:nvSpPr>
          <p:cNvPr id="10" name="Text 8"/>
          <p:cNvSpPr txBox="1"/>
          <p:nvPr/>
        </p:nvSpPr>
        <p:spPr>
          <a:xfrm>
            <a:off x="6400800" y="1563624"/>
            <a:ext cx="5029200" cy="182880"/>
          </a:xfrm>
          <a:prstGeom prst="rect">
            <a:avLst/>
          </a:prstGeom>
          <a:noFill/>
          <a:ln/>
        </p:spPr>
        <p:txBody>
          <a:bodyPr wrap="square" lIns="0" tIns="0" rIns="0" bIns="0" rtlCol="0" anchor="ctr"/>
          <a:lstStyle/>
          <a:p>
            <a:pPr marL="0" indent="0">
              <a:buNone/>
            </a:pPr>
            <a:r>
              <a:rPr lang="en-US" sz="850" b="1" kern="0" spc="140" dirty="0">
                <a:solidFill>
                  <a:srgbClr val="C08A2E"/>
                </a:solidFill>
                <a:latin typeface="Calibri" pitchFamily="34" charset="0"/>
                <a:ea typeface="Calibri" pitchFamily="34" charset="-122"/>
                <a:cs typeface="Calibri" pitchFamily="34" charset="-120"/>
              </a:rPr>
              <a:t>WHAT WAS LEARNED</a:t>
            </a:r>
            <a:endParaRPr lang="en-US" sz="850" dirty="0"/>
          </a:p>
        </p:txBody>
      </p:sp>
      <p:sp>
        <p:nvSpPr>
          <p:cNvPr id="11" name="Text 9"/>
          <p:cNvSpPr txBox="1"/>
          <p:nvPr/>
        </p:nvSpPr>
        <p:spPr>
          <a:xfrm>
            <a:off x="6400800" y="1801368"/>
            <a:ext cx="5029200" cy="237744"/>
          </a:xfrm>
          <a:prstGeom prst="rect">
            <a:avLst/>
          </a:prstGeom>
          <a:noFill/>
          <a:ln/>
        </p:spPr>
        <p:txBody>
          <a:bodyPr wrap="square" lIns="0" tIns="0" rIns="0" bIns="0" rtlCol="0" anchor="ctr"/>
          <a:lstStyle/>
          <a:p>
            <a:pPr marL="0" indent="0">
              <a:buNone/>
            </a:pPr>
            <a:r>
              <a:rPr lang="en-US" sz="1600" b="1" dirty="0">
                <a:solidFill>
                  <a:srgbClr val="1B4034"/>
                </a:solidFill>
                <a:latin typeface="Cambria" pitchFamily="34" charset="0"/>
                <a:ea typeface="Cambria" pitchFamily="34" charset="-122"/>
                <a:cs typeface="Cambria" pitchFamily="34" charset="-120"/>
              </a:rPr>
              <a:t>Regularization is a safeguard, not a boost here</a:t>
            </a:r>
            <a:endParaRPr lang="en-US" sz="1600" dirty="0"/>
          </a:p>
        </p:txBody>
      </p:sp>
      <p:sp>
        <p:nvSpPr>
          <p:cNvPr id="12" name="Text 10"/>
          <p:cNvSpPr txBox="1"/>
          <p:nvPr/>
        </p:nvSpPr>
        <p:spPr>
          <a:xfrm>
            <a:off x="6400800" y="2112264"/>
            <a:ext cx="5029200" cy="1389888"/>
          </a:xfrm>
          <a:prstGeom prst="rect">
            <a:avLst/>
          </a:prstGeom>
          <a:noFill/>
          <a:ln/>
        </p:spPr>
        <p:txBody>
          <a:bodyPr wrap="square" lIns="0" tIns="0" rIns="0" bIns="0" rtlCol="0" anchor="t"/>
          <a:lstStyle/>
          <a:p>
            <a:pPr marL="0" indent="0">
              <a:lnSpc>
                <a:spcPts val="1500"/>
              </a:lnSpc>
              <a:buNone/>
            </a:pPr>
            <a:r>
              <a:rPr lang="en-US" sz="1050" dirty="0">
                <a:solidFill>
                  <a:srgbClr val="6E6B64"/>
                </a:solidFill>
                <a:latin typeface="Calibri" pitchFamily="34" charset="0"/>
                <a:ea typeface="Calibri" pitchFamily="34" charset="-122"/>
                <a:cs typeface="Calibri" pitchFamily="34" charset="-120"/>
              </a:rPr>
              <a:t>On a wide, clean dataset with far more rows than predictors, L1 and L2 penalties barely alter the fit. Their value would appear with more features, smaller samples, or heavier collinearity.</a:t>
            </a:r>
            <a:endParaRPr lang="en-US" sz="1050" dirty="0"/>
          </a:p>
        </p:txBody>
      </p:sp>
      <p:sp>
        <p:nvSpPr>
          <p:cNvPr id="13" name="Text 11"/>
          <p:cNvSpPr txBox="1"/>
          <p:nvPr/>
        </p:nvSpPr>
        <p:spPr>
          <a:xfrm>
            <a:off x="566928" y="3886200"/>
            <a:ext cx="6400800" cy="219456"/>
          </a:xfrm>
          <a:prstGeom prst="rect">
            <a:avLst/>
          </a:prstGeom>
          <a:noFill/>
          <a:ln/>
        </p:spPr>
        <p:txBody>
          <a:bodyPr wrap="square" lIns="0" tIns="0" rIns="0" bIns="0" rtlCol="0" anchor="ctr"/>
          <a:lstStyle/>
          <a:p>
            <a:pPr marL="0" indent="0">
              <a:buNone/>
            </a:pPr>
            <a:r>
              <a:rPr lang="en-US" sz="850" b="1" kern="0" spc="140" dirty="0">
                <a:solidFill>
                  <a:srgbClr val="C08A2E"/>
                </a:solidFill>
                <a:latin typeface="Calibri" pitchFamily="34" charset="0"/>
                <a:ea typeface="Calibri" pitchFamily="34" charset="-122"/>
                <a:cs typeface="Calibri" pitchFamily="34" charset="-120"/>
              </a:rPr>
              <a:t>FACTORS FOUND TO DRIVE PERFORMANCE</a:t>
            </a:r>
            <a:endParaRPr lang="en-US" sz="850" dirty="0"/>
          </a:p>
        </p:txBody>
      </p:sp>
      <p:sp>
        <p:nvSpPr>
          <p:cNvPr id="14" name="Shape 12"/>
          <p:cNvSpPr/>
          <p:nvPr/>
        </p:nvSpPr>
        <p:spPr>
          <a:xfrm>
            <a:off x="566928" y="4206240"/>
            <a:ext cx="3520440" cy="822960"/>
          </a:xfrm>
          <a:prstGeom prst="roundRect">
            <a:avLst>
              <a:gd name="adj" fmla="val 5556"/>
            </a:avLst>
          </a:prstGeom>
          <a:solidFill>
            <a:srgbClr val="FFFFFF"/>
          </a:solidFill>
          <a:ln w="12700">
            <a:solidFill>
              <a:srgbClr val="DDD6C8"/>
            </a:solidFill>
            <a:prstDash val="solid"/>
          </a:ln>
        </p:spPr>
      </p:sp>
      <p:sp>
        <p:nvSpPr>
          <p:cNvPr id="15" name="Text 13"/>
          <p:cNvSpPr txBox="1"/>
          <p:nvPr/>
        </p:nvSpPr>
        <p:spPr>
          <a:xfrm>
            <a:off x="768096" y="4334256"/>
            <a:ext cx="3108960" cy="274320"/>
          </a:xfrm>
          <a:prstGeom prst="rect">
            <a:avLst/>
          </a:prstGeom>
          <a:noFill/>
          <a:ln/>
        </p:spPr>
        <p:txBody>
          <a:bodyPr wrap="square" lIns="0" tIns="0" rIns="0" bIns="0" rtlCol="0" anchor="ctr"/>
          <a:lstStyle/>
          <a:p>
            <a:pPr marL="0" indent="0">
              <a:buNone/>
            </a:pPr>
            <a:r>
              <a:rPr lang="en-US" sz="1300" b="1" dirty="0">
                <a:solidFill>
                  <a:srgbClr val="1B4034"/>
                </a:solidFill>
                <a:latin typeface="Cambria" pitchFamily="34" charset="0"/>
                <a:ea typeface="Cambria" pitchFamily="34" charset="-122"/>
                <a:cs typeface="Cambria" pitchFamily="34" charset="-120"/>
              </a:rPr>
              <a:t>Balls faced</a:t>
            </a:r>
            <a:endParaRPr lang="en-US" sz="1300" dirty="0"/>
          </a:p>
        </p:txBody>
      </p:sp>
      <p:sp>
        <p:nvSpPr>
          <p:cNvPr id="16" name="Text 14"/>
          <p:cNvSpPr txBox="1"/>
          <p:nvPr/>
        </p:nvSpPr>
        <p:spPr>
          <a:xfrm>
            <a:off x="768096" y="4645152"/>
            <a:ext cx="3108960" cy="256032"/>
          </a:xfrm>
          <a:prstGeom prst="rect">
            <a:avLst/>
          </a:prstGeom>
          <a:noFill/>
          <a:ln/>
        </p:spPr>
        <p:txBody>
          <a:bodyPr wrap="square" lIns="0" tIns="0" rIns="0" bIns="0" rtlCol="0" anchor="ctr"/>
          <a:lstStyle/>
          <a:p>
            <a:pPr marL="0" indent="0">
              <a:buNone/>
            </a:pPr>
            <a:r>
              <a:rPr lang="en-US" sz="1000" dirty="0">
                <a:solidFill>
                  <a:srgbClr val="6E6B64"/>
                </a:solidFill>
                <a:latin typeface="Calibri" pitchFamily="34" charset="0"/>
                <a:ea typeface="Calibri" pitchFamily="34" charset="-122"/>
                <a:cs typeface="Calibri" pitchFamily="34" charset="-120"/>
              </a:rPr>
              <a:t>Opportunity</a:t>
            </a:r>
            <a:endParaRPr lang="en-US" sz="1000" dirty="0"/>
          </a:p>
        </p:txBody>
      </p:sp>
      <p:sp>
        <p:nvSpPr>
          <p:cNvPr id="17" name="Shape 15"/>
          <p:cNvSpPr/>
          <p:nvPr/>
        </p:nvSpPr>
        <p:spPr>
          <a:xfrm>
            <a:off x="4315968" y="4206240"/>
            <a:ext cx="3520440" cy="822960"/>
          </a:xfrm>
          <a:prstGeom prst="roundRect">
            <a:avLst>
              <a:gd name="adj" fmla="val 5556"/>
            </a:avLst>
          </a:prstGeom>
          <a:solidFill>
            <a:srgbClr val="FFFFFF"/>
          </a:solidFill>
          <a:ln w="12700">
            <a:solidFill>
              <a:srgbClr val="DDD6C8"/>
            </a:solidFill>
            <a:prstDash val="solid"/>
          </a:ln>
        </p:spPr>
      </p:sp>
      <p:sp>
        <p:nvSpPr>
          <p:cNvPr id="18" name="Text 16"/>
          <p:cNvSpPr txBox="1"/>
          <p:nvPr/>
        </p:nvSpPr>
        <p:spPr>
          <a:xfrm>
            <a:off x="4517136" y="4334256"/>
            <a:ext cx="3108960" cy="274320"/>
          </a:xfrm>
          <a:prstGeom prst="rect">
            <a:avLst/>
          </a:prstGeom>
          <a:noFill/>
          <a:ln/>
        </p:spPr>
        <p:txBody>
          <a:bodyPr wrap="square" lIns="0" tIns="0" rIns="0" bIns="0" rtlCol="0" anchor="ctr"/>
          <a:lstStyle/>
          <a:p>
            <a:pPr marL="0" indent="0">
              <a:buNone/>
            </a:pPr>
            <a:r>
              <a:rPr lang="en-US" sz="1300" b="1" dirty="0">
                <a:solidFill>
                  <a:srgbClr val="1B4034"/>
                </a:solidFill>
                <a:latin typeface="Cambria" pitchFamily="34" charset="0"/>
                <a:ea typeface="Cambria" pitchFamily="34" charset="-122"/>
                <a:cs typeface="Cambria" pitchFamily="34" charset="-120"/>
              </a:rPr>
              <a:t>Fours &amp; sixes</a:t>
            </a:r>
            <a:endParaRPr lang="en-US" sz="1300" dirty="0"/>
          </a:p>
        </p:txBody>
      </p:sp>
      <p:sp>
        <p:nvSpPr>
          <p:cNvPr id="19" name="Text 17"/>
          <p:cNvSpPr txBox="1"/>
          <p:nvPr/>
        </p:nvSpPr>
        <p:spPr>
          <a:xfrm>
            <a:off x="4517136" y="4645152"/>
            <a:ext cx="3108960" cy="256032"/>
          </a:xfrm>
          <a:prstGeom prst="rect">
            <a:avLst/>
          </a:prstGeom>
          <a:noFill/>
          <a:ln/>
        </p:spPr>
        <p:txBody>
          <a:bodyPr wrap="square" lIns="0" tIns="0" rIns="0" bIns="0" rtlCol="0" anchor="ctr"/>
          <a:lstStyle/>
          <a:p>
            <a:pPr marL="0" indent="0">
              <a:buNone/>
            </a:pPr>
            <a:r>
              <a:rPr lang="en-US" sz="1000" dirty="0">
                <a:solidFill>
                  <a:srgbClr val="6E6B64"/>
                </a:solidFill>
                <a:latin typeface="Calibri" pitchFamily="34" charset="0"/>
                <a:ea typeface="Calibri" pitchFamily="34" charset="-122"/>
                <a:cs typeface="Calibri" pitchFamily="34" charset="-120"/>
              </a:rPr>
              <a:t>Scoring power</a:t>
            </a:r>
            <a:endParaRPr lang="en-US" sz="1000" dirty="0"/>
          </a:p>
        </p:txBody>
      </p:sp>
      <p:sp>
        <p:nvSpPr>
          <p:cNvPr id="20" name="Shape 18"/>
          <p:cNvSpPr/>
          <p:nvPr/>
        </p:nvSpPr>
        <p:spPr>
          <a:xfrm>
            <a:off x="8065008" y="4206240"/>
            <a:ext cx="3520440" cy="822960"/>
          </a:xfrm>
          <a:prstGeom prst="roundRect">
            <a:avLst>
              <a:gd name="adj" fmla="val 5556"/>
            </a:avLst>
          </a:prstGeom>
          <a:solidFill>
            <a:srgbClr val="FFFFFF"/>
          </a:solidFill>
          <a:ln w="12700">
            <a:solidFill>
              <a:srgbClr val="DDD6C8"/>
            </a:solidFill>
            <a:prstDash val="solid"/>
          </a:ln>
        </p:spPr>
      </p:sp>
      <p:sp>
        <p:nvSpPr>
          <p:cNvPr id="21" name="Text 19"/>
          <p:cNvSpPr txBox="1"/>
          <p:nvPr/>
        </p:nvSpPr>
        <p:spPr>
          <a:xfrm>
            <a:off x="8266176" y="4334256"/>
            <a:ext cx="3108960" cy="274320"/>
          </a:xfrm>
          <a:prstGeom prst="rect">
            <a:avLst/>
          </a:prstGeom>
          <a:noFill/>
          <a:ln/>
        </p:spPr>
        <p:txBody>
          <a:bodyPr wrap="square" lIns="0" tIns="0" rIns="0" bIns="0" rtlCol="0" anchor="ctr"/>
          <a:lstStyle/>
          <a:p>
            <a:pPr marL="0" indent="0">
              <a:buNone/>
            </a:pPr>
            <a:r>
              <a:rPr lang="en-US" sz="1300" b="1" dirty="0">
                <a:solidFill>
                  <a:srgbClr val="1B4034"/>
                </a:solidFill>
                <a:latin typeface="Cambria" pitchFamily="34" charset="0"/>
                <a:ea typeface="Cambria" pitchFamily="34" charset="-122"/>
                <a:cs typeface="Cambria" pitchFamily="34" charset="-120"/>
              </a:rPr>
              <a:t>Batting order</a:t>
            </a:r>
            <a:endParaRPr lang="en-US" sz="1300" dirty="0"/>
          </a:p>
        </p:txBody>
      </p:sp>
      <p:sp>
        <p:nvSpPr>
          <p:cNvPr id="22" name="Text 20"/>
          <p:cNvSpPr txBox="1"/>
          <p:nvPr/>
        </p:nvSpPr>
        <p:spPr>
          <a:xfrm>
            <a:off x="8266176" y="4645152"/>
            <a:ext cx="3108960" cy="256032"/>
          </a:xfrm>
          <a:prstGeom prst="rect">
            <a:avLst/>
          </a:prstGeom>
          <a:noFill/>
          <a:ln/>
        </p:spPr>
        <p:txBody>
          <a:bodyPr wrap="square" lIns="0" tIns="0" rIns="0" bIns="0" rtlCol="0" anchor="ctr"/>
          <a:lstStyle/>
          <a:p>
            <a:pPr marL="0" indent="0">
              <a:buNone/>
            </a:pPr>
            <a:r>
              <a:rPr lang="en-US" sz="1000" dirty="0">
                <a:solidFill>
                  <a:srgbClr val="6E6B64"/>
                </a:solidFill>
                <a:latin typeface="Calibri" pitchFamily="34" charset="0"/>
                <a:ea typeface="Calibri" pitchFamily="34" charset="-122"/>
                <a:cs typeface="Calibri" pitchFamily="34" charset="-120"/>
              </a:rPr>
              <a:t>Role proxy</a:t>
            </a:r>
            <a:endParaRPr lang="en-US" sz="1000" dirty="0"/>
          </a:p>
        </p:txBody>
      </p:sp>
      <p:sp>
        <p:nvSpPr>
          <p:cNvPr id="23" name="Shape 21"/>
          <p:cNvSpPr/>
          <p:nvPr/>
        </p:nvSpPr>
        <p:spPr>
          <a:xfrm>
            <a:off x="566928" y="5166360"/>
            <a:ext cx="3520440" cy="822960"/>
          </a:xfrm>
          <a:prstGeom prst="roundRect">
            <a:avLst>
              <a:gd name="adj" fmla="val 5556"/>
            </a:avLst>
          </a:prstGeom>
          <a:solidFill>
            <a:srgbClr val="FFFFFF"/>
          </a:solidFill>
          <a:ln w="12700">
            <a:solidFill>
              <a:srgbClr val="DDD6C8"/>
            </a:solidFill>
            <a:prstDash val="solid"/>
          </a:ln>
        </p:spPr>
      </p:sp>
      <p:sp>
        <p:nvSpPr>
          <p:cNvPr id="24" name="Text 22"/>
          <p:cNvSpPr txBox="1"/>
          <p:nvPr/>
        </p:nvSpPr>
        <p:spPr>
          <a:xfrm>
            <a:off x="768096" y="5294376"/>
            <a:ext cx="3108960" cy="274320"/>
          </a:xfrm>
          <a:prstGeom prst="rect">
            <a:avLst/>
          </a:prstGeom>
          <a:noFill/>
          <a:ln/>
        </p:spPr>
        <p:txBody>
          <a:bodyPr wrap="square" lIns="0" tIns="0" rIns="0" bIns="0" rtlCol="0" anchor="ctr"/>
          <a:lstStyle/>
          <a:p>
            <a:pPr marL="0" indent="0">
              <a:buNone/>
            </a:pPr>
            <a:r>
              <a:rPr lang="en-US" sz="1300" b="1" dirty="0">
                <a:solidFill>
                  <a:srgbClr val="1B4034"/>
                </a:solidFill>
                <a:latin typeface="Cambria" pitchFamily="34" charset="0"/>
                <a:ea typeface="Cambria" pitchFamily="34" charset="-122"/>
                <a:cs typeface="Cambria" pitchFamily="34" charset="-120"/>
              </a:rPr>
              <a:t>Career average</a:t>
            </a:r>
            <a:endParaRPr lang="en-US" sz="1300" dirty="0"/>
          </a:p>
        </p:txBody>
      </p:sp>
      <p:sp>
        <p:nvSpPr>
          <p:cNvPr id="25" name="Text 23"/>
          <p:cNvSpPr txBox="1"/>
          <p:nvPr/>
        </p:nvSpPr>
        <p:spPr>
          <a:xfrm>
            <a:off x="768096" y="5605272"/>
            <a:ext cx="3108960" cy="256032"/>
          </a:xfrm>
          <a:prstGeom prst="rect">
            <a:avLst/>
          </a:prstGeom>
          <a:noFill/>
          <a:ln/>
        </p:spPr>
        <p:txBody>
          <a:bodyPr wrap="square" lIns="0" tIns="0" rIns="0" bIns="0" rtlCol="0" anchor="ctr"/>
          <a:lstStyle/>
          <a:p>
            <a:pPr marL="0" indent="0">
              <a:buNone/>
            </a:pPr>
            <a:r>
              <a:rPr lang="en-US" sz="1000" dirty="0">
                <a:solidFill>
                  <a:srgbClr val="6E6B64"/>
                </a:solidFill>
                <a:latin typeface="Calibri" pitchFamily="34" charset="0"/>
                <a:ea typeface="Calibri" pitchFamily="34" charset="-122"/>
                <a:cs typeface="Calibri" pitchFamily="34" charset="-120"/>
              </a:rPr>
              <a:t>Baseline skill</a:t>
            </a:r>
            <a:endParaRPr lang="en-US" sz="1000" dirty="0"/>
          </a:p>
        </p:txBody>
      </p:sp>
      <p:sp>
        <p:nvSpPr>
          <p:cNvPr id="26" name="Shape 24"/>
          <p:cNvSpPr/>
          <p:nvPr/>
        </p:nvSpPr>
        <p:spPr>
          <a:xfrm>
            <a:off x="4315968" y="5166360"/>
            <a:ext cx="3520440" cy="822960"/>
          </a:xfrm>
          <a:prstGeom prst="roundRect">
            <a:avLst>
              <a:gd name="adj" fmla="val 5556"/>
            </a:avLst>
          </a:prstGeom>
          <a:solidFill>
            <a:srgbClr val="FFFFFF"/>
          </a:solidFill>
          <a:ln w="12700">
            <a:solidFill>
              <a:srgbClr val="DDD6C8"/>
            </a:solidFill>
            <a:prstDash val="solid"/>
          </a:ln>
        </p:spPr>
      </p:sp>
      <p:sp>
        <p:nvSpPr>
          <p:cNvPr id="27" name="Text 25"/>
          <p:cNvSpPr txBox="1"/>
          <p:nvPr/>
        </p:nvSpPr>
        <p:spPr>
          <a:xfrm>
            <a:off x="4517136" y="5294376"/>
            <a:ext cx="3108960" cy="274320"/>
          </a:xfrm>
          <a:prstGeom prst="rect">
            <a:avLst/>
          </a:prstGeom>
          <a:noFill/>
          <a:ln/>
        </p:spPr>
        <p:txBody>
          <a:bodyPr wrap="square" lIns="0" tIns="0" rIns="0" bIns="0" rtlCol="0" anchor="ctr"/>
          <a:lstStyle/>
          <a:p>
            <a:pPr marL="0" indent="0">
              <a:buNone/>
            </a:pPr>
            <a:r>
              <a:rPr lang="en-US" sz="1300" b="1" dirty="0">
                <a:solidFill>
                  <a:srgbClr val="1B4034"/>
                </a:solidFill>
                <a:latin typeface="Cambria" pitchFamily="34" charset="0"/>
                <a:ea typeface="Cambria" pitchFamily="34" charset="-122"/>
                <a:cs typeface="Cambria" pitchFamily="34" charset="-120"/>
              </a:rPr>
              <a:t>Recent form</a:t>
            </a:r>
            <a:endParaRPr lang="en-US" sz="1300" dirty="0"/>
          </a:p>
        </p:txBody>
      </p:sp>
      <p:sp>
        <p:nvSpPr>
          <p:cNvPr id="28" name="Text 26"/>
          <p:cNvSpPr txBox="1"/>
          <p:nvPr/>
        </p:nvSpPr>
        <p:spPr>
          <a:xfrm>
            <a:off x="4517136" y="5605272"/>
            <a:ext cx="3108960" cy="256032"/>
          </a:xfrm>
          <a:prstGeom prst="rect">
            <a:avLst/>
          </a:prstGeom>
          <a:noFill/>
          <a:ln/>
        </p:spPr>
        <p:txBody>
          <a:bodyPr wrap="square" lIns="0" tIns="0" rIns="0" bIns="0" rtlCol="0" anchor="ctr"/>
          <a:lstStyle/>
          <a:p>
            <a:pPr marL="0" indent="0">
              <a:buNone/>
            </a:pPr>
            <a:r>
              <a:rPr lang="en-US" sz="1000" dirty="0">
                <a:solidFill>
                  <a:srgbClr val="6E6B64"/>
                </a:solidFill>
                <a:latin typeface="Calibri" pitchFamily="34" charset="0"/>
                <a:ea typeface="Calibri" pitchFamily="34" charset="-122"/>
                <a:cs typeface="Calibri" pitchFamily="34" charset="-120"/>
              </a:rPr>
              <a:t>Short-term trend</a:t>
            </a:r>
            <a:endParaRPr lang="en-US" sz="1000" dirty="0"/>
          </a:p>
        </p:txBody>
      </p:sp>
      <p:sp>
        <p:nvSpPr>
          <p:cNvPr id="29" name="Shape 27"/>
          <p:cNvSpPr/>
          <p:nvPr/>
        </p:nvSpPr>
        <p:spPr>
          <a:xfrm>
            <a:off x="8065008" y="5166360"/>
            <a:ext cx="3520440" cy="822960"/>
          </a:xfrm>
          <a:prstGeom prst="roundRect">
            <a:avLst>
              <a:gd name="adj" fmla="val 5556"/>
            </a:avLst>
          </a:prstGeom>
          <a:solidFill>
            <a:srgbClr val="FFFFFF"/>
          </a:solidFill>
          <a:ln w="12700">
            <a:solidFill>
              <a:srgbClr val="DDD6C8"/>
            </a:solidFill>
            <a:prstDash val="solid"/>
          </a:ln>
        </p:spPr>
      </p:sp>
      <p:sp>
        <p:nvSpPr>
          <p:cNvPr id="30" name="Text 28"/>
          <p:cNvSpPr txBox="1"/>
          <p:nvPr/>
        </p:nvSpPr>
        <p:spPr>
          <a:xfrm>
            <a:off x="8266176" y="5294376"/>
            <a:ext cx="3108960" cy="274320"/>
          </a:xfrm>
          <a:prstGeom prst="rect">
            <a:avLst/>
          </a:prstGeom>
          <a:noFill/>
          <a:ln/>
        </p:spPr>
        <p:txBody>
          <a:bodyPr wrap="square" lIns="0" tIns="0" rIns="0" bIns="0" rtlCol="0" anchor="ctr"/>
          <a:lstStyle/>
          <a:p>
            <a:pPr marL="0" indent="0">
              <a:buNone/>
            </a:pPr>
            <a:r>
              <a:rPr lang="en-US" sz="1300" b="1" dirty="0">
                <a:solidFill>
                  <a:srgbClr val="1B4034"/>
                </a:solidFill>
                <a:latin typeface="Cambria" pitchFamily="34" charset="0"/>
                <a:ea typeface="Cambria" pitchFamily="34" charset="-122"/>
                <a:cs typeface="Cambria" pitchFamily="34" charset="-120"/>
              </a:rPr>
              <a:t>Match format</a:t>
            </a:r>
            <a:endParaRPr lang="en-US" sz="1300" dirty="0"/>
          </a:p>
        </p:txBody>
      </p:sp>
      <p:sp>
        <p:nvSpPr>
          <p:cNvPr id="31" name="Text 29"/>
          <p:cNvSpPr txBox="1"/>
          <p:nvPr/>
        </p:nvSpPr>
        <p:spPr>
          <a:xfrm>
            <a:off x="8266176" y="5605272"/>
            <a:ext cx="3108960" cy="256032"/>
          </a:xfrm>
          <a:prstGeom prst="rect">
            <a:avLst/>
          </a:prstGeom>
          <a:noFill/>
          <a:ln/>
        </p:spPr>
        <p:txBody>
          <a:bodyPr wrap="square" lIns="0" tIns="0" rIns="0" bIns="0" rtlCol="0" anchor="ctr"/>
          <a:lstStyle/>
          <a:p>
            <a:pPr marL="0" indent="0">
              <a:buNone/>
            </a:pPr>
            <a:r>
              <a:rPr lang="en-US" sz="1000" dirty="0">
                <a:solidFill>
                  <a:srgbClr val="6E6B64"/>
                </a:solidFill>
                <a:latin typeface="Calibri" pitchFamily="34" charset="0"/>
                <a:ea typeface="Calibri" pitchFamily="34" charset="-122"/>
                <a:cs typeface="Calibri" pitchFamily="34" charset="-120"/>
              </a:rPr>
              <a:t>Scoring context</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0">
    <p:bg>
      <p:bgPr>
        <a:solidFill>
          <a:srgbClr val="10261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0261F"/>
          </a:solidFill>
          <a:ln/>
        </p:spPr>
      </p:sp>
      <p:sp>
        <p:nvSpPr>
          <p:cNvPr id="4" name="Text 2"/>
          <p:cNvSpPr txBox="1"/>
          <p:nvPr/>
        </p:nvSpPr>
        <p:spPr>
          <a:xfrm>
            <a:off x="4331208" y="2849880"/>
            <a:ext cx="3827272" cy="100584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12" name="Text 10"/>
          <p:cNvSpPr txBox="1"/>
          <p:nvPr/>
        </p:nvSpPr>
        <p:spPr>
          <a:xfrm>
            <a:off x="11000232" y="6080760"/>
            <a:ext cx="640080" cy="365760"/>
          </a:xfrm>
          <a:prstGeom prst="rect">
            <a:avLst/>
          </a:prstGeom>
          <a:noFill/>
          <a:ln/>
        </p:spPr>
        <p:txBody>
          <a:bodyPr wrap="square" lIns="0" tIns="0" rIns="0" bIns="0" rtlCol="0" anchor="ctr"/>
          <a:lstStyle/>
          <a:p>
            <a:pPr marL="0" indent="0" algn="r">
              <a:buNone/>
            </a:pPr>
            <a:r>
              <a:rPr lang="en-US" sz="1500" b="1" dirty="0">
                <a:solidFill>
                  <a:srgbClr val="C08A2E"/>
                </a:solidFill>
                <a:latin typeface="Cambria" pitchFamily="34" charset="0"/>
                <a:ea typeface="Cambria" pitchFamily="34" charset="-122"/>
                <a:cs typeface="Cambria" pitchFamily="34" charset="-120"/>
              </a:rPr>
              <a:t>20</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136</TotalTime>
  <Words>2130</Words>
  <Application>Microsoft Office PowerPoint</Application>
  <PresentationFormat>Widescreen</PresentationFormat>
  <Paragraphs>330</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Performance Player Prediction</dc:title>
  <dc:subject>PptxGenJS Presentation</dc:subject>
  <dc:creator>NLR</dc:creator>
  <cp:lastModifiedBy>Samhita Mattam</cp:lastModifiedBy>
  <cp:revision>3</cp:revision>
  <dcterms:created xsi:type="dcterms:W3CDTF">2026-09-02T08:25:40Z</dcterms:created>
  <dcterms:modified xsi:type="dcterms:W3CDTF">2026-09-02T16:00:34Z</dcterms:modified>
</cp:coreProperties>
</file>